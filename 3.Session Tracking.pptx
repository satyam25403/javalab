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4" r:id="rId11"/>
    <p:sldId id="268" r:id="rId12"/>
    <p:sldId id="283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6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763000" cy="359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" y="3810000"/>
            <a:ext cx="838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dirty="0" smtClean="0"/>
              <a:t>Example :</a:t>
            </a:r>
          </a:p>
          <a:p>
            <a:r>
              <a:rPr lang="en-IN" sz="3300" dirty="0" smtClean="0"/>
              <a:t>Gmail application</a:t>
            </a:r>
          </a:p>
          <a:p>
            <a:r>
              <a:rPr lang="en-IN" sz="3300" dirty="0" smtClean="0"/>
              <a:t>Login screen (page1)</a:t>
            </a:r>
          </a:p>
          <a:p>
            <a:r>
              <a:rPr lang="en-IN" sz="3300" dirty="0" smtClean="0"/>
              <a:t>Inbox(page2)</a:t>
            </a:r>
          </a:p>
          <a:p>
            <a:r>
              <a:rPr lang="en-IN" sz="3300" dirty="0" smtClean="0"/>
              <a:t>Assume Some copied URL of page2</a:t>
            </a:r>
          </a:p>
          <a:p>
            <a:r>
              <a:rPr lang="en-IN" sz="3300" dirty="0" smtClean="0"/>
              <a:t>It redirects to home page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533400"/>
            <a:ext cx="7086600" cy="4281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0"/>
            <a:ext cx="8915400" cy="2895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" y="27432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(Previous page)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0"/>
            <a:ext cx="8534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endParaRPr lang="en-IN" sz="2800" dirty="0" smtClean="0"/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In page 1 we create one hidden filed  which is not visible to user , then when we connect from page 1 to page 2.</a:t>
            </a:r>
          </a:p>
          <a:p>
            <a:endParaRPr lang="en-IN" sz="2800" dirty="0" smtClean="0"/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 In page 2 we read the value of hidden field</a:t>
            </a:r>
          </a:p>
          <a:p>
            <a:pPr>
              <a:buFont typeface="Wingdings" pitchFamily="2" charset="2"/>
              <a:buChar char="Ø"/>
            </a:pPr>
            <a:endParaRPr lang="en-IN" sz="2800" dirty="0" smtClean="0"/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So in page 2 if you are able to read the value of hidden field indicates that you are coming from page 1.</a:t>
            </a:r>
          </a:p>
          <a:p>
            <a:pPr>
              <a:buFont typeface="Wingdings" pitchFamily="2" charset="2"/>
              <a:buChar char="Ø"/>
            </a:pPr>
            <a:endParaRPr lang="en-IN" sz="2800" dirty="0" smtClean="0"/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If you are not coming from page1 if you open page 2 directly , then can you able to read the value of hidden filed ? NO ,So we can say invalid session if some one access page 2 directly 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44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990600" y="5334000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/>
              <a:t>Refer </a:t>
            </a:r>
            <a:r>
              <a:rPr lang="en-IN" sz="4000" b="1" dirty="0" smtClean="0"/>
              <a:t>HiddenFormFields.war</a:t>
            </a:r>
            <a:endParaRPr lang="en-US" sz="4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990600" y="5334000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/>
              <a:t>Refer </a:t>
            </a:r>
            <a:r>
              <a:rPr lang="en-IN" sz="4000" b="1" dirty="0" smtClean="0"/>
              <a:t>UrlRewriting.war</a:t>
            </a:r>
            <a:endParaRPr lang="en-US" sz="4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7200"/>
            <a:ext cx="91630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719137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3657600"/>
            <a:ext cx="753427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09600" y="5638800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/>
              <a:t>Refer </a:t>
            </a:r>
            <a:r>
              <a:rPr lang="en-IN" sz="4000" b="1" dirty="0" smtClean="0"/>
              <a:t>CookiesEx2.war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838200"/>
            <a:ext cx="8153399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5" y="0"/>
            <a:ext cx="8943975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429000" y="6150114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/>
              <a:t>Refer </a:t>
            </a:r>
            <a:r>
              <a:rPr lang="en-IN" sz="4000" b="1" dirty="0" smtClean="0"/>
              <a:t>HttpSessionEx2.war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86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What is Session Tracking?</a:t>
            </a:r>
          </a:p>
          <a:p>
            <a:r>
              <a:rPr lang="en-US" sz="3200" dirty="0" smtClean="0"/>
              <a:t>			When a user interacts with a web application, a "session" is created to remember their activities during their visit. HTTP, the protocol used for communication between a web browser and a server, is </a:t>
            </a:r>
            <a:r>
              <a:rPr lang="en-US" sz="3200" b="1" dirty="0" smtClean="0"/>
              <a:t>stateless</a:t>
            </a:r>
            <a:r>
              <a:rPr lang="en-US" sz="3200" dirty="0" smtClean="0"/>
              <a:t>. This means that the server does not automatically remember the previous requests from the same user.</a:t>
            </a:r>
          </a:p>
          <a:p>
            <a:r>
              <a:rPr lang="en-US" sz="3200" b="1" dirty="0" smtClean="0"/>
              <a:t>		Session Tracking</a:t>
            </a:r>
            <a:r>
              <a:rPr lang="en-US" sz="3200" dirty="0" smtClean="0"/>
              <a:t> is the technique used to maintain the state of a user across multiple requests (pages) in a web application.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Why is Session Tracking Important?</a:t>
            </a:r>
          </a:p>
          <a:p>
            <a:r>
              <a:rPr lang="en-US" sz="2800" dirty="0" smtClean="0"/>
              <a:t>		Imagine you're logged into an online store and add items to your shopping cart. When you go to a different page (like the checkout), the store should remember the items you added. Session tracking ensures that the user's actions are preserved across different pages.</a:t>
            </a:r>
          </a:p>
          <a:p>
            <a:endParaRPr lang="en-US" sz="2800" dirty="0" smtClean="0"/>
          </a:p>
          <a:p>
            <a:r>
              <a:rPr lang="en-US" sz="2800" b="1" i="1" u="sng" dirty="0" smtClean="0">
                <a:solidFill>
                  <a:srgbClr val="FF0000"/>
                </a:solidFill>
              </a:rPr>
              <a:t>Different Ways to Track a Session in Java:</a:t>
            </a:r>
          </a:p>
          <a:p>
            <a:r>
              <a:rPr lang="en-US" sz="2800" dirty="0" smtClean="0"/>
              <a:t>There are four primary techniques for session tracking in Java:</a:t>
            </a:r>
          </a:p>
          <a:p>
            <a:r>
              <a:rPr lang="en-US" sz="2800" b="1" dirty="0" smtClean="0"/>
              <a:t>Cookies</a:t>
            </a:r>
            <a:endParaRPr lang="en-US" sz="2800" dirty="0" smtClean="0"/>
          </a:p>
          <a:p>
            <a:r>
              <a:rPr lang="en-US" sz="2800" b="1" dirty="0" smtClean="0"/>
              <a:t>URL Rewriting</a:t>
            </a:r>
            <a:endParaRPr lang="en-US" sz="2800" dirty="0" smtClean="0"/>
          </a:p>
          <a:p>
            <a:r>
              <a:rPr lang="en-US" sz="2800" b="1" dirty="0" smtClean="0"/>
              <a:t>Hidden Form Fields</a:t>
            </a:r>
            <a:endParaRPr lang="en-US" sz="2800" dirty="0" smtClean="0"/>
          </a:p>
          <a:p>
            <a:r>
              <a:rPr lang="en-US" sz="2800" b="1" dirty="0" smtClean="0"/>
              <a:t>HttpSession</a:t>
            </a:r>
            <a:endParaRPr lang="en-US" sz="2800" dirty="0" smtClean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868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1. Cookies:</a:t>
            </a:r>
          </a:p>
          <a:p>
            <a:r>
              <a:rPr lang="en-US" sz="3200" b="1" dirty="0" smtClean="0"/>
              <a:t>What are Cookies?</a:t>
            </a:r>
            <a:r>
              <a:rPr lang="en-US" sz="3200" dirty="0" smtClean="0"/>
              <a:t> Cookies are small pieces of information stored on the client-side (browser). They allow servers to store user-related information and track users across multiple HTTP requests.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How Cookies Work in Session Tracking:</a:t>
            </a:r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/>
              <a:t>	When the user makes a request to the server, the server can send a </a:t>
            </a:r>
            <a:r>
              <a:rPr lang="en-US" sz="3200" b="1" dirty="0" smtClean="0"/>
              <a:t>Set-Cookie</a:t>
            </a:r>
            <a:r>
              <a:rPr lang="en-US" sz="3200" dirty="0" smtClean="0"/>
              <a:t> header in the response.</a:t>
            </a:r>
          </a:p>
          <a:p>
            <a:r>
              <a:rPr lang="en-US" sz="3200" dirty="0" smtClean="0"/>
              <a:t>	The browser will store this cookie and send it back to the server with every subsequent request to the same domain.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868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import javax.servlet.*;</a:t>
            </a:r>
          </a:p>
          <a:p>
            <a:r>
              <a:rPr lang="en-US" sz="2200" dirty="0" smtClean="0"/>
              <a:t>import javax.servlet.http.*;</a:t>
            </a:r>
          </a:p>
          <a:p>
            <a:r>
              <a:rPr lang="en-US" sz="2200" dirty="0" smtClean="0"/>
              <a:t>import java.io.*;</a:t>
            </a:r>
          </a:p>
          <a:p>
            <a:endParaRPr lang="en-US" sz="2200" dirty="0" smtClean="0"/>
          </a:p>
          <a:p>
            <a:r>
              <a:rPr lang="en-US" sz="2200" dirty="0" smtClean="0"/>
              <a:t>public class CookieExample extends HttpServlet {</a:t>
            </a:r>
          </a:p>
          <a:p>
            <a:r>
              <a:rPr lang="en-US" sz="2200" dirty="0" smtClean="0"/>
              <a:t>    protected void doGet(HttpServletRequest request, HttpServletResponse response) throws ServletException, IOException {</a:t>
            </a:r>
          </a:p>
          <a:p>
            <a:r>
              <a:rPr lang="en-US" sz="2200" dirty="0" smtClean="0"/>
              <a:t>        // Create a cookie to track session</a:t>
            </a:r>
          </a:p>
          <a:p>
            <a:r>
              <a:rPr lang="en-US" sz="2200" dirty="0" smtClean="0"/>
              <a:t>        Cookie cookie = new Cookie("user", </a:t>
            </a:r>
            <a:r>
              <a:rPr lang="en-US" sz="2400" dirty="0" smtClean="0"/>
              <a:t>"</a:t>
            </a:r>
            <a:r>
              <a:rPr lang="en-US" sz="2200" dirty="0" smtClean="0"/>
              <a:t>bjln");</a:t>
            </a:r>
          </a:p>
          <a:p>
            <a:r>
              <a:rPr lang="en-US" sz="2200" dirty="0" smtClean="0"/>
              <a:t>        cookie.setMaxAge(60*60);  // Cookie valid for 1 hour</a:t>
            </a:r>
          </a:p>
          <a:p>
            <a:r>
              <a:rPr lang="en-US" sz="2200" dirty="0" smtClean="0"/>
              <a:t>        response.addCookie(cookie);</a:t>
            </a:r>
          </a:p>
          <a:p>
            <a:endParaRPr lang="en-US" sz="2200" dirty="0" smtClean="0"/>
          </a:p>
          <a:p>
            <a:r>
              <a:rPr lang="en-US" sz="2200" dirty="0" smtClean="0"/>
              <a:t>        // Display a response to the user</a:t>
            </a:r>
          </a:p>
          <a:p>
            <a:r>
              <a:rPr lang="en-US" sz="2200" dirty="0" smtClean="0"/>
              <a:t>        response.setContentType("text/html");</a:t>
            </a:r>
          </a:p>
          <a:p>
            <a:r>
              <a:rPr lang="en-US" sz="2200" dirty="0" smtClean="0"/>
              <a:t>        PrintWriter out = response.getWriter();</a:t>
            </a:r>
          </a:p>
          <a:p>
            <a:r>
              <a:rPr lang="en-US" sz="2200" dirty="0" smtClean="0"/>
              <a:t>        out.println("Cookie set with the name 'user' and value 'JohnDoe'.");</a:t>
            </a:r>
          </a:p>
          <a:p>
            <a:r>
              <a:rPr lang="en-US" sz="2200" dirty="0" smtClean="0"/>
              <a:t>    }</a:t>
            </a:r>
          </a:p>
          <a:p>
            <a:r>
              <a:rPr lang="en-US" sz="2200" dirty="0" smtClean="0"/>
              <a:t>}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38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Pros:</a:t>
            </a:r>
            <a:endParaRPr lang="en-US" sz="3600" dirty="0" smtClean="0"/>
          </a:p>
          <a:p>
            <a:r>
              <a:rPr lang="en-US" sz="3600" dirty="0" smtClean="0"/>
              <a:t>1. Cookies are easy to implement.</a:t>
            </a:r>
          </a:p>
          <a:p>
            <a:r>
              <a:rPr lang="en-US" sz="3600" dirty="0" smtClean="0"/>
              <a:t>2. They allow servers to store small amounts of data.</a:t>
            </a:r>
          </a:p>
          <a:p>
            <a:r>
              <a:rPr lang="en-US" sz="3600" b="1" dirty="0" smtClean="0"/>
              <a:t>Cons:</a:t>
            </a:r>
            <a:endParaRPr lang="en-US" sz="3600" dirty="0" smtClean="0"/>
          </a:p>
          <a:p>
            <a:r>
              <a:rPr lang="en-US" sz="3600" dirty="0" smtClean="0"/>
              <a:t>1. Cookies are stored on the client side, so they can be tampered with or blocked.</a:t>
            </a:r>
          </a:p>
          <a:p>
            <a:r>
              <a:rPr lang="en-US" sz="3600" dirty="0" smtClean="0"/>
              <a:t>2. Browsers have a limit on the size and number of cookies.</a:t>
            </a:r>
          </a:p>
          <a:p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52400"/>
            <a:ext cx="84582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solidFill>
                  <a:srgbClr val="FF0000"/>
                </a:solidFill>
              </a:rPr>
              <a:t>2. URL Rewriting:</a:t>
            </a:r>
          </a:p>
          <a:p>
            <a:r>
              <a:rPr lang="en-US" sz="3200" b="1" dirty="0" smtClean="0"/>
              <a:t>What is URL Rewriting?</a:t>
            </a:r>
            <a:r>
              <a:rPr lang="en-US" sz="3200" dirty="0" smtClean="0"/>
              <a:t> </a:t>
            </a:r>
          </a:p>
          <a:p>
            <a:r>
              <a:rPr lang="en-US" sz="3200" dirty="0" smtClean="0"/>
              <a:t>		In URL rewriting, the server appends session information (a unique session ID) to the URL. This ensures the server can recognize the user in subsequent requests.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How URL Rewriting Works:</a:t>
            </a:r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/>
              <a:t>		The server generates a session ID and attaches it to each URL that the user clicks.</a:t>
            </a:r>
          </a:p>
          <a:p>
            <a:endParaRPr lang="en-US" sz="3200" dirty="0" smtClean="0"/>
          </a:p>
          <a:p>
            <a:r>
              <a:rPr lang="en-US" sz="3200" dirty="0" smtClean="0"/>
              <a:t>             Every time the user requests a new page, the session ID is passed along with the request.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106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/>
              <a:t>import javax.servlet.*;</a:t>
            </a:r>
          </a:p>
          <a:p>
            <a:r>
              <a:rPr lang="en-US" sz="2100" dirty="0" smtClean="0"/>
              <a:t>import javax.servlet.http.*;</a:t>
            </a:r>
          </a:p>
          <a:p>
            <a:r>
              <a:rPr lang="en-US" sz="2100" dirty="0" smtClean="0"/>
              <a:t>import java.io.*;</a:t>
            </a:r>
          </a:p>
          <a:p>
            <a:endParaRPr lang="en-US" sz="2100" dirty="0" smtClean="0"/>
          </a:p>
          <a:p>
            <a:r>
              <a:rPr lang="en-US" sz="2100" dirty="0" smtClean="0"/>
              <a:t>public class URLRewritingExample extends HttpServlet {</a:t>
            </a:r>
          </a:p>
          <a:p>
            <a:r>
              <a:rPr lang="en-US" sz="2100" dirty="0" smtClean="0"/>
              <a:t>    protected void doGet(HttpServletRequest request, HttpServletResponse response) throws ServletException, IOException {</a:t>
            </a:r>
          </a:p>
          <a:p>
            <a:r>
              <a:rPr lang="en-US" sz="2100" dirty="0" smtClean="0"/>
              <a:t>        response.setContentType("text/html");</a:t>
            </a:r>
          </a:p>
          <a:p>
            <a:r>
              <a:rPr lang="en-US" sz="2100" dirty="0" smtClean="0"/>
              <a:t>        PrintWriter out = response.getWriter();</a:t>
            </a:r>
          </a:p>
          <a:p>
            <a:r>
              <a:rPr lang="en-US" sz="2100" dirty="0" smtClean="0"/>
              <a:t>        </a:t>
            </a:r>
          </a:p>
          <a:p>
            <a:r>
              <a:rPr lang="en-US" sz="2100" dirty="0" smtClean="0"/>
              <a:t>        // Get session and assign an attribute</a:t>
            </a:r>
          </a:p>
          <a:p>
            <a:r>
              <a:rPr lang="en-US" sz="2100" dirty="0" smtClean="0"/>
              <a:t>        HttpSession session = request.getSession();</a:t>
            </a:r>
          </a:p>
          <a:p>
            <a:r>
              <a:rPr lang="en-US" sz="2100" dirty="0" smtClean="0"/>
              <a:t>        session.setAttribute("user", "bjln");</a:t>
            </a:r>
          </a:p>
          <a:p>
            <a:r>
              <a:rPr lang="en-US" sz="2100" dirty="0" smtClean="0"/>
              <a:t>        </a:t>
            </a:r>
          </a:p>
          <a:p>
            <a:r>
              <a:rPr lang="en-US" sz="2100" dirty="0" smtClean="0"/>
              <a:t>        // Get the session ID</a:t>
            </a:r>
          </a:p>
          <a:p>
            <a:r>
              <a:rPr lang="en-US" sz="2100" dirty="0" smtClean="0"/>
              <a:t>        String url = response.encodeURL("nextPage");  // URL Rewriting</a:t>
            </a:r>
          </a:p>
          <a:p>
            <a:r>
              <a:rPr lang="en-US" sz="2100" dirty="0" smtClean="0"/>
              <a:t>        </a:t>
            </a:r>
          </a:p>
          <a:p>
            <a:r>
              <a:rPr lang="en-US" sz="2100" dirty="0" smtClean="0"/>
              <a:t>        out.println("Click &lt;a href='" + url + "'&gt;here&lt;/a&gt; to visit the next page.");</a:t>
            </a:r>
          </a:p>
          <a:p>
            <a:r>
              <a:rPr lang="en-US" sz="2100" dirty="0" smtClean="0"/>
              <a:t>    }</a:t>
            </a:r>
          </a:p>
          <a:p>
            <a:r>
              <a:rPr lang="en-US" sz="2100" dirty="0" smtClean="0"/>
              <a:t>}</a:t>
            </a:r>
          </a:p>
          <a:p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800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Pros:</a:t>
            </a:r>
            <a:endParaRPr lang="en-US" sz="3600" dirty="0" smtClean="0">
              <a:solidFill>
                <a:srgbClr val="FF0000"/>
              </a:solidFill>
            </a:endParaRPr>
          </a:p>
          <a:p>
            <a:r>
              <a:rPr lang="en-US" sz="3600" dirty="0" smtClean="0"/>
              <a:t>Works even if cookies are disabled in the browser.</a:t>
            </a:r>
          </a:p>
          <a:p>
            <a:r>
              <a:rPr lang="en-US" sz="3600" b="1" dirty="0" smtClean="0">
                <a:solidFill>
                  <a:srgbClr val="FF0000"/>
                </a:solidFill>
              </a:rPr>
              <a:t>Cons:</a:t>
            </a:r>
            <a:endParaRPr lang="en-US" sz="3600" dirty="0" smtClean="0">
              <a:solidFill>
                <a:srgbClr val="FF0000"/>
              </a:solidFill>
            </a:endParaRPr>
          </a:p>
          <a:p>
            <a:r>
              <a:rPr lang="en-US" sz="3600" dirty="0" smtClean="0"/>
              <a:t>1.The session ID is visible in the URL, which may expose it to security risks.</a:t>
            </a:r>
          </a:p>
          <a:p>
            <a:endParaRPr lang="en-US" sz="3600" dirty="0" smtClean="0"/>
          </a:p>
          <a:p>
            <a:r>
              <a:rPr lang="en-US" sz="3600" dirty="0" smtClean="0"/>
              <a:t>2.The URL length may increase, making URLs look messy.</a:t>
            </a:r>
          </a:p>
          <a:p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8534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3. Hidden Form Fields:</a:t>
            </a:r>
          </a:p>
          <a:p>
            <a:r>
              <a:rPr lang="en-US" sz="3200" b="1" dirty="0" smtClean="0"/>
              <a:t>What are Hidden Form Fields?</a:t>
            </a:r>
            <a:r>
              <a:rPr lang="en-US" sz="3200" dirty="0" smtClean="0"/>
              <a:t> </a:t>
            </a:r>
          </a:p>
          <a:p>
            <a:r>
              <a:rPr lang="en-US" sz="3200" dirty="0" smtClean="0"/>
              <a:t>		Hidden form fields are invisible fields in an HTML form that store session information. This data is submitted whenever the form is submitted.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How Hidden Form Fields Work:</a:t>
            </a:r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/>
              <a:t>		The server generates a session ID and stores it in a hidden field within an HTML form.</a:t>
            </a:r>
          </a:p>
          <a:p>
            <a:endParaRPr lang="en-US" sz="3200" dirty="0" smtClean="0"/>
          </a:p>
          <a:p>
            <a:r>
              <a:rPr lang="en-US" sz="3200" dirty="0" smtClean="0"/>
              <a:t>		Every time the form is submitted, the session information is sent to the server.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4582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import javax.servlet.*;</a:t>
            </a:r>
          </a:p>
          <a:p>
            <a:r>
              <a:rPr lang="en-US" sz="2200" dirty="0" smtClean="0"/>
              <a:t>import javax.servlet.http.*;</a:t>
            </a:r>
          </a:p>
          <a:p>
            <a:r>
              <a:rPr lang="en-US" sz="2200" dirty="0" smtClean="0"/>
              <a:t>import java.io.*;</a:t>
            </a:r>
          </a:p>
          <a:p>
            <a:endParaRPr lang="en-US" sz="2200" dirty="0" smtClean="0"/>
          </a:p>
          <a:p>
            <a:r>
              <a:rPr lang="en-US" sz="2200" dirty="0" smtClean="0"/>
              <a:t>public class HiddenFieldExample extends HttpServlet {</a:t>
            </a:r>
          </a:p>
          <a:p>
            <a:r>
              <a:rPr lang="en-US" sz="2200" dirty="0" smtClean="0"/>
              <a:t>    protected void doGet(HttpServletRequest request, HttpServletResponse response) throws ServletException, IOException {</a:t>
            </a:r>
          </a:p>
          <a:p>
            <a:r>
              <a:rPr lang="en-US" sz="2200" dirty="0" smtClean="0"/>
              <a:t>        response.setContentType("text/html");</a:t>
            </a:r>
          </a:p>
          <a:p>
            <a:r>
              <a:rPr lang="en-US" sz="2200" dirty="0" smtClean="0"/>
              <a:t>        PrintWriter out = response.getWriter();</a:t>
            </a:r>
          </a:p>
          <a:p>
            <a:endParaRPr lang="en-US" sz="2200" dirty="0" smtClean="0"/>
          </a:p>
          <a:p>
            <a:r>
              <a:rPr lang="en-US" sz="2200" dirty="0" smtClean="0"/>
              <a:t>        // Hidden field in HTML form</a:t>
            </a:r>
          </a:p>
          <a:p>
            <a:r>
              <a:rPr lang="en-US" sz="2200" dirty="0" smtClean="0"/>
              <a:t>        out.println("&lt;form action='nextPage' method='post'&gt;");</a:t>
            </a:r>
          </a:p>
          <a:p>
            <a:r>
              <a:rPr lang="en-US" sz="2200" dirty="0" smtClean="0"/>
              <a:t>        out.println("&lt;input type='hidden' name='</a:t>
            </a:r>
            <a:r>
              <a:rPr lang="en-US" sz="2200" dirty="0" err="1" smtClean="0"/>
              <a:t>sessionID</a:t>
            </a:r>
            <a:r>
              <a:rPr lang="en-US" sz="2200" dirty="0" smtClean="0"/>
              <a:t>' value='123456'&gt;");</a:t>
            </a:r>
          </a:p>
          <a:p>
            <a:r>
              <a:rPr lang="en-US" sz="2200" dirty="0" smtClean="0"/>
              <a:t>        out.println("&lt;input type='submit' value='Submit'&gt;");</a:t>
            </a:r>
          </a:p>
          <a:p>
            <a:r>
              <a:rPr lang="en-US" sz="2200" dirty="0" smtClean="0"/>
              <a:t>        out.println("&lt;/form&gt;");</a:t>
            </a:r>
          </a:p>
          <a:p>
            <a:r>
              <a:rPr lang="en-US" sz="2200" dirty="0" smtClean="0"/>
              <a:t>    }</a:t>
            </a:r>
          </a:p>
          <a:p>
            <a:r>
              <a:rPr lang="en-US" sz="2200" dirty="0" smtClean="0"/>
              <a:t>}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09600"/>
            <a:ext cx="838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Pros:</a:t>
            </a:r>
            <a:endParaRPr lang="en-US" sz="3600" dirty="0" smtClean="0">
              <a:solidFill>
                <a:srgbClr val="FF0000"/>
              </a:solidFill>
            </a:endParaRPr>
          </a:p>
          <a:p>
            <a:r>
              <a:rPr lang="en-US" sz="3600" dirty="0" smtClean="0"/>
              <a:t>Works with browsers where cookies are disabled.</a:t>
            </a:r>
          </a:p>
          <a:p>
            <a:r>
              <a:rPr lang="en-US" sz="3600" b="1" dirty="0" smtClean="0">
                <a:solidFill>
                  <a:srgbClr val="FF0000"/>
                </a:solidFill>
              </a:rPr>
              <a:t>Cons:</a:t>
            </a:r>
            <a:endParaRPr lang="en-US" sz="3600" dirty="0" smtClean="0">
              <a:solidFill>
                <a:srgbClr val="FF0000"/>
              </a:solidFill>
            </a:endParaRPr>
          </a:p>
          <a:p>
            <a:r>
              <a:rPr lang="en-US" sz="3600" dirty="0" smtClean="0"/>
              <a:t>1. Only works when forms are submitted.</a:t>
            </a:r>
          </a:p>
          <a:p>
            <a:endParaRPr lang="en-US" sz="3600" dirty="0" smtClean="0"/>
          </a:p>
          <a:p>
            <a:r>
              <a:rPr lang="en-US" sz="3600" dirty="0" smtClean="0"/>
              <a:t>2. Limited to form submissions, so not suitable for tracking across non-form pages.</a:t>
            </a:r>
          </a:p>
          <a:p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28600"/>
            <a:ext cx="88392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solidFill>
                  <a:srgbClr val="FF0000"/>
                </a:solidFill>
              </a:rPr>
              <a:t>4. HttpSession (Most Common Method):</a:t>
            </a:r>
          </a:p>
          <a:p>
            <a:r>
              <a:rPr lang="en-US" sz="3000" b="1" dirty="0" smtClean="0"/>
              <a:t>What is HttpSession?</a:t>
            </a:r>
            <a:r>
              <a:rPr lang="en-US" sz="3000" dirty="0" smtClean="0"/>
              <a:t> </a:t>
            </a:r>
          </a:p>
          <a:p>
            <a:r>
              <a:rPr lang="en-US" sz="3000" dirty="0" smtClean="0"/>
              <a:t>             The HttpSession interface allows web applications to create a session for each user and store information on the server.</a:t>
            </a:r>
          </a:p>
          <a:p>
            <a:r>
              <a:rPr lang="en-US" sz="3000" b="1" dirty="0" smtClean="0">
                <a:solidFill>
                  <a:srgbClr val="FF0000"/>
                </a:solidFill>
              </a:rPr>
              <a:t>How HttpSession Works:</a:t>
            </a:r>
            <a:endParaRPr lang="en-US" sz="3000" dirty="0" smtClean="0">
              <a:solidFill>
                <a:srgbClr val="FF0000"/>
              </a:solidFill>
            </a:endParaRPr>
          </a:p>
          <a:p>
            <a:r>
              <a:rPr lang="en-US" sz="3000" dirty="0" smtClean="0"/>
              <a:t>		The server creates an object of HttpSession when a user first interacts with the application.</a:t>
            </a:r>
          </a:p>
          <a:p>
            <a:r>
              <a:rPr lang="en-US" sz="3000" dirty="0" smtClean="0"/>
              <a:t>		This session object can store any user-specific information, such as username, cart items, etc.</a:t>
            </a:r>
          </a:p>
          <a:p>
            <a:r>
              <a:rPr lang="en-US" sz="3000" dirty="0" smtClean="0"/>
              <a:t>		Each user has a unique session ID that can be tracked automatically (usually through cookies).</a:t>
            </a:r>
          </a:p>
          <a:p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10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import javax.servlet.*;</a:t>
            </a:r>
          </a:p>
          <a:p>
            <a:r>
              <a:rPr lang="en-US" sz="2000" dirty="0" smtClean="0"/>
              <a:t>import javax.servlet.http.*;</a:t>
            </a:r>
          </a:p>
          <a:p>
            <a:r>
              <a:rPr lang="en-US" sz="2000" dirty="0" smtClean="0"/>
              <a:t>import java.io.*;</a:t>
            </a:r>
          </a:p>
          <a:p>
            <a:endParaRPr lang="en-US" sz="2000" dirty="0" smtClean="0"/>
          </a:p>
          <a:p>
            <a:r>
              <a:rPr lang="en-US" sz="2000" dirty="0" smtClean="0"/>
              <a:t>public class HttpSessionExample extends HttpServlet {</a:t>
            </a:r>
          </a:p>
          <a:p>
            <a:r>
              <a:rPr lang="en-US" sz="2000" dirty="0" smtClean="0"/>
              <a:t>    protected void doGet(HttpServletRequest request, HttpServletResponse response) throws ServletException, IOException {</a:t>
            </a:r>
          </a:p>
          <a:p>
            <a:r>
              <a:rPr lang="en-US" sz="2000" dirty="0" smtClean="0"/>
              <a:t>        response.setContentType("text/html");</a:t>
            </a:r>
          </a:p>
          <a:p>
            <a:r>
              <a:rPr lang="en-US" sz="2000" dirty="0" smtClean="0"/>
              <a:t>        PrintWriter out = response.getWriter();</a:t>
            </a:r>
          </a:p>
          <a:p>
            <a:r>
              <a:rPr lang="en-US" sz="2000" dirty="0" smtClean="0"/>
              <a:t>        </a:t>
            </a:r>
          </a:p>
          <a:p>
            <a:r>
              <a:rPr lang="en-US" sz="2000" dirty="0" smtClean="0"/>
              <a:t>        // Creating a session or retrieving an existing one</a:t>
            </a:r>
          </a:p>
          <a:p>
            <a:r>
              <a:rPr lang="en-US" sz="2000" dirty="0" smtClean="0"/>
              <a:t>        HttpSession session = request.getSession();</a:t>
            </a:r>
          </a:p>
          <a:p>
            <a:r>
              <a:rPr lang="en-US" sz="2000" dirty="0" smtClean="0"/>
              <a:t>        </a:t>
            </a:r>
          </a:p>
          <a:p>
            <a:r>
              <a:rPr lang="en-US" sz="2000" dirty="0" smtClean="0"/>
              <a:t>        // Store data in the session</a:t>
            </a:r>
          </a:p>
          <a:p>
            <a:r>
              <a:rPr lang="en-US" sz="2000" dirty="0" smtClean="0"/>
              <a:t>        session.setAttribute("username", "bjln");</a:t>
            </a:r>
          </a:p>
          <a:p>
            <a:endParaRPr lang="en-US" sz="2000" dirty="0" smtClean="0"/>
          </a:p>
          <a:p>
            <a:r>
              <a:rPr lang="en-US" sz="2000" dirty="0" smtClean="0"/>
              <a:t>        out.println("Session created. Username stored in session.");</a:t>
            </a:r>
          </a:p>
          <a:p>
            <a:r>
              <a:rPr lang="en-US" sz="2000" dirty="0" smtClean="0"/>
              <a:t>    }</a:t>
            </a:r>
          </a:p>
          <a:p>
            <a:r>
              <a:rPr lang="en-US" sz="2000" dirty="0" smtClean="0"/>
              <a:t>}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38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Pros:</a:t>
            </a:r>
          </a:p>
          <a:p>
            <a:endParaRPr lang="en-US" sz="3200" dirty="0" smtClean="0"/>
          </a:p>
          <a:p>
            <a:r>
              <a:rPr lang="en-US" sz="3200" dirty="0" smtClean="0"/>
              <a:t>1.  Convenient to store large amounts of data.</a:t>
            </a:r>
          </a:p>
          <a:p>
            <a:r>
              <a:rPr lang="en-US" sz="3200" dirty="0" smtClean="0"/>
              <a:t>2.  Information is stored on the server, so it is more secure than cookies.</a:t>
            </a:r>
          </a:p>
          <a:p>
            <a:endParaRPr lang="en-US" sz="3200" dirty="0" smtClean="0"/>
          </a:p>
          <a:p>
            <a:r>
              <a:rPr lang="en-US" sz="3200" b="1" dirty="0" smtClean="0"/>
              <a:t>Cons:</a:t>
            </a: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 smtClean="0"/>
              <a:t>Requires more server memory as data is stored on the server.</a:t>
            </a:r>
          </a:p>
          <a:p>
            <a:pPr marL="514350" indent="-514350"/>
            <a:endParaRPr lang="en-US" sz="3200" dirty="0" smtClean="0"/>
          </a:p>
          <a:p>
            <a:r>
              <a:rPr lang="en-US" sz="3200" dirty="0" smtClean="0"/>
              <a:t>2.   Can lead to session timeout issues if not     managed properly.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"/>
            <a:ext cx="84582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9154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524000" y="5943600"/>
            <a:ext cx="601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Refer </a:t>
            </a:r>
            <a:r>
              <a:rPr lang="en-IN" sz="3600" b="1" dirty="0" smtClean="0"/>
              <a:t>ServletConfigProject.war</a:t>
            </a:r>
            <a:endParaRPr 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829</Words>
  <Application>Microsoft Office PowerPoint</Application>
  <PresentationFormat>On-screen Show (4:3)</PresentationFormat>
  <Paragraphs>155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WORLD</dc:creator>
  <cp:lastModifiedBy>CCC</cp:lastModifiedBy>
  <cp:revision>80</cp:revision>
  <dcterms:created xsi:type="dcterms:W3CDTF">2006-08-16T00:00:00Z</dcterms:created>
  <dcterms:modified xsi:type="dcterms:W3CDTF">2024-10-04T05:56:18Z</dcterms:modified>
</cp:coreProperties>
</file>