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113.xml" ContentType="application/vnd.openxmlformats-officedocument.presentationml.slide+xml"/>
  <Override PartName="/ppt/slides/slide14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s/slide120.xml" ContentType="application/vnd.openxmlformats-officedocument.presentationml.slide+xml"/>
  <Override PartName="/ppt/slides/slide13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129.xml" ContentType="application/vnd.openxmlformats-officedocument.presentationml.slide+xml"/>
  <Override PartName="/ppt/slides/slide147.xml" ContentType="application/vnd.openxmlformats-officedocument.presentationml.slide+xml"/>
  <Override PartName="/ppt/slides/slide99.xml" ContentType="application/vnd.openxmlformats-officedocument.presentationml.slide+xml"/>
  <Override PartName="/ppt/slides/slide118.xml" ContentType="application/vnd.openxmlformats-officedocument.presentationml.slide+xml"/>
  <Override PartName="/ppt/slides/slide136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slides/slide125.xml" ContentType="application/vnd.openxmlformats-officedocument.presentationml.slide+xml"/>
  <Override PartName="/ppt/slides/slide143.xml" ContentType="application/vnd.openxmlformats-officedocument.presentationml.slide+xml"/>
  <Override PartName="/ppt/slides/slide154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s/slide132.xml" ContentType="application/vnd.openxmlformats-officedocument.presentationml.slide+xml"/>
  <Override PartName="/ppt/slides/slide150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s/slide119.xml" ContentType="application/vnd.openxmlformats-officedocument.presentationml.slide+xml"/>
  <Override PartName="/ppt/slides/slide148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117.xml" ContentType="application/vnd.openxmlformats-officedocument.presentationml.slide+xml"/>
  <Override PartName="/ppt/slides/slide126.xml" ContentType="application/vnd.openxmlformats-officedocument.presentationml.slide+xml"/>
  <Override PartName="/ppt/slides/slide128.xml" ContentType="application/vnd.openxmlformats-officedocument.presentationml.slide+xml"/>
  <Override PartName="/ppt/slides/slide137.xml" ContentType="application/vnd.openxmlformats-officedocument.presentationml.slide+xml"/>
  <Override PartName="/ppt/slides/slide146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ppt/slides/slide115.xml" ContentType="application/vnd.openxmlformats-officedocument.presentationml.slide+xml"/>
  <Override PartName="/ppt/slides/slide124.xml" ContentType="application/vnd.openxmlformats-officedocument.presentationml.slide+xml"/>
  <Override PartName="/ppt/slides/slide135.xml" ContentType="application/vnd.openxmlformats-officedocument.presentationml.slide+xml"/>
  <Override PartName="/ppt/slides/slide144.xml" ContentType="application/vnd.openxmlformats-officedocument.presentationml.slide+xml"/>
  <Override PartName="/ppt/slides/slide153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slides/slide151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s/slide140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s/slide149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38.xml" ContentType="application/vnd.openxmlformats-officedocument.presentationml.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slides/slide145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s/slide134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slides/slide141.xml" ContentType="application/vnd.openxmlformats-officedocument.presentationml.slide+xml"/>
  <Override PartName="/ppt/slides/slide152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30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0.xml" ContentType="application/vnd.openxmlformats-officedocument.presentationml.slide+xml"/>
  <Override PartName="/ppt/slides/slide13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332" r:id="rId25"/>
    <p:sldId id="279" r:id="rId26"/>
    <p:sldId id="280" r:id="rId27"/>
    <p:sldId id="281" r:id="rId28"/>
    <p:sldId id="333" r:id="rId29"/>
    <p:sldId id="282" r:id="rId30"/>
    <p:sldId id="334" r:id="rId31"/>
    <p:sldId id="283" r:id="rId32"/>
    <p:sldId id="284" r:id="rId33"/>
    <p:sldId id="336" r:id="rId34"/>
    <p:sldId id="335" r:id="rId35"/>
    <p:sldId id="285" r:id="rId36"/>
    <p:sldId id="337" r:id="rId37"/>
    <p:sldId id="286" r:id="rId38"/>
    <p:sldId id="338" r:id="rId39"/>
    <p:sldId id="287" r:id="rId40"/>
    <p:sldId id="288" r:id="rId41"/>
    <p:sldId id="289" r:id="rId42"/>
    <p:sldId id="290" r:id="rId43"/>
    <p:sldId id="339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41" r:id="rId57"/>
    <p:sldId id="340" r:id="rId58"/>
    <p:sldId id="303" r:id="rId59"/>
    <p:sldId id="304" r:id="rId60"/>
    <p:sldId id="305" r:id="rId61"/>
    <p:sldId id="307" r:id="rId62"/>
    <p:sldId id="308" r:id="rId63"/>
    <p:sldId id="309" r:id="rId64"/>
    <p:sldId id="343" r:id="rId65"/>
    <p:sldId id="365" r:id="rId66"/>
    <p:sldId id="366" r:id="rId67"/>
    <p:sldId id="367" r:id="rId68"/>
    <p:sldId id="368" r:id="rId69"/>
    <p:sldId id="369" r:id="rId70"/>
    <p:sldId id="370" r:id="rId71"/>
    <p:sldId id="371" r:id="rId72"/>
    <p:sldId id="372" r:id="rId73"/>
    <p:sldId id="373" r:id="rId74"/>
    <p:sldId id="374" r:id="rId75"/>
    <p:sldId id="311" r:id="rId76"/>
    <p:sldId id="312" r:id="rId77"/>
    <p:sldId id="314" r:id="rId78"/>
    <p:sldId id="315" r:id="rId79"/>
    <p:sldId id="316" r:id="rId80"/>
    <p:sldId id="317" r:id="rId81"/>
    <p:sldId id="321" r:id="rId82"/>
    <p:sldId id="322" r:id="rId83"/>
    <p:sldId id="323" r:id="rId84"/>
    <p:sldId id="324" r:id="rId85"/>
    <p:sldId id="325" r:id="rId86"/>
    <p:sldId id="326" r:id="rId87"/>
    <p:sldId id="327" r:id="rId88"/>
    <p:sldId id="328" r:id="rId89"/>
    <p:sldId id="329" r:id="rId90"/>
    <p:sldId id="330" r:id="rId91"/>
    <p:sldId id="331" r:id="rId92"/>
    <p:sldId id="375" r:id="rId93"/>
    <p:sldId id="376" r:id="rId94"/>
    <p:sldId id="377" r:id="rId95"/>
    <p:sldId id="378" r:id="rId96"/>
    <p:sldId id="379" r:id="rId97"/>
    <p:sldId id="380" r:id="rId98"/>
    <p:sldId id="381" r:id="rId99"/>
    <p:sldId id="382" r:id="rId100"/>
    <p:sldId id="383" r:id="rId101"/>
    <p:sldId id="384" r:id="rId102"/>
    <p:sldId id="385" r:id="rId103"/>
    <p:sldId id="386" r:id="rId104"/>
    <p:sldId id="387" r:id="rId105"/>
    <p:sldId id="388" r:id="rId106"/>
    <p:sldId id="389" r:id="rId107"/>
    <p:sldId id="390" r:id="rId108"/>
    <p:sldId id="391" r:id="rId109"/>
    <p:sldId id="392" r:id="rId110"/>
    <p:sldId id="393" r:id="rId111"/>
    <p:sldId id="394" r:id="rId112"/>
    <p:sldId id="395" r:id="rId113"/>
    <p:sldId id="396" r:id="rId114"/>
    <p:sldId id="397" r:id="rId115"/>
    <p:sldId id="398" r:id="rId116"/>
    <p:sldId id="399" r:id="rId117"/>
    <p:sldId id="400" r:id="rId118"/>
    <p:sldId id="401" r:id="rId119"/>
    <p:sldId id="402" r:id="rId120"/>
    <p:sldId id="403" r:id="rId121"/>
    <p:sldId id="404" r:id="rId122"/>
    <p:sldId id="405" r:id="rId123"/>
    <p:sldId id="406" r:id="rId124"/>
    <p:sldId id="407" r:id="rId125"/>
    <p:sldId id="408" r:id="rId126"/>
    <p:sldId id="409" r:id="rId127"/>
    <p:sldId id="410" r:id="rId128"/>
    <p:sldId id="411" r:id="rId129"/>
    <p:sldId id="412" r:id="rId130"/>
    <p:sldId id="413" r:id="rId131"/>
    <p:sldId id="414" r:id="rId132"/>
    <p:sldId id="415" r:id="rId133"/>
    <p:sldId id="416" r:id="rId134"/>
    <p:sldId id="417" r:id="rId135"/>
    <p:sldId id="418" r:id="rId136"/>
    <p:sldId id="419" r:id="rId137"/>
    <p:sldId id="420" r:id="rId138"/>
    <p:sldId id="421" r:id="rId139"/>
    <p:sldId id="422" r:id="rId140"/>
    <p:sldId id="423" r:id="rId141"/>
    <p:sldId id="424" r:id="rId142"/>
    <p:sldId id="425" r:id="rId143"/>
    <p:sldId id="426" r:id="rId144"/>
    <p:sldId id="427" r:id="rId145"/>
    <p:sldId id="428" r:id="rId146"/>
    <p:sldId id="429" r:id="rId147"/>
    <p:sldId id="430" r:id="rId148"/>
    <p:sldId id="431" r:id="rId149"/>
    <p:sldId id="432" r:id="rId150"/>
    <p:sldId id="433" r:id="rId151"/>
    <p:sldId id="434" r:id="rId152"/>
    <p:sldId id="435" r:id="rId153"/>
    <p:sldId id="436" r:id="rId154"/>
    <p:sldId id="437" r:id="rId1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53" Type="http://schemas.openxmlformats.org/officeDocument/2006/relationships/slide" Target="slides/slide1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slide" Target="slides/slide150.xml"/><Relationship Id="rId15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762000"/>
            <a:ext cx="8001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228600"/>
            <a:ext cx="876300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304800"/>
            <a:ext cx="7315200" cy="5638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52400"/>
            <a:ext cx="8229599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0513" y="152400"/>
            <a:ext cx="8562975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1905000"/>
            <a:ext cx="670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 smtClean="0"/>
              <a:t>Change the </a:t>
            </a:r>
          </a:p>
          <a:p>
            <a:r>
              <a:rPr lang="en-IN" sz="5400" b="1" dirty="0" smtClean="0"/>
              <a:t>context root</a:t>
            </a:r>
            <a:endParaRPr lang="en-US" sz="54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0"/>
            <a:ext cx="7086600" cy="693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52400"/>
            <a:ext cx="8653462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304800"/>
            <a:ext cx="8610600" cy="6324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28600"/>
            <a:ext cx="853440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76200"/>
            <a:ext cx="7315200" cy="6878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smtClean="0"/>
              <a:t>&lt;!DOCTYPE html&gt;</a:t>
            </a:r>
          </a:p>
          <a:p>
            <a:r>
              <a:rPr lang="en-US" sz="700" dirty="0" smtClean="0"/>
              <a:t>&lt;html&gt;</a:t>
            </a:r>
          </a:p>
          <a:p>
            <a:r>
              <a:rPr lang="en-US" sz="700" dirty="0" smtClean="0"/>
              <a:t>&lt;head&gt;</a:t>
            </a:r>
          </a:p>
          <a:p>
            <a:r>
              <a:rPr lang="en-US" sz="700" dirty="0" smtClean="0"/>
              <a:t>&lt;title&gt;Welcome to JAVA Web APP&lt;/title&gt;</a:t>
            </a:r>
          </a:p>
          <a:p>
            <a:r>
              <a:rPr lang="en-US" sz="700" dirty="0" smtClean="0"/>
              <a:t>&lt;/head&gt;</a:t>
            </a:r>
          </a:p>
          <a:p>
            <a:r>
              <a:rPr lang="en-US" sz="700" dirty="0" smtClean="0"/>
              <a:t>&lt;body&gt;</a:t>
            </a:r>
          </a:p>
          <a:p>
            <a:r>
              <a:rPr lang="pt-BR" sz="700" dirty="0" smtClean="0"/>
              <a:t>&lt;h2&gt;Welcome to Java </a:t>
            </a:r>
            <a:r>
              <a:rPr lang="pt-BR" sz="700" u="sng" dirty="0" smtClean="0"/>
              <a:t>Servlets&lt;/h2&gt;</a:t>
            </a:r>
          </a:p>
          <a:p>
            <a:r>
              <a:rPr lang="en-US" sz="700" dirty="0" smtClean="0"/>
              <a:t>&lt;h3&gt;Registration Form(Lab5)&lt;/h3&gt;</a:t>
            </a:r>
          </a:p>
          <a:p>
            <a:r>
              <a:rPr lang="en-US" sz="700" dirty="0" smtClean="0"/>
              <a:t>&lt;form action=</a:t>
            </a:r>
            <a:r>
              <a:rPr lang="en-US" sz="700" i="1" dirty="0" smtClean="0"/>
              <a:t>"myregister" method="post"&gt;</a:t>
            </a:r>
          </a:p>
          <a:p>
            <a:r>
              <a:rPr lang="en-US" sz="700" dirty="0" smtClean="0"/>
              <a:t>&lt;table&gt;</a:t>
            </a:r>
          </a:p>
          <a:p>
            <a:r>
              <a:rPr lang="en-US" sz="700" dirty="0" smtClean="0"/>
              <a:t>&lt;tr&gt;</a:t>
            </a:r>
          </a:p>
          <a:p>
            <a:r>
              <a:rPr lang="en-US" sz="700" dirty="0" smtClean="0"/>
              <a:t>&lt;td&gt;Full Name&lt;/td&gt;</a:t>
            </a:r>
          </a:p>
          <a:p>
            <a:r>
              <a:rPr lang="en-US" sz="700" dirty="0" smtClean="0"/>
              <a:t>&lt;td&gt;&lt;input type=</a:t>
            </a:r>
            <a:r>
              <a:rPr lang="en-US" sz="700" i="1" dirty="0" smtClean="0"/>
              <a:t>"text" name="fname" /&gt;&lt;/td&gt;</a:t>
            </a:r>
          </a:p>
          <a:p>
            <a:r>
              <a:rPr lang="en-US" sz="700" dirty="0" smtClean="0"/>
              <a:t>&lt;/tr&gt;</a:t>
            </a:r>
          </a:p>
          <a:p>
            <a:r>
              <a:rPr lang="en-US" sz="700" dirty="0" smtClean="0"/>
              <a:t>&lt;tr&gt;</a:t>
            </a:r>
          </a:p>
          <a:p>
            <a:r>
              <a:rPr lang="en-US" sz="700" dirty="0" smtClean="0"/>
              <a:t>&lt;td&gt;Email&lt;/td&gt;</a:t>
            </a:r>
          </a:p>
          <a:p>
            <a:r>
              <a:rPr lang="en-US" sz="700" dirty="0" smtClean="0"/>
              <a:t>&lt;td&gt;&lt;input type=</a:t>
            </a:r>
            <a:r>
              <a:rPr lang="en-US" sz="700" i="1" dirty="0" smtClean="0"/>
              <a:t>"text" name="email" /&gt;&lt;/td&gt;</a:t>
            </a:r>
          </a:p>
          <a:p>
            <a:r>
              <a:rPr lang="en-US" sz="700" dirty="0" smtClean="0"/>
              <a:t>&lt;/tr&gt;</a:t>
            </a:r>
          </a:p>
          <a:p>
            <a:r>
              <a:rPr lang="en-US" sz="700" dirty="0" smtClean="0"/>
              <a:t>&lt;tr&gt;</a:t>
            </a:r>
          </a:p>
          <a:p>
            <a:r>
              <a:rPr lang="en-US" sz="700" dirty="0" smtClean="0"/>
              <a:t>&lt;td&gt;Phone&lt;/td&gt;</a:t>
            </a:r>
          </a:p>
          <a:p>
            <a:r>
              <a:rPr lang="en-US" sz="700" dirty="0" smtClean="0"/>
              <a:t>&lt;td&gt;&lt;input type=</a:t>
            </a:r>
            <a:r>
              <a:rPr lang="en-US" sz="700" i="1" dirty="0" smtClean="0"/>
              <a:t>"text" name="phone" /&gt;&lt;/td&gt;</a:t>
            </a:r>
          </a:p>
          <a:p>
            <a:r>
              <a:rPr lang="en-US" sz="700" dirty="0" smtClean="0"/>
              <a:t>&lt;/tr&gt;</a:t>
            </a:r>
          </a:p>
          <a:p>
            <a:r>
              <a:rPr lang="en-US" sz="700" dirty="0" smtClean="0"/>
              <a:t>&lt;tr&gt;</a:t>
            </a:r>
          </a:p>
          <a:p>
            <a:r>
              <a:rPr lang="en-US" sz="700" dirty="0" smtClean="0"/>
              <a:t>&lt;td&gt;Gender&lt;/td&gt;</a:t>
            </a:r>
          </a:p>
          <a:p>
            <a:r>
              <a:rPr lang="en-US" sz="700" dirty="0" smtClean="0"/>
              <a:t>&lt;td&gt;&lt;input type=</a:t>
            </a:r>
            <a:r>
              <a:rPr lang="en-US" sz="700" i="1" dirty="0" smtClean="0"/>
              <a:t>"radio" name="gender" value="Male" /&gt; Male &lt;br /&gt;</a:t>
            </a:r>
          </a:p>
          <a:p>
            <a:r>
              <a:rPr lang="en-US" sz="700" dirty="0" smtClean="0"/>
              <a:t>&lt;input type=</a:t>
            </a:r>
            <a:r>
              <a:rPr lang="en-US" sz="700" i="1" dirty="0" smtClean="0"/>
              <a:t>"radio" name="gender" value="Female" /&gt; Female&lt;/td&gt;</a:t>
            </a:r>
          </a:p>
          <a:p>
            <a:r>
              <a:rPr lang="en-US" sz="700" dirty="0" smtClean="0"/>
              <a:t>&lt;/tr&gt;</a:t>
            </a:r>
          </a:p>
          <a:p>
            <a:r>
              <a:rPr lang="en-US" sz="700" dirty="0" smtClean="0"/>
              <a:t>&lt;tr&gt;</a:t>
            </a:r>
          </a:p>
          <a:p>
            <a:r>
              <a:rPr lang="en-US" sz="700" dirty="0" smtClean="0"/>
              <a:t>&lt;td&gt;Courses&lt;/td&gt;</a:t>
            </a:r>
          </a:p>
          <a:p>
            <a:r>
              <a:rPr lang="en-US" sz="700" dirty="0" smtClean="0"/>
              <a:t>&lt;td&gt;&lt;input type=</a:t>
            </a:r>
            <a:r>
              <a:rPr lang="en-US" sz="700" i="1" dirty="0" smtClean="0"/>
              <a:t>"checkbox" name="mycourses"  value="Java Developer" /&gt; </a:t>
            </a:r>
          </a:p>
          <a:p>
            <a:r>
              <a:rPr lang="en-US" sz="700" dirty="0" smtClean="0"/>
              <a:t>          Java Developer Course &lt;br /&gt; </a:t>
            </a:r>
          </a:p>
          <a:p>
            <a:r>
              <a:rPr lang="en-US" sz="700" dirty="0" smtClean="0"/>
              <a:t>&lt;input type=</a:t>
            </a:r>
            <a:r>
              <a:rPr lang="en-US" sz="700" i="1" dirty="0" smtClean="0"/>
              <a:t>"checkbox" name="mycourses" value="Angular" /&gt;</a:t>
            </a:r>
          </a:p>
          <a:p>
            <a:r>
              <a:rPr lang="en-US" sz="700" dirty="0" smtClean="0"/>
              <a:t>     Angular Course &lt;br /&gt; </a:t>
            </a:r>
          </a:p>
          <a:p>
            <a:r>
              <a:rPr lang="en-US" sz="700" dirty="0" smtClean="0"/>
              <a:t>&lt;input type=</a:t>
            </a:r>
            <a:r>
              <a:rPr lang="en-US" sz="700" i="1" dirty="0" smtClean="0"/>
              <a:t>"checkbox" name="mycourses" value="React" /&gt;</a:t>
            </a:r>
          </a:p>
          <a:p>
            <a:r>
              <a:rPr lang="en-US" sz="700" dirty="0" smtClean="0"/>
              <a:t>       React Course &lt;br /&gt; </a:t>
            </a:r>
          </a:p>
          <a:p>
            <a:r>
              <a:rPr lang="en-US" sz="700" dirty="0" smtClean="0"/>
              <a:t>&lt;input type=</a:t>
            </a:r>
            <a:r>
              <a:rPr lang="en-US" sz="700" i="1" dirty="0" smtClean="0"/>
              <a:t>"checkbox" name="mycourses" value="Spring Boot and MS" /&gt; </a:t>
            </a:r>
          </a:p>
          <a:p>
            <a:r>
              <a:rPr lang="en-US" sz="700" dirty="0" smtClean="0"/>
              <a:t>       Spring Boot and MS Course &lt;br /&gt; </a:t>
            </a:r>
          </a:p>
          <a:p>
            <a:r>
              <a:rPr lang="en-US" sz="700" dirty="0" smtClean="0"/>
              <a:t>&lt;input type=</a:t>
            </a:r>
            <a:r>
              <a:rPr lang="en-US" sz="700" i="1" dirty="0" smtClean="0"/>
              <a:t>"checkbox" name="mycourses" value="DevOps" /&gt;</a:t>
            </a:r>
          </a:p>
          <a:p>
            <a:r>
              <a:rPr lang="en-US" sz="700" dirty="0" smtClean="0"/>
              <a:t>      DevOps Course &lt;br /&gt;</a:t>
            </a:r>
          </a:p>
          <a:p>
            <a:r>
              <a:rPr lang="en-US" sz="700" dirty="0" smtClean="0"/>
              <a:t>&lt;/td&gt;</a:t>
            </a:r>
          </a:p>
          <a:p>
            <a:r>
              <a:rPr lang="en-US" sz="700" dirty="0" smtClean="0"/>
              <a:t>&lt;/tr&gt;</a:t>
            </a:r>
          </a:p>
          <a:p>
            <a:r>
              <a:rPr lang="en-US" sz="700" dirty="0" smtClean="0"/>
              <a:t>&lt;tr&gt;</a:t>
            </a:r>
          </a:p>
          <a:p>
            <a:r>
              <a:rPr lang="en-US" sz="700" dirty="0" smtClean="0"/>
              <a:t>&lt;td&gt;Timings&lt;/td&gt;</a:t>
            </a:r>
          </a:p>
          <a:p>
            <a:r>
              <a:rPr lang="en-US" sz="700" dirty="0" smtClean="0"/>
              <a:t>&lt;td&gt;&lt;select name=</a:t>
            </a:r>
            <a:r>
              <a:rPr lang="en-US" sz="700" i="1" dirty="0" smtClean="0"/>
              <a:t>"timings"&gt;</a:t>
            </a:r>
          </a:p>
          <a:p>
            <a:r>
              <a:rPr lang="en-US" sz="700" dirty="0" smtClean="0"/>
              <a:t>&lt;option value=</a:t>
            </a:r>
            <a:r>
              <a:rPr lang="en-US" sz="700" i="1" dirty="0" smtClean="0"/>
              <a:t>""&gt;--- Select ---&lt;/option&gt;</a:t>
            </a:r>
          </a:p>
          <a:p>
            <a:r>
              <a:rPr lang="en-US" sz="700" dirty="0" smtClean="0"/>
              <a:t>&lt;option value=</a:t>
            </a:r>
            <a:r>
              <a:rPr lang="en-US" sz="700" i="1" dirty="0" smtClean="0"/>
              <a:t>" 4.00P.M to 6.00P.M"&gt;4.00P.M to 6.00P.M&lt;/option&gt;</a:t>
            </a:r>
          </a:p>
          <a:p>
            <a:r>
              <a:rPr lang="en-US" sz="700" dirty="0" smtClean="0"/>
              <a:t>&lt;option value=</a:t>
            </a:r>
            <a:r>
              <a:rPr lang="en-US" sz="700" i="1" dirty="0" smtClean="0"/>
              <a:t>"6.00P.M to 8.00P.M"&gt;6.00P.M to 8.00P.M&lt;/option&gt;</a:t>
            </a:r>
          </a:p>
          <a:p>
            <a:r>
              <a:rPr lang="en-US" sz="700" dirty="0" smtClean="0"/>
              <a:t>&lt;option value=</a:t>
            </a:r>
            <a:r>
              <a:rPr lang="en-US" sz="700" i="1" dirty="0" smtClean="0"/>
              <a:t>"8.00P.M to 10.00P.M"&gt;8.00P.M to 10.00P.M&lt;/option&gt;</a:t>
            </a:r>
          </a:p>
          <a:p>
            <a:r>
              <a:rPr lang="en-US" sz="700" dirty="0" smtClean="0"/>
              <a:t>     &lt;/select&gt;</a:t>
            </a:r>
          </a:p>
          <a:p>
            <a:r>
              <a:rPr lang="en-US" sz="700" dirty="0" smtClean="0"/>
              <a:t> &lt;/td&gt;</a:t>
            </a:r>
          </a:p>
          <a:p>
            <a:r>
              <a:rPr lang="en-US" sz="700" dirty="0" smtClean="0"/>
              <a:t>&lt;/tr&gt;</a:t>
            </a:r>
          </a:p>
          <a:p>
            <a:r>
              <a:rPr lang="en-US" sz="700" dirty="0" smtClean="0"/>
              <a:t>&lt;tr&gt;</a:t>
            </a:r>
          </a:p>
          <a:p>
            <a:r>
              <a:rPr lang="en-US" sz="700" dirty="0" smtClean="0"/>
              <a:t>&lt;td&gt;Remarks&lt;/td&gt;</a:t>
            </a:r>
          </a:p>
          <a:p>
            <a:r>
              <a:rPr lang="en-US" sz="700" dirty="0" smtClean="0"/>
              <a:t>&lt;td&gt;&lt;textarea name=</a:t>
            </a:r>
            <a:r>
              <a:rPr lang="en-US" sz="700" i="1" dirty="0" smtClean="0"/>
              <a:t>"remarks" rows="5" cols="25"&gt; &lt;/textarea&gt;&lt;/td&gt;</a:t>
            </a:r>
          </a:p>
          <a:p>
            <a:r>
              <a:rPr lang="en-US" sz="700" dirty="0" smtClean="0"/>
              <a:t>&lt;/tr&gt;</a:t>
            </a:r>
          </a:p>
          <a:p>
            <a:r>
              <a:rPr lang="en-US" sz="700" dirty="0" smtClean="0"/>
              <a:t>&lt;tr&gt;</a:t>
            </a:r>
          </a:p>
          <a:p>
            <a:r>
              <a:rPr lang="en-US" sz="700" dirty="0" smtClean="0"/>
              <a:t>&lt;td colspan=</a:t>
            </a:r>
            <a:r>
              <a:rPr lang="en-US" sz="700" i="1" dirty="0" smtClean="0"/>
              <a:t>"2" align="center"&gt;&lt;input type="submit"</a:t>
            </a:r>
          </a:p>
          <a:p>
            <a:r>
              <a:rPr lang="en-US" sz="700" dirty="0" smtClean="0"/>
              <a:t>value=</a:t>
            </a:r>
            <a:r>
              <a:rPr lang="en-US" sz="700" i="1" dirty="0" smtClean="0"/>
              <a:t>"Register Now" /&gt;&lt;/td&gt;</a:t>
            </a:r>
          </a:p>
          <a:p>
            <a:r>
              <a:rPr lang="en-US" sz="700" dirty="0" smtClean="0"/>
              <a:t>&lt;/tr&gt;</a:t>
            </a:r>
          </a:p>
          <a:p>
            <a:r>
              <a:rPr lang="en-US" sz="700" dirty="0" smtClean="0"/>
              <a:t>&lt;/table&gt;</a:t>
            </a:r>
          </a:p>
          <a:p>
            <a:r>
              <a:rPr lang="en-US" sz="700" dirty="0" smtClean="0"/>
              <a:t>&lt;/form&gt;</a:t>
            </a:r>
          </a:p>
          <a:p>
            <a:r>
              <a:rPr lang="en-US" sz="700" dirty="0" smtClean="0"/>
              <a:t>&lt;/body&gt;</a:t>
            </a:r>
          </a:p>
          <a:p>
            <a:r>
              <a:rPr lang="en-US" sz="700" dirty="0" smtClean="0"/>
              <a:t>&lt;/html&gt;</a:t>
            </a:r>
            <a:endParaRPr lang="en-US" sz="700" dirty="0"/>
          </a:p>
        </p:txBody>
      </p:sp>
      <p:sp>
        <p:nvSpPr>
          <p:cNvPr id="3" name="TextBox 2"/>
          <p:cNvSpPr txBox="1"/>
          <p:nvPr/>
        </p:nvSpPr>
        <p:spPr>
          <a:xfrm>
            <a:off x="4191000" y="990600"/>
            <a:ext cx="3886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i="1" dirty="0" smtClean="0">
                <a:solidFill>
                  <a:srgbClr val="FF0000"/>
                </a:solidFill>
              </a:rPr>
              <a:t>register.html</a:t>
            </a:r>
            <a:endParaRPr lang="en-US" sz="4800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228600"/>
            <a:ext cx="762000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smtClean="0"/>
              <a:t>package com.vrsec.servlets;</a:t>
            </a:r>
          </a:p>
          <a:p>
            <a:endParaRPr lang="en-US" sz="700" dirty="0" smtClean="0"/>
          </a:p>
          <a:p>
            <a:r>
              <a:rPr lang="en-US" sz="700" b="1" dirty="0" smtClean="0"/>
              <a:t>import java.io.IOException;</a:t>
            </a:r>
          </a:p>
          <a:p>
            <a:r>
              <a:rPr lang="en-US" sz="700" b="1" dirty="0" smtClean="0"/>
              <a:t>import java.io.PrintWriter;</a:t>
            </a:r>
          </a:p>
          <a:p>
            <a:r>
              <a:rPr lang="en-US" sz="700" b="1" dirty="0" smtClean="0"/>
              <a:t>import javax.servlet.ServletException;</a:t>
            </a:r>
          </a:p>
          <a:p>
            <a:r>
              <a:rPr lang="en-US" sz="700" b="1" dirty="0" smtClean="0"/>
              <a:t>import javax.servlet.http.HttpServlet;</a:t>
            </a:r>
          </a:p>
          <a:p>
            <a:r>
              <a:rPr lang="en-US" sz="700" b="1" dirty="0" smtClean="0"/>
              <a:t>import javax.servlet.http.HttpServletRequest;</a:t>
            </a:r>
          </a:p>
          <a:p>
            <a:r>
              <a:rPr lang="en-US" sz="700" b="1" dirty="0" smtClean="0"/>
              <a:t>import javax.servlet.http.HttpServletResponse;</a:t>
            </a:r>
          </a:p>
          <a:p>
            <a:endParaRPr lang="en-US" sz="700" dirty="0" smtClean="0"/>
          </a:p>
          <a:p>
            <a:r>
              <a:rPr lang="en-US" sz="700" b="1" dirty="0" smtClean="0"/>
              <a:t>public class </a:t>
            </a:r>
            <a:r>
              <a:rPr lang="en-US" sz="700" b="1" u="sng" dirty="0" smtClean="0"/>
              <a:t>RegisterServlet extends HttpServlet {</a:t>
            </a:r>
          </a:p>
          <a:p>
            <a:r>
              <a:rPr lang="en-US" sz="700" b="1" dirty="0" smtClean="0"/>
              <a:t>public void service(HttpServletRequest request, HttpServletResponse response) throws IOException, ServletException {</a:t>
            </a:r>
          </a:p>
          <a:p>
            <a:r>
              <a:rPr lang="en-US" sz="700" dirty="0" smtClean="0"/>
              <a:t>// 1.Collect Input Data</a:t>
            </a:r>
          </a:p>
          <a:p>
            <a:r>
              <a:rPr lang="en-US" sz="700" dirty="0" smtClean="0"/>
              <a:t>String fname = request.getParameter("fname");</a:t>
            </a:r>
          </a:p>
          <a:p>
            <a:r>
              <a:rPr lang="en-US" sz="700" dirty="0" smtClean="0"/>
              <a:t>String email = request.getParameter("email");</a:t>
            </a:r>
          </a:p>
          <a:p>
            <a:r>
              <a:rPr lang="en-US" sz="700" dirty="0" smtClean="0"/>
              <a:t>String phone = request.getParameter("phone");</a:t>
            </a:r>
          </a:p>
          <a:p>
            <a:r>
              <a:rPr lang="en-US" sz="700" dirty="0" smtClean="0"/>
              <a:t>String gender = request.getParameter("gender");</a:t>
            </a:r>
          </a:p>
          <a:p>
            <a:endParaRPr lang="en-US" sz="700" dirty="0" smtClean="0"/>
          </a:p>
          <a:p>
            <a:r>
              <a:rPr lang="en-US" sz="700" dirty="0" smtClean="0"/>
              <a:t>String timings = request.getParameter("timings");</a:t>
            </a:r>
          </a:p>
          <a:p>
            <a:r>
              <a:rPr lang="en-US" sz="700" dirty="0" smtClean="0"/>
              <a:t>String remarks = request.getParameter("remarks");</a:t>
            </a:r>
          </a:p>
          <a:p>
            <a:r>
              <a:rPr lang="en-US" sz="700" dirty="0" smtClean="0"/>
              <a:t>String mycourses[] = request.getParameterValues("mycourses");</a:t>
            </a:r>
          </a:p>
          <a:p>
            <a:r>
              <a:rPr lang="en-US" sz="700" dirty="0" smtClean="0"/>
              <a:t>// 2.Do Processing</a:t>
            </a:r>
          </a:p>
          <a:p>
            <a:r>
              <a:rPr lang="en-US" sz="700" dirty="0" smtClean="0"/>
              <a:t>System.</a:t>
            </a:r>
            <a:r>
              <a:rPr lang="en-US" sz="700" b="1" i="1" dirty="0" smtClean="0"/>
              <a:t>out.println(fname);</a:t>
            </a:r>
          </a:p>
          <a:p>
            <a:r>
              <a:rPr lang="en-US" sz="700" dirty="0" smtClean="0"/>
              <a:t>System.</a:t>
            </a:r>
            <a:r>
              <a:rPr lang="en-US" sz="700" b="1" i="1" dirty="0" smtClean="0"/>
              <a:t>out.println(email);</a:t>
            </a:r>
          </a:p>
          <a:p>
            <a:r>
              <a:rPr lang="en-US" sz="700" dirty="0" smtClean="0"/>
              <a:t>System.</a:t>
            </a:r>
            <a:r>
              <a:rPr lang="en-US" sz="700" b="1" i="1" dirty="0" smtClean="0"/>
              <a:t>out.println(phone);</a:t>
            </a:r>
          </a:p>
          <a:p>
            <a:r>
              <a:rPr lang="en-US" sz="700" dirty="0" smtClean="0"/>
              <a:t>System.</a:t>
            </a:r>
            <a:r>
              <a:rPr lang="en-US" sz="700" b="1" i="1" dirty="0" smtClean="0"/>
              <a:t>out.println(gender);</a:t>
            </a:r>
          </a:p>
          <a:p>
            <a:r>
              <a:rPr lang="en-US" sz="700" dirty="0" smtClean="0"/>
              <a:t>System.</a:t>
            </a:r>
            <a:r>
              <a:rPr lang="en-US" sz="700" b="1" i="1" dirty="0" smtClean="0"/>
              <a:t>out.println(timings);</a:t>
            </a:r>
          </a:p>
          <a:p>
            <a:r>
              <a:rPr lang="en-US" sz="700" dirty="0" smtClean="0"/>
              <a:t>System.</a:t>
            </a:r>
            <a:r>
              <a:rPr lang="en-US" sz="700" b="1" i="1" dirty="0" smtClean="0"/>
              <a:t>out.println(remarks);</a:t>
            </a:r>
          </a:p>
          <a:p>
            <a:r>
              <a:rPr lang="en-US" sz="700" b="1" dirty="0" smtClean="0"/>
              <a:t>for (String cou : mycourses) {</a:t>
            </a:r>
          </a:p>
          <a:p>
            <a:r>
              <a:rPr lang="en-US" sz="700" dirty="0" smtClean="0"/>
              <a:t>System.</a:t>
            </a:r>
            <a:r>
              <a:rPr lang="en-US" sz="700" b="1" i="1" dirty="0" smtClean="0"/>
              <a:t>out.println(cou);</a:t>
            </a:r>
          </a:p>
          <a:p>
            <a:r>
              <a:rPr lang="en-US" sz="700" dirty="0" smtClean="0"/>
              <a:t>}</a:t>
            </a:r>
          </a:p>
          <a:p>
            <a:endParaRPr lang="en-US" sz="700" dirty="0" smtClean="0"/>
          </a:p>
          <a:p>
            <a:r>
              <a:rPr lang="en-US" sz="700" dirty="0" smtClean="0"/>
              <a:t>// 3.Send Response</a:t>
            </a:r>
          </a:p>
          <a:p>
            <a:r>
              <a:rPr lang="en-US" sz="700" dirty="0" smtClean="0"/>
              <a:t>response.setContentType("text/html");</a:t>
            </a:r>
          </a:p>
          <a:p>
            <a:r>
              <a:rPr lang="en-US" sz="700" dirty="0" smtClean="0"/>
              <a:t>PrintWriter out = response.getWriter();</a:t>
            </a:r>
          </a:p>
          <a:p>
            <a:r>
              <a:rPr lang="en-US" sz="700" dirty="0" smtClean="0"/>
              <a:t>out.print("&lt;h3&gt; Your registraion is completed successfully&lt;h3&gt;");</a:t>
            </a:r>
          </a:p>
          <a:p>
            <a:r>
              <a:rPr lang="en-US" sz="700" dirty="0" smtClean="0"/>
              <a:t>out.print("&lt;h3&gt; with the following info&lt;h3&gt;");</a:t>
            </a:r>
          </a:p>
          <a:p>
            <a:r>
              <a:rPr lang="en-US" sz="700" dirty="0" smtClean="0"/>
              <a:t>out.print("&lt;table&gt;");</a:t>
            </a:r>
          </a:p>
          <a:p>
            <a:r>
              <a:rPr lang="en-US" sz="700" dirty="0" smtClean="0"/>
              <a:t>out.print("&lt;tr&gt;");</a:t>
            </a:r>
          </a:p>
          <a:p>
            <a:r>
              <a:rPr lang="en-US" sz="700" dirty="0" smtClean="0"/>
              <a:t>out.print("&lt;td&gt; Full Name &lt;/td&gt;");</a:t>
            </a:r>
          </a:p>
          <a:p>
            <a:r>
              <a:rPr lang="en-US" sz="700" dirty="0" smtClean="0"/>
              <a:t>out.print("&lt;td&gt; " + fname + " &lt;/td&gt;");</a:t>
            </a:r>
          </a:p>
          <a:p>
            <a:r>
              <a:rPr lang="en-US" sz="700" dirty="0" smtClean="0"/>
              <a:t>out.print("&lt;/tr&gt;");</a:t>
            </a:r>
          </a:p>
          <a:p>
            <a:r>
              <a:rPr lang="en-US" sz="700" dirty="0" smtClean="0"/>
              <a:t>out.print("&lt;tr&gt;");</a:t>
            </a:r>
          </a:p>
          <a:p>
            <a:r>
              <a:rPr lang="en-US" sz="700" dirty="0" smtClean="0"/>
              <a:t>out.print("&lt;td&gt; Email &lt;/td&gt;");</a:t>
            </a:r>
          </a:p>
          <a:p>
            <a:r>
              <a:rPr lang="en-US" sz="700" dirty="0" smtClean="0"/>
              <a:t>out.print("&lt;td&gt; " + email + " &lt;/td&gt;");</a:t>
            </a:r>
          </a:p>
          <a:p>
            <a:r>
              <a:rPr lang="en-US" sz="700" dirty="0" smtClean="0"/>
              <a:t>out.print("&lt;/tr&gt;");</a:t>
            </a:r>
          </a:p>
          <a:p>
            <a:r>
              <a:rPr lang="en-US" sz="700" dirty="0" smtClean="0"/>
              <a:t>out.print("&lt;tr&gt;");</a:t>
            </a:r>
          </a:p>
          <a:p>
            <a:r>
              <a:rPr lang="en-US" sz="700" dirty="0" smtClean="0"/>
              <a:t>out.print("&lt;td&gt; Phone&lt;/td&gt;");</a:t>
            </a:r>
          </a:p>
          <a:p>
            <a:r>
              <a:rPr lang="en-US" sz="700" dirty="0" smtClean="0"/>
              <a:t>out.print("&lt;td&gt; " + phone + " &lt;/td&gt;");</a:t>
            </a:r>
          </a:p>
          <a:p>
            <a:r>
              <a:rPr lang="en-US" sz="700" dirty="0" smtClean="0"/>
              <a:t>out.print("&lt;/tr&gt;");</a:t>
            </a:r>
          </a:p>
          <a:p>
            <a:r>
              <a:rPr lang="en-US" sz="700" dirty="0" smtClean="0"/>
              <a:t>out.print("&lt;tr&gt;");</a:t>
            </a:r>
          </a:p>
          <a:p>
            <a:r>
              <a:rPr lang="en-US" sz="700" dirty="0" smtClean="0"/>
              <a:t>out.print("&lt;td&gt; Gender &lt;/td&gt;");</a:t>
            </a:r>
          </a:p>
          <a:p>
            <a:r>
              <a:rPr lang="en-US" sz="700" dirty="0" smtClean="0"/>
              <a:t>out.print("&lt;td&gt; " + gender + " &lt;/td&gt;");</a:t>
            </a:r>
          </a:p>
          <a:p>
            <a:r>
              <a:rPr lang="en-US" sz="700" dirty="0" smtClean="0"/>
              <a:t>out.print("&lt;/tr&gt;");</a:t>
            </a:r>
          </a:p>
          <a:p>
            <a:r>
              <a:rPr lang="en-US" sz="700" dirty="0" smtClean="0"/>
              <a:t>out.print("&lt;tr&gt;");</a:t>
            </a:r>
          </a:p>
          <a:p>
            <a:r>
              <a:rPr lang="en-US" sz="700" dirty="0" smtClean="0"/>
              <a:t>out.print("&lt;td&gt; Timings &lt;/td&gt;");</a:t>
            </a:r>
          </a:p>
          <a:p>
            <a:r>
              <a:rPr lang="en-US" sz="700" dirty="0" smtClean="0"/>
              <a:t>out.print("&lt;td&gt; " + timings + " &lt;/td&gt;");</a:t>
            </a:r>
          </a:p>
          <a:p>
            <a:r>
              <a:rPr lang="en-US" sz="700" dirty="0" smtClean="0"/>
              <a:t>out.print("&lt;/tr&gt;");</a:t>
            </a:r>
          </a:p>
          <a:p>
            <a:r>
              <a:rPr lang="en-US" sz="700" dirty="0" smtClean="0"/>
              <a:t>out.print("&lt;tr&gt;");</a:t>
            </a:r>
          </a:p>
          <a:p>
            <a:r>
              <a:rPr lang="en-US" sz="700" dirty="0" smtClean="0"/>
              <a:t>out.print("&lt;td&gt; Remarks &lt;/td&gt;");</a:t>
            </a:r>
          </a:p>
          <a:p>
            <a:r>
              <a:rPr lang="en-US" sz="700" dirty="0" smtClean="0"/>
              <a:t>out.print("&lt;td&gt; " + remarks + " &lt;/td&gt;");</a:t>
            </a:r>
          </a:p>
          <a:p>
            <a:r>
              <a:rPr lang="en-US" sz="700" dirty="0" smtClean="0"/>
              <a:t>out.print("&lt;/tr&gt;");</a:t>
            </a:r>
          </a:p>
          <a:p>
            <a:r>
              <a:rPr lang="en-US" sz="700" dirty="0" smtClean="0"/>
              <a:t>out.print("&lt;tr&gt;");</a:t>
            </a:r>
          </a:p>
          <a:p>
            <a:r>
              <a:rPr lang="en-US" sz="700" dirty="0" smtClean="0"/>
              <a:t>out.print("&lt;td&gt; Courses &lt;/td&gt;");</a:t>
            </a:r>
          </a:p>
          <a:p>
            <a:r>
              <a:rPr lang="en-US" sz="700" dirty="0" smtClean="0"/>
              <a:t>out.print("&lt;td&gt;");</a:t>
            </a:r>
          </a:p>
          <a:p>
            <a:r>
              <a:rPr lang="en-US" sz="700" b="1" dirty="0" smtClean="0"/>
              <a:t>for (String cou : mycourses) {</a:t>
            </a:r>
          </a:p>
          <a:p>
            <a:r>
              <a:rPr lang="en-US" sz="700" dirty="0" smtClean="0"/>
              <a:t>out.print(cou + " &lt;br/&gt; ");</a:t>
            </a:r>
          </a:p>
          <a:p>
            <a:r>
              <a:rPr lang="en-US" sz="700" dirty="0" smtClean="0"/>
              <a:t>}</a:t>
            </a:r>
          </a:p>
          <a:p>
            <a:r>
              <a:rPr lang="en-US" sz="700" dirty="0" smtClean="0"/>
              <a:t>out.print("&lt;/td&gt;");</a:t>
            </a:r>
          </a:p>
          <a:p>
            <a:r>
              <a:rPr lang="en-US" sz="700" dirty="0" smtClean="0"/>
              <a:t>out.print("&lt;/tr&gt;");</a:t>
            </a:r>
          </a:p>
          <a:p>
            <a:r>
              <a:rPr lang="en-US" sz="700" dirty="0" smtClean="0"/>
              <a:t>out.print("&lt;/table&gt;");</a:t>
            </a:r>
          </a:p>
          <a:p>
            <a:r>
              <a:rPr lang="en-US" sz="700" dirty="0" smtClean="0"/>
              <a:t>}</a:t>
            </a:r>
          </a:p>
          <a:p>
            <a:r>
              <a:rPr lang="en-US" sz="700" dirty="0" smtClean="0"/>
              <a:t>}</a:t>
            </a:r>
            <a:endParaRPr lang="en-US" sz="700" dirty="0"/>
          </a:p>
        </p:txBody>
      </p:sp>
      <p:sp>
        <p:nvSpPr>
          <p:cNvPr id="3" name="TextBox 2"/>
          <p:cNvSpPr txBox="1"/>
          <p:nvPr/>
        </p:nvSpPr>
        <p:spPr>
          <a:xfrm>
            <a:off x="4724400" y="1828800"/>
            <a:ext cx="441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</a:rPr>
              <a:t>RegisterServlet.java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7620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&lt;?xml version=</a:t>
            </a:r>
            <a:r>
              <a:rPr lang="en-US" i="1" dirty="0" smtClean="0"/>
              <a:t>"1.0" encoding="UTF-8"?&gt;</a:t>
            </a:r>
          </a:p>
          <a:p>
            <a:r>
              <a:rPr lang="en-US" dirty="0" smtClean="0"/>
              <a:t>&lt;web-app xmlns:xsi=</a:t>
            </a:r>
            <a:r>
              <a:rPr lang="en-US" i="1" dirty="0" smtClean="0"/>
              <a:t>"http://www.w3.org/2001/XMLSchema-instance"</a:t>
            </a:r>
          </a:p>
          <a:p>
            <a:r>
              <a:rPr lang="en-US" dirty="0" smtClean="0"/>
              <a:t>xmlns=</a:t>
            </a:r>
            <a:r>
              <a:rPr lang="en-US" i="1" dirty="0" smtClean="0"/>
              <a:t>"http://xmlns.jcp.org/xml/ns/javaee"</a:t>
            </a:r>
          </a:p>
          <a:p>
            <a:r>
              <a:rPr lang="en-US" dirty="0" smtClean="0"/>
              <a:t>xsi:schemaLocation=</a:t>
            </a:r>
            <a:r>
              <a:rPr lang="en-US" i="1" dirty="0" smtClean="0"/>
              <a:t>"http://xmlns.jcp.org/xml/ns/javaee http://xmlns.jcp.org/xml/ns/javaee/web-app_3_1.xsd"</a:t>
            </a:r>
          </a:p>
          <a:p>
            <a:r>
              <a:rPr lang="en-US" dirty="0" smtClean="0"/>
              <a:t>id=</a:t>
            </a:r>
            <a:r>
              <a:rPr lang="en-US" i="1" dirty="0" smtClean="0"/>
              <a:t>"WebApp_ID" version="3.1"&gt;</a:t>
            </a:r>
          </a:p>
          <a:p>
            <a:r>
              <a:rPr lang="en-US" dirty="0" smtClean="0"/>
              <a:t>&lt;display-name&gt;mylab5&lt;/display-name&gt;</a:t>
            </a:r>
          </a:p>
          <a:p>
            <a:r>
              <a:rPr lang="en-US" dirty="0" smtClean="0"/>
              <a:t>&lt;welcome-file-list&gt;</a:t>
            </a:r>
          </a:p>
          <a:p>
            <a:r>
              <a:rPr lang="en-US" dirty="0" smtClean="0"/>
              <a:t>&lt;welcome-file&gt;register.html&lt;/welcome-file&gt;</a:t>
            </a:r>
          </a:p>
          <a:p>
            <a:r>
              <a:rPr lang="en-US" dirty="0" smtClean="0"/>
              <a:t>&lt;/welcome-file-list&gt;</a:t>
            </a:r>
          </a:p>
          <a:p>
            <a:r>
              <a:rPr lang="en-US" dirty="0" smtClean="0"/>
              <a:t>&lt;servlet&gt;</a:t>
            </a:r>
          </a:p>
          <a:p>
            <a:r>
              <a:rPr lang="en-US" dirty="0" smtClean="0"/>
              <a:t>&lt;servlet-name&gt;register&lt;/servlet-name&gt;</a:t>
            </a:r>
          </a:p>
          <a:p>
            <a:r>
              <a:rPr lang="en-US" dirty="0" smtClean="0"/>
              <a:t>&lt;servlet-class&gt;com.vrsec.servlets.RegisterServlet&lt;/servlet-class&gt;</a:t>
            </a:r>
          </a:p>
          <a:p>
            <a:r>
              <a:rPr lang="en-US" dirty="0" smtClean="0"/>
              <a:t>&lt;/servlet&gt;</a:t>
            </a:r>
          </a:p>
          <a:p>
            <a:r>
              <a:rPr lang="en-US" dirty="0" smtClean="0"/>
              <a:t>&lt;servlet-mapping&gt;</a:t>
            </a:r>
          </a:p>
          <a:p>
            <a:r>
              <a:rPr lang="en-US" dirty="0" smtClean="0"/>
              <a:t>&lt;servlet-name&gt;register&lt;/servlet-name&gt;</a:t>
            </a:r>
          </a:p>
          <a:p>
            <a:r>
              <a:rPr lang="en-US" dirty="0" smtClean="0"/>
              <a:t>&lt;url-pattern&gt;/</a:t>
            </a:r>
            <a:r>
              <a:rPr lang="en-US" u="sng" dirty="0" smtClean="0"/>
              <a:t>myregister&lt;/url-pattern&gt;</a:t>
            </a:r>
          </a:p>
          <a:p>
            <a:r>
              <a:rPr lang="en-US" dirty="0" smtClean="0"/>
              <a:t>&lt;/servlet-mapping&gt;</a:t>
            </a:r>
          </a:p>
          <a:p>
            <a:endParaRPr lang="en-US" dirty="0" smtClean="0"/>
          </a:p>
          <a:p>
            <a:r>
              <a:rPr lang="en-US" dirty="0" smtClean="0"/>
              <a:t>&lt;/web-app&gt;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638800" y="2133600"/>
            <a:ext cx="320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</a:rPr>
              <a:t>web.xml</a:t>
            </a:r>
            <a:endParaRPr lang="en-US" sz="4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685800"/>
            <a:ext cx="7467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 smtClean="0"/>
              <a:t>In , mylab6 , we used annotations , instead of web.xml</a:t>
            </a:r>
            <a:endParaRPr lang="en-US" sz="4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55394"/>
            <a:ext cx="8001000" cy="6878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dirty="0" smtClean="0"/>
              <a:t>&lt;!DOCTYPE html&gt;</a:t>
            </a:r>
          </a:p>
          <a:p>
            <a:r>
              <a:rPr lang="en-US" sz="700" dirty="0" smtClean="0"/>
              <a:t>&lt;html&gt;</a:t>
            </a:r>
          </a:p>
          <a:p>
            <a:r>
              <a:rPr lang="en-US" sz="700" dirty="0" smtClean="0"/>
              <a:t>&lt;head&gt;</a:t>
            </a:r>
          </a:p>
          <a:p>
            <a:r>
              <a:rPr lang="en-US" sz="700" dirty="0" smtClean="0"/>
              <a:t>&lt;title&gt;Welcome to Java Web APP&lt;/title&gt;</a:t>
            </a:r>
          </a:p>
          <a:p>
            <a:r>
              <a:rPr lang="en-US" sz="700" dirty="0" smtClean="0"/>
              <a:t>&lt;/head&gt;</a:t>
            </a:r>
          </a:p>
          <a:p>
            <a:r>
              <a:rPr lang="en-US" sz="700" dirty="0" smtClean="0"/>
              <a:t>&lt;body&gt;</a:t>
            </a:r>
          </a:p>
          <a:p>
            <a:r>
              <a:rPr lang="pt-BR" sz="700" dirty="0" smtClean="0"/>
              <a:t>&lt;h2&gt;Welcome to Java </a:t>
            </a:r>
            <a:r>
              <a:rPr lang="pt-BR" sz="700" u="sng" dirty="0" smtClean="0"/>
              <a:t>Sevlets&lt;/h2&gt;</a:t>
            </a:r>
          </a:p>
          <a:p>
            <a:r>
              <a:rPr lang="en-US" sz="700" dirty="0" smtClean="0"/>
              <a:t>&lt;h3&gt;Registration Form(Lab6)&lt;/h3&gt;</a:t>
            </a:r>
          </a:p>
          <a:p>
            <a:r>
              <a:rPr lang="en-US" sz="700" dirty="0" smtClean="0"/>
              <a:t>&lt;form action=</a:t>
            </a:r>
            <a:r>
              <a:rPr lang="en-US" sz="700" i="1" dirty="0" smtClean="0"/>
              <a:t>"myregister" method="post"&gt;</a:t>
            </a:r>
          </a:p>
          <a:p>
            <a:r>
              <a:rPr lang="en-US" sz="700" dirty="0" smtClean="0"/>
              <a:t>&lt;table&gt;</a:t>
            </a:r>
          </a:p>
          <a:p>
            <a:r>
              <a:rPr lang="en-US" sz="700" dirty="0" smtClean="0"/>
              <a:t>&lt;tr&gt;</a:t>
            </a:r>
          </a:p>
          <a:p>
            <a:r>
              <a:rPr lang="en-US" sz="700" dirty="0" smtClean="0"/>
              <a:t>&lt;td&gt;Full Name&lt;/td&gt;</a:t>
            </a:r>
          </a:p>
          <a:p>
            <a:r>
              <a:rPr lang="en-US" sz="700" dirty="0" smtClean="0"/>
              <a:t>&lt;td&gt;&lt;input type=</a:t>
            </a:r>
            <a:r>
              <a:rPr lang="en-US" sz="700" i="1" dirty="0" smtClean="0"/>
              <a:t>"text" name="fname" /&gt;&lt;/td&gt;</a:t>
            </a:r>
          </a:p>
          <a:p>
            <a:r>
              <a:rPr lang="en-US" sz="700" dirty="0" smtClean="0"/>
              <a:t>&lt;/tr&gt;</a:t>
            </a:r>
          </a:p>
          <a:p>
            <a:r>
              <a:rPr lang="en-US" sz="700" dirty="0" smtClean="0"/>
              <a:t>&lt;tr&gt;</a:t>
            </a:r>
          </a:p>
          <a:p>
            <a:r>
              <a:rPr lang="en-US" sz="700" dirty="0" smtClean="0"/>
              <a:t>&lt;td&gt;Email&lt;/td&gt;</a:t>
            </a:r>
          </a:p>
          <a:p>
            <a:r>
              <a:rPr lang="en-US" sz="700" dirty="0" smtClean="0"/>
              <a:t>&lt;td&gt;&lt;input type=</a:t>
            </a:r>
            <a:r>
              <a:rPr lang="en-US" sz="700" i="1" dirty="0" smtClean="0"/>
              <a:t>"text" name="email" /&gt;&lt;/td&gt;</a:t>
            </a:r>
          </a:p>
          <a:p>
            <a:r>
              <a:rPr lang="en-US" sz="700" dirty="0" smtClean="0"/>
              <a:t>&lt;/tr&gt;</a:t>
            </a:r>
          </a:p>
          <a:p>
            <a:r>
              <a:rPr lang="en-US" sz="700" dirty="0" smtClean="0"/>
              <a:t>&lt;tr&gt;</a:t>
            </a:r>
          </a:p>
          <a:p>
            <a:r>
              <a:rPr lang="en-US" sz="700" dirty="0" smtClean="0"/>
              <a:t>&lt;td&gt;Phone&lt;/td&gt;</a:t>
            </a:r>
          </a:p>
          <a:p>
            <a:r>
              <a:rPr lang="en-US" sz="700" dirty="0" smtClean="0"/>
              <a:t>&lt;td&gt;&lt;input type=</a:t>
            </a:r>
            <a:r>
              <a:rPr lang="en-US" sz="700" i="1" dirty="0" smtClean="0"/>
              <a:t>"text" name="phone" /&gt;&lt;/td&gt;</a:t>
            </a:r>
          </a:p>
          <a:p>
            <a:r>
              <a:rPr lang="en-US" sz="700" dirty="0" smtClean="0"/>
              <a:t>&lt;/tr&gt;</a:t>
            </a:r>
          </a:p>
          <a:p>
            <a:r>
              <a:rPr lang="en-US" sz="700" dirty="0" smtClean="0"/>
              <a:t>&lt;tr&gt;</a:t>
            </a:r>
          </a:p>
          <a:p>
            <a:r>
              <a:rPr lang="en-US" sz="700" dirty="0" smtClean="0"/>
              <a:t>&lt;td&gt;Gender&lt;/td&gt;</a:t>
            </a:r>
          </a:p>
          <a:p>
            <a:r>
              <a:rPr lang="en-US" sz="700" dirty="0" smtClean="0"/>
              <a:t>&lt;td&gt;&lt;input type=</a:t>
            </a:r>
            <a:r>
              <a:rPr lang="en-US" sz="700" i="1" dirty="0" smtClean="0"/>
              <a:t>"radio" name="gender" value="Male" /&gt; Male &lt;br /&gt;</a:t>
            </a:r>
          </a:p>
          <a:p>
            <a:r>
              <a:rPr lang="en-US" sz="700" dirty="0" smtClean="0"/>
              <a:t>&lt;input type=</a:t>
            </a:r>
            <a:r>
              <a:rPr lang="en-US" sz="700" i="1" dirty="0" smtClean="0"/>
              <a:t>"radio" name="gender" value="Female" /&gt; Female&lt;/td&gt;</a:t>
            </a:r>
          </a:p>
          <a:p>
            <a:r>
              <a:rPr lang="en-US" sz="700" dirty="0" smtClean="0"/>
              <a:t>&lt;/tr&gt;</a:t>
            </a:r>
          </a:p>
          <a:p>
            <a:r>
              <a:rPr lang="en-US" sz="700" dirty="0" smtClean="0"/>
              <a:t>&lt;tr&gt;</a:t>
            </a:r>
          </a:p>
          <a:p>
            <a:r>
              <a:rPr lang="en-US" sz="700" dirty="0" smtClean="0"/>
              <a:t>&lt;td&gt;Courses&lt;/td&gt;</a:t>
            </a:r>
          </a:p>
          <a:p>
            <a:r>
              <a:rPr lang="en-US" sz="700" dirty="0" smtClean="0"/>
              <a:t>&lt;td&gt;&lt;input type=</a:t>
            </a:r>
            <a:r>
              <a:rPr lang="en-US" sz="700" i="1" dirty="0" smtClean="0"/>
              <a:t>"checkbox" name="mycourses"  value="Java Developer" /&gt; </a:t>
            </a:r>
          </a:p>
          <a:p>
            <a:r>
              <a:rPr lang="en-US" sz="700" dirty="0" smtClean="0"/>
              <a:t>          Java Developer Course &lt;br /&gt; </a:t>
            </a:r>
          </a:p>
          <a:p>
            <a:r>
              <a:rPr lang="en-US" sz="700" dirty="0" smtClean="0"/>
              <a:t>&lt;input type=</a:t>
            </a:r>
            <a:r>
              <a:rPr lang="en-US" sz="700" i="1" dirty="0" smtClean="0"/>
              <a:t>"checkbox" name="mycourses" value="Angular" /&gt;</a:t>
            </a:r>
          </a:p>
          <a:p>
            <a:r>
              <a:rPr lang="en-US" sz="700" dirty="0" smtClean="0"/>
              <a:t>     Angular Course &lt;br /&gt; </a:t>
            </a:r>
          </a:p>
          <a:p>
            <a:r>
              <a:rPr lang="en-US" sz="700" dirty="0" smtClean="0"/>
              <a:t>&lt;input type=</a:t>
            </a:r>
            <a:r>
              <a:rPr lang="en-US" sz="700" i="1" dirty="0" smtClean="0"/>
              <a:t>"checkbox" name="mycourses" value="React" /&gt;</a:t>
            </a:r>
          </a:p>
          <a:p>
            <a:r>
              <a:rPr lang="en-US" sz="700" dirty="0" smtClean="0"/>
              <a:t>       React Course &lt;br /&gt; </a:t>
            </a:r>
          </a:p>
          <a:p>
            <a:r>
              <a:rPr lang="en-US" sz="700" dirty="0" smtClean="0"/>
              <a:t>&lt;input type=</a:t>
            </a:r>
            <a:r>
              <a:rPr lang="en-US" sz="700" i="1" dirty="0" smtClean="0"/>
              <a:t>"checkbox" name="mycourses" value="Spring Boot and MS" /&gt; </a:t>
            </a:r>
          </a:p>
          <a:p>
            <a:r>
              <a:rPr lang="en-US" sz="700" dirty="0" smtClean="0"/>
              <a:t>       Spring Boot and MS Course &lt;br /&gt; </a:t>
            </a:r>
          </a:p>
          <a:p>
            <a:r>
              <a:rPr lang="en-US" sz="700" dirty="0" smtClean="0"/>
              <a:t>&lt;input type=</a:t>
            </a:r>
            <a:r>
              <a:rPr lang="en-US" sz="700" i="1" dirty="0" smtClean="0"/>
              <a:t>"checkbox" name="mycourses" value="DevOps" /&gt;</a:t>
            </a:r>
          </a:p>
          <a:p>
            <a:r>
              <a:rPr lang="en-US" sz="700" dirty="0" smtClean="0"/>
              <a:t>      DevOps Course &lt;br /&gt;</a:t>
            </a:r>
          </a:p>
          <a:p>
            <a:r>
              <a:rPr lang="en-US" sz="700" dirty="0" smtClean="0"/>
              <a:t>&lt;/td&gt;</a:t>
            </a:r>
          </a:p>
          <a:p>
            <a:r>
              <a:rPr lang="en-US" sz="700" dirty="0" smtClean="0"/>
              <a:t>&lt;/tr&gt;</a:t>
            </a:r>
          </a:p>
          <a:p>
            <a:r>
              <a:rPr lang="en-US" sz="700" dirty="0" smtClean="0"/>
              <a:t>&lt;tr&gt;</a:t>
            </a:r>
          </a:p>
          <a:p>
            <a:r>
              <a:rPr lang="en-US" sz="700" dirty="0" smtClean="0"/>
              <a:t>&lt;td&gt;Timings&lt;/td&gt;</a:t>
            </a:r>
          </a:p>
          <a:p>
            <a:r>
              <a:rPr lang="en-US" sz="700" dirty="0" smtClean="0"/>
              <a:t>&lt;td&gt;&lt;select name=</a:t>
            </a:r>
            <a:r>
              <a:rPr lang="en-US" sz="700" i="1" dirty="0" smtClean="0"/>
              <a:t>"timings"&gt;</a:t>
            </a:r>
          </a:p>
          <a:p>
            <a:r>
              <a:rPr lang="en-US" sz="700" dirty="0" smtClean="0"/>
              <a:t>&lt;option value=</a:t>
            </a:r>
            <a:r>
              <a:rPr lang="en-US" sz="700" i="1" dirty="0" smtClean="0"/>
              <a:t>""&gt;--- Select ---&lt;/option&gt;</a:t>
            </a:r>
          </a:p>
          <a:p>
            <a:r>
              <a:rPr lang="en-US" sz="700" dirty="0" smtClean="0"/>
              <a:t>&lt;option value=</a:t>
            </a:r>
            <a:r>
              <a:rPr lang="en-US" sz="700" i="1" dirty="0" smtClean="0"/>
              <a:t>" 4.00P.M to 6.00P.M"&gt;4.00P.M to 6.00P.M&lt;/option&gt;</a:t>
            </a:r>
          </a:p>
          <a:p>
            <a:r>
              <a:rPr lang="en-US" sz="700" dirty="0" smtClean="0"/>
              <a:t>&lt;option value=</a:t>
            </a:r>
            <a:r>
              <a:rPr lang="en-US" sz="700" i="1" dirty="0" smtClean="0"/>
              <a:t>"6.00P.M to 8.00P.M"&gt;6.00P.M to 8.00P.M&lt;/option&gt;</a:t>
            </a:r>
          </a:p>
          <a:p>
            <a:r>
              <a:rPr lang="en-US" sz="700" dirty="0" smtClean="0"/>
              <a:t>&lt;option value=</a:t>
            </a:r>
            <a:r>
              <a:rPr lang="en-US" sz="700" i="1" dirty="0" smtClean="0"/>
              <a:t>"8.00P.M to 10.00P.M"&gt;8.00P.M to 10.00P.M&lt;/option&gt;</a:t>
            </a:r>
          </a:p>
          <a:p>
            <a:r>
              <a:rPr lang="en-US" sz="700" dirty="0" smtClean="0"/>
              <a:t>     &lt;/select&gt;</a:t>
            </a:r>
          </a:p>
          <a:p>
            <a:r>
              <a:rPr lang="en-US" sz="700" dirty="0" smtClean="0"/>
              <a:t> &lt;/td&gt;</a:t>
            </a:r>
          </a:p>
          <a:p>
            <a:r>
              <a:rPr lang="en-US" sz="700" dirty="0" smtClean="0"/>
              <a:t>&lt;/tr&gt;</a:t>
            </a:r>
          </a:p>
          <a:p>
            <a:r>
              <a:rPr lang="en-US" sz="700" dirty="0" smtClean="0"/>
              <a:t>&lt;tr&gt;</a:t>
            </a:r>
          </a:p>
          <a:p>
            <a:r>
              <a:rPr lang="en-US" sz="700" dirty="0" smtClean="0"/>
              <a:t>&lt;td&gt;Remarks&lt;/td&gt;</a:t>
            </a:r>
          </a:p>
          <a:p>
            <a:r>
              <a:rPr lang="en-US" sz="700" dirty="0" smtClean="0"/>
              <a:t>&lt;td&gt;&lt;textarea name=</a:t>
            </a:r>
            <a:r>
              <a:rPr lang="en-US" sz="700" i="1" dirty="0" smtClean="0"/>
              <a:t>"remarks" rows="5" cols="25"&gt; &lt;/textarea&gt;&lt;/td&gt;</a:t>
            </a:r>
          </a:p>
          <a:p>
            <a:r>
              <a:rPr lang="en-US" sz="700" dirty="0" smtClean="0"/>
              <a:t>&lt;/tr&gt;</a:t>
            </a:r>
          </a:p>
          <a:p>
            <a:r>
              <a:rPr lang="en-US" sz="700" dirty="0" smtClean="0"/>
              <a:t>&lt;tr&gt;</a:t>
            </a:r>
          </a:p>
          <a:p>
            <a:r>
              <a:rPr lang="en-US" sz="700" dirty="0" smtClean="0"/>
              <a:t>&lt;td colspan=</a:t>
            </a:r>
            <a:r>
              <a:rPr lang="en-US" sz="700" i="1" dirty="0" smtClean="0"/>
              <a:t>"2" align="center"&gt;&lt;input type="submit"</a:t>
            </a:r>
          </a:p>
          <a:p>
            <a:r>
              <a:rPr lang="en-US" sz="700" dirty="0" smtClean="0"/>
              <a:t>value=</a:t>
            </a:r>
            <a:r>
              <a:rPr lang="en-US" sz="700" i="1" dirty="0" smtClean="0"/>
              <a:t>"Register Now" /&gt;&lt;/td&gt;</a:t>
            </a:r>
          </a:p>
          <a:p>
            <a:r>
              <a:rPr lang="en-US" sz="700" dirty="0" smtClean="0"/>
              <a:t>&lt;/tr&gt;</a:t>
            </a:r>
          </a:p>
          <a:p>
            <a:r>
              <a:rPr lang="en-US" sz="700" dirty="0" smtClean="0"/>
              <a:t>&lt;/table&gt;</a:t>
            </a:r>
          </a:p>
          <a:p>
            <a:r>
              <a:rPr lang="en-US" sz="700" dirty="0" smtClean="0"/>
              <a:t>&lt;/form&gt;</a:t>
            </a:r>
          </a:p>
          <a:p>
            <a:r>
              <a:rPr lang="en-US" sz="700" dirty="0" smtClean="0"/>
              <a:t>&lt;/body&gt;</a:t>
            </a:r>
          </a:p>
          <a:p>
            <a:r>
              <a:rPr lang="en-US" sz="700" dirty="0" smtClean="0"/>
              <a:t>&lt;/html&gt;</a:t>
            </a:r>
            <a:endParaRPr lang="en-US" sz="700" dirty="0"/>
          </a:p>
        </p:txBody>
      </p:sp>
      <p:sp>
        <p:nvSpPr>
          <p:cNvPr id="3" name="TextBox 2"/>
          <p:cNvSpPr txBox="1"/>
          <p:nvPr/>
        </p:nvSpPr>
        <p:spPr>
          <a:xfrm>
            <a:off x="4191000" y="990600"/>
            <a:ext cx="3886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i="1" dirty="0" smtClean="0">
                <a:solidFill>
                  <a:srgbClr val="FF0000"/>
                </a:solidFill>
              </a:rPr>
              <a:t>register.html</a:t>
            </a:r>
            <a:endParaRPr lang="en-US" sz="4800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7391400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/>
              <a:t>package com.vrsec.servlets;</a:t>
            </a:r>
          </a:p>
          <a:p>
            <a:endParaRPr lang="en-US" sz="600" dirty="0" smtClean="0"/>
          </a:p>
          <a:p>
            <a:r>
              <a:rPr lang="en-US" sz="600" dirty="0" smtClean="0"/>
              <a:t>import java.io.IOException;</a:t>
            </a:r>
          </a:p>
          <a:p>
            <a:r>
              <a:rPr lang="en-US" sz="600" dirty="0" smtClean="0"/>
              <a:t>import java.io.PrintWriter;</a:t>
            </a:r>
          </a:p>
          <a:p>
            <a:r>
              <a:rPr lang="en-US" sz="600" dirty="0" smtClean="0"/>
              <a:t>import javax.servlet.ServletException;</a:t>
            </a:r>
          </a:p>
          <a:p>
            <a:r>
              <a:rPr lang="en-US" sz="600" dirty="0" smtClean="0"/>
              <a:t>import javax.servlet.annotation.WebServlet;</a:t>
            </a:r>
          </a:p>
          <a:p>
            <a:r>
              <a:rPr lang="en-US" sz="600" dirty="0" smtClean="0"/>
              <a:t>import javax.servlet.http.HttpServlet;</a:t>
            </a:r>
          </a:p>
          <a:p>
            <a:r>
              <a:rPr lang="en-US" sz="600" dirty="0" smtClean="0"/>
              <a:t>import javax.servlet.http.HttpServletRequest;</a:t>
            </a:r>
          </a:p>
          <a:p>
            <a:r>
              <a:rPr lang="en-US" sz="600" dirty="0" smtClean="0"/>
              <a:t>import javax.servlet.http.HttpServletResponse;</a:t>
            </a:r>
          </a:p>
          <a:p>
            <a:r>
              <a:rPr lang="en-US" sz="600" dirty="0" smtClean="0"/>
              <a:t>@WebServlet(name="register",urlPatterns = "/myregister")</a:t>
            </a:r>
          </a:p>
          <a:p>
            <a:r>
              <a:rPr lang="en-US" sz="600" dirty="0" smtClean="0"/>
              <a:t>public class RegisterServlet extends HttpServlet {</a:t>
            </a:r>
          </a:p>
          <a:p>
            <a:r>
              <a:rPr lang="en-US" sz="600" dirty="0" smtClean="0"/>
              <a:t>	public void service(HttpServletRequest request, HttpServletResponse response) throws IOException, ServletException {</a:t>
            </a:r>
          </a:p>
          <a:p>
            <a:r>
              <a:rPr lang="en-US" sz="600" dirty="0" smtClean="0"/>
              <a:t>		// 1.Collect Input Data</a:t>
            </a:r>
          </a:p>
          <a:p>
            <a:r>
              <a:rPr lang="en-US" sz="600" dirty="0" smtClean="0"/>
              <a:t>		String fname = request.getParameter("fname");</a:t>
            </a:r>
          </a:p>
          <a:p>
            <a:r>
              <a:rPr lang="en-US" sz="600" dirty="0" smtClean="0"/>
              <a:t>		String email = request.getParameter("email");</a:t>
            </a:r>
          </a:p>
          <a:p>
            <a:r>
              <a:rPr lang="en-US" sz="600" dirty="0" smtClean="0"/>
              <a:t>		String phone = request.getParameter("phone");</a:t>
            </a:r>
          </a:p>
          <a:p>
            <a:r>
              <a:rPr lang="en-US" sz="600" dirty="0" smtClean="0"/>
              <a:t>		String gender = request.getParameter("gender");</a:t>
            </a:r>
          </a:p>
          <a:p>
            <a:endParaRPr lang="en-US" sz="600" dirty="0" smtClean="0"/>
          </a:p>
          <a:p>
            <a:r>
              <a:rPr lang="en-US" sz="600" dirty="0" smtClean="0"/>
              <a:t>		String timings = request.getParameter("timings");</a:t>
            </a:r>
          </a:p>
          <a:p>
            <a:r>
              <a:rPr lang="en-US" sz="600" dirty="0" smtClean="0"/>
              <a:t>		String remarks = request.getParameter("remarks");</a:t>
            </a:r>
          </a:p>
          <a:p>
            <a:r>
              <a:rPr lang="en-US" sz="600" dirty="0" smtClean="0"/>
              <a:t>		String mycourses[] = request.getParameterValues("mycourses");</a:t>
            </a:r>
          </a:p>
          <a:p>
            <a:r>
              <a:rPr lang="en-US" sz="600" dirty="0" smtClean="0"/>
              <a:t>		// 2.Do Processing</a:t>
            </a:r>
          </a:p>
          <a:p>
            <a:r>
              <a:rPr lang="en-US" sz="600" dirty="0" smtClean="0"/>
              <a:t>		System.out.println(fname);</a:t>
            </a:r>
          </a:p>
          <a:p>
            <a:r>
              <a:rPr lang="en-US" sz="600" dirty="0" smtClean="0"/>
              <a:t>		System.out.println(email);</a:t>
            </a:r>
          </a:p>
          <a:p>
            <a:r>
              <a:rPr lang="en-US" sz="600" dirty="0" smtClean="0"/>
              <a:t>		System.out.println(phone);</a:t>
            </a:r>
          </a:p>
          <a:p>
            <a:r>
              <a:rPr lang="en-US" sz="600" dirty="0" smtClean="0"/>
              <a:t>		System.out.println(gender);</a:t>
            </a:r>
          </a:p>
          <a:p>
            <a:r>
              <a:rPr lang="en-US" sz="600" dirty="0" smtClean="0"/>
              <a:t>		System.out.println(timings);</a:t>
            </a:r>
          </a:p>
          <a:p>
            <a:r>
              <a:rPr lang="en-US" sz="600" dirty="0" smtClean="0"/>
              <a:t>		System.out.println(remarks);</a:t>
            </a:r>
          </a:p>
          <a:p>
            <a:r>
              <a:rPr lang="en-US" sz="600" dirty="0" smtClean="0"/>
              <a:t>		for (String cou : mycourses) {</a:t>
            </a:r>
          </a:p>
          <a:p>
            <a:r>
              <a:rPr lang="en-US" sz="600" dirty="0" smtClean="0"/>
              <a:t>			System.out.println(cou);</a:t>
            </a:r>
          </a:p>
          <a:p>
            <a:r>
              <a:rPr lang="en-US" sz="600" dirty="0" smtClean="0"/>
              <a:t>		}</a:t>
            </a:r>
          </a:p>
          <a:p>
            <a:endParaRPr lang="en-US" sz="600" dirty="0" smtClean="0"/>
          </a:p>
          <a:p>
            <a:r>
              <a:rPr lang="en-US" sz="600" dirty="0" smtClean="0"/>
              <a:t>		// 3.Send Response</a:t>
            </a:r>
          </a:p>
          <a:p>
            <a:r>
              <a:rPr lang="en-US" sz="600" dirty="0" smtClean="0"/>
              <a:t>		response.setContentType("text/html");</a:t>
            </a:r>
          </a:p>
          <a:p>
            <a:r>
              <a:rPr lang="en-US" sz="600" dirty="0" smtClean="0"/>
              <a:t>		PrintWriter out = response.getWriter();</a:t>
            </a:r>
          </a:p>
          <a:p>
            <a:r>
              <a:rPr lang="en-US" sz="600" dirty="0" smtClean="0"/>
              <a:t>		out.print("&lt;h3&gt; Your registraion is completed successfully&lt;h3&gt;");</a:t>
            </a:r>
          </a:p>
          <a:p>
            <a:r>
              <a:rPr lang="en-US" sz="600" dirty="0" smtClean="0"/>
              <a:t>		out.print("&lt;h3&gt; with the following info&lt;h3&gt;");</a:t>
            </a:r>
          </a:p>
          <a:p>
            <a:r>
              <a:rPr lang="en-US" sz="600" dirty="0" smtClean="0"/>
              <a:t>		out.print("&lt;table&gt;");</a:t>
            </a:r>
          </a:p>
          <a:p>
            <a:r>
              <a:rPr lang="en-US" sz="600" dirty="0" smtClean="0"/>
              <a:t>		out.print("&lt;tr&gt;");</a:t>
            </a:r>
          </a:p>
          <a:p>
            <a:r>
              <a:rPr lang="en-US" sz="600" dirty="0" smtClean="0"/>
              <a:t>		out.print("&lt;td&gt; Full Name &lt;/td&gt;");</a:t>
            </a:r>
          </a:p>
          <a:p>
            <a:r>
              <a:rPr lang="en-US" sz="600" dirty="0" smtClean="0"/>
              <a:t>		out.print("&lt;td&gt; " + fname + " &lt;/td&gt;");</a:t>
            </a:r>
          </a:p>
          <a:p>
            <a:r>
              <a:rPr lang="en-US" sz="600" dirty="0" smtClean="0"/>
              <a:t>		out.print("&lt;/tr&gt;");</a:t>
            </a:r>
          </a:p>
          <a:p>
            <a:r>
              <a:rPr lang="en-US" sz="600" dirty="0" smtClean="0"/>
              <a:t>		out.print("&lt;tr&gt;");</a:t>
            </a:r>
          </a:p>
          <a:p>
            <a:r>
              <a:rPr lang="en-US" sz="600" dirty="0" smtClean="0"/>
              <a:t>		out.print("&lt;td&gt; Email &lt;/td&gt;");</a:t>
            </a:r>
          </a:p>
          <a:p>
            <a:r>
              <a:rPr lang="en-US" sz="600" dirty="0" smtClean="0"/>
              <a:t>		out.print("&lt;td&gt; " + email + " &lt;/td&gt;");</a:t>
            </a:r>
          </a:p>
          <a:p>
            <a:r>
              <a:rPr lang="en-US" sz="600" dirty="0" smtClean="0"/>
              <a:t>		out.print("&lt;/tr&gt;");</a:t>
            </a:r>
          </a:p>
          <a:p>
            <a:r>
              <a:rPr lang="en-US" sz="600" dirty="0" smtClean="0"/>
              <a:t>		out.print("&lt;tr&gt;");</a:t>
            </a:r>
          </a:p>
          <a:p>
            <a:r>
              <a:rPr lang="en-US" sz="600" dirty="0" smtClean="0"/>
              <a:t>		out.print("&lt;td&gt; Phone&lt;/td&gt;");</a:t>
            </a:r>
          </a:p>
          <a:p>
            <a:r>
              <a:rPr lang="en-US" sz="600" dirty="0" smtClean="0"/>
              <a:t>		out.print("&lt;td&gt; " + phone + " &lt;/td&gt;");</a:t>
            </a:r>
          </a:p>
          <a:p>
            <a:r>
              <a:rPr lang="en-US" sz="600" dirty="0" smtClean="0"/>
              <a:t>		out.print("&lt;/tr&gt;");</a:t>
            </a:r>
          </a:p>
          <a:p>
            <a:r>
              <a:rPr lang="en-US" sz="600" dirty="0" smtClean="0"/>
              <a:t>		out.print("&lt;tr&gt;");</a:t>
            </a:r>
          </a:p>
          <a:p>
            <a:r>
              <a:rPr lang="en-US" sz="600" dirty="0" smtClean="0"/>
              <a:t>		out.print("&lt;td&gt; Gender &lt;/td&gt;");</a:t>
            </a:r>
          </a:p>
          <a:p>
            <a:r>
              <a:rPr lang="en-US" sz="600" dirty="0" smtClean="0"/>
              <a:t>		out.print("&lt;td&gt; " + gender + " &lt;/td&gt;");</a:t>
            </a:r>
          </a:p>
          <a:p>
            <a:r>
              <a:rPr lang="en-US" sz="600" dirty="0" smtClean="0"/>
              <a:t>		out.print("&lt;/tr&gt;");</a:t>
            </a:r>
          </a:p>
          <a:p>
            <a:r>
              <a:rPr lang="en-US" sz="600" dirty="0" smtClean="0"/>
              <a:t>		out.print("&lt;tr&gt;");</a:t>
            </a:r>
          </a:p>
          <a:p>
            <a:r>
              <a:rPr lang="en-US" sz="600" dirty="0" smtClean="0"/>
              <a:t>		out.print("&lt;td&gt; Timings &lt;/td&gt;");</a:t>
            </a:r>
          </a:p>
          <a:p>
            <a:r>
              <a:rPr lang="en-US" sz="600" dirty="0" smtClean="0"/>
              <a:t>		out.print("&lt;td&gt; " + timings + " &lt;/td&gt;");</a:t>
            </a:r>
          </a:p>
          <a:p>
            <a:r>
              <a:rPr lang="en-US" sz="600" dirty="0" smtClean="0"/>
              <a:t>		out.print("&lt;/tr&gt;");</a:t>
            </a:r>
          </a:p>
          <a:p>
            <a:r>
              <a:rPr lang="en-US" sz="600" dirty="0" smtClean="0"/>
              <a:t>		out.print("&lt;tr&gt;");</a:t>
            </a:r>
          </a:p>
          <a:p>
            <a:r>
              <a:rPr lang="en-US" sz="600" dirty="0" smtClean="0"/>
              <a:t>		out.print("&lt;td&gt; Remarks &lt;/td&gt;");</a:t>
            </a:r>
          </a:p>
          <a:p>
            <a:r>
              <a:rPr lang="en-US" sz="600" dirty="0" smtClean="0"/>
              <a:t>		out.print("&lt;td&gt; " + remarks + " &lt;/td&gt;");</a:t>
            </a:r>
          </a:p>
          <a:p>
            <a:r>
              <a:rPr lang="en-US" sz="600" dirty="0" smtClean="0"/>
              <a:t>		out.print("&lt;/tr&gt;");</a:t>
            </a:r>
          </a:p>
          <a:p>
            <a:r>
              <a:rPr lang="en-US" sz="600" dirty="0" smtClean="0"/>
              <a:t>		out.print("&lt;tr&gt;");</a:t>
            </a:r>
          </a:p>
          <a:p>
            <a:r>
              <a:rPr lang="en-US" sz="600" dirty="0" smtClean="0"/>
              <a:t>		out.print("&lt;td&gt; Courses &lt;/td&gt;");</a:t>
            </a:r>
          </a:p>
          <a:p>
            <a:r>
              <a:rPr lang="en-US" sz="600" dirty="0" smtClean="0"/>
              <a:t>		out.print("&lt;td&gt;");</a:t>
            </a:r>
          </a:p>
          <a:p>
            <a:r>
              <a:rPr lang="en-US" sz="600" dirty="0" smtClean="0"/>
              <a:t>		for (String cou : mycourses) {</a:t>
            </a:r>
          </a:p>
          <a:p>
            <a:r>
              <a:rPr lang="en-US" sz="600" dirty="0" smtClean="0"/>
              <a:t>			out.print(cou + " &lt;br/&gt; ");</a:t>
            </a:r>
          </a:p>
          <a:p>
            <a:r>
              <a:rPr lang="en-US" sz="600" dirty="0" smtClean="0"/>
              <a:t>		}</a:t>
            </a:r>
          </a:p>
          <a:p>
            <a:r>
              <a:rPr lang="en-US" sz="600" dirty="0" smtClean="0"/>
              <a:t>		out.print("&lt;/td&gt;");</a:t>
            </a:r>
          </a:p>
          <a:p>
            <a:r>
              <a:rPr lang="en-US" sz="600" dirty="0" smtClean="0"/>
              <a:t>		out.print("&lt;/tr&gt;");</a:t>
            </a:r>
          </a:p>
          <a:p>
            <a:r>
              <a:rPr lang="en-US" sz="600" dirty="0" smtClean="0"/>
              <a:t>		out.print("&lt;/table&gt;");</a:t>
            </a:r>
          </a:p>
          <a:p>
            <a:r>
              <a:rPr lang="en-US" sz="600" dirty="0" smtClean="0"/>
              <a:t>	}</a:t>
            </a:r>
          </a:p>
          <a:p>
            <a:r>
              <a:rPr lang="en-US" sz="600" dirty="0" smtClean="0"/>
              <a:t>}</a:t>
            </a:r>
            <a:endParaRPr lang="en-US" sz="600" dirty="0"/>
          </a:p>
        </p:txBody>
      </p:sp>
      <p:sp>
        <p:nvSpPr>
          <p:cNvPr id="3" name="TextBox 2"/>
          <p:cNvSpPr txBox="1"/>
          <p:nvPr/>
        </p:nvSpPr>
        <p:spPr>
          <a:xfrm>
            <a:off x="4724400" y="1828800"/>
            <a:ext cx="441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</a:rPr>
              <a:t>RegisterServlet.java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04800"/>
            <a:ext cx="7772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&lt;?xml version=</a:t>
            </a:r>
            <a:r>
              <a:rPr lang="en-US" i="1" dirty="0" smtClean="0"/>
              <a:t>"1.0" encoding="UTF-8"?&gt;</a:t>
            </a:r>
          </a:p>
          <a:p>
            <a:r>
              <a:rPr lang="en-US" dirty="0" smtClean="0"/>
              <a:t>&lt;web-app xmlns:xsi=</a:t>
            </a:r>
            <a:r>
              <a:rPr lang="en-US" i="1" dirty="0" smtClean="0"/>
              <a:t>"http://www.w3.org/2001/XMLSchema-instance"</a:t>
            </a:r>
          </a:p>
          <a:p>
            <a:r>
              <a:rPr lang="en-US" dirty="0" smtClean="0"/>
              <a:t>xmlns=</a:t>
            </a:r>
            <a:r>
              <a:rPr lang="en-US" i="1" dirty="0" smtClean="0"/>
              <a:t>"http://xmlns.jcp.org/xml/ns/javaee"</a:t>
            </a:r>
          </a:p>
          <a:p>
            <a:r>
              <a:rPr lang="en-US" dirty="0" smtClean="0"/>
              <a:t>xsi:schemaLocation=</a:t>
            </a:r>
            <a:r>
              <a:rPr lang="en-US" i="1" dirty="0" smtClean="0"/>
              <a:t>"http://xmlns.jcp.org/xml/ns/javaee http://xmlns.jcp.org/xml/ns/javaee/web-app_3_1.xsd"</a:t>
            </a:r>
          </a:p>
          <a:p>
            <a:r>
              <a:rPr lang="en-US" dirty="0" smtClean="0"/>
              <a:t>id=</a:t>
            </a:r>
            <a:r>
              <a:rPr lang="en-US" i="1" dirty="0" smtClean="0"/>
              <a:t>"WebApp_ID" version="3.1"&gt;</a:t>
            </a:r>
          </a:p>
          <a:p>
            <a:r>
              <a:rPr lang="en-US" dirty="0" smtClean="0"/>
              <a:t>&lt;display-name&gt;mylab5&lt;/display-name&gt;</a:t>
            </a:r>
          </a:p>
          <a:p>
            <a:endParaRPr lang="en-US" dirty="0" smtClean="0"/>
          </a:p>
          <a:p>
            <a:r>
              <a:rPr lang="en-US" dirty="0" smtClean="0"/>
              <a:t>&lt;welcome-file-list&gt;</a:t>
            </a:r>
          </a:p>
          <a:p>
            <a:r>
              <a:rPr lang="en-US" dirty="0" smtClean="0"/>
              <a:t>&lt;welcome-file&gt;register.html&lt;/welcome-file&gt;</a:t>
            </a:r>
          </a:p>
          <a:p>
            <a:r>
              <a:rPr lang="en-US" dirty="0" smtClean="0"/>
              <a:t>&lt;/welcome-file-list&gt;</a:t>
            </a:r>
          </a:p>
          <a:p>
            <a:endParaRPr lang="en-US" dirty="0" smtClean="0"/>
          </a:p>
          <a:p>
            <a:r>
              <a:rPr lang="en-US" dirty="0" smtClean="0"/>
              <a:t>&lt;/web-app&gt;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638800" y="2133600"/>
            <a:ext cx="320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</a:rPr>
              <a:t>web.xml</a:t>
            </a:r>
            <a:endParaRPr lang="en-US" sz="4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2400"/>
            <a:ext cx="91440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0" y="5562600"/>
            <a:ext cx="8915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>
                <a:solidFill>
                  <a:schemeClr val="accent6"/>
                </a:solidFill>
              </a:rPr>
              <a:t>Request parameters are available in </a:t>
            </a:r>
            <a:r>
              <a:rPr lang="en-IN" sz="2800" b="1" dirty="0" smtClean="0">
                <a:solidFill>
                  <a:schemeClr val="accent6"/>
                </a:solidFill>
              </a:rPr>
              <a:t>ServletRequest</a:t>
            </a:r>
            <a:r>
              <a:rPr lang="en-IN" sz="2800" dirty="0" smtClean="0">
                <a:solidFill>
                  <a:schemeClr val="accent6"/>
                </a:solidFill>
              </a:rPr>
              <a:t> object</a:t>
            </a:r>
            <a:r>
              <a:rPr lang="en-IN" sz="2800" dirty="0" smtClean="0"/>
              <a:t>.</a:t>
            </a:r>
          </a:p>
          <a:p>
            <a:r>
              <a:rPr lang="en-IN" sz="2800" dirty="0" smtClean="0">
                <a:solidFill>
                  <a:srgbClr val="7030A0"/>
                </a:solidFill>
              </a:rPr>
              <a:t>Config parameters are available in </a:t>
            </a:r>
            <a:r>
              <a:rPr lang="en-IN" sz="2800" b="1" dirty="0" smtClean="0">
                <a:solidFill>
                  <a:srgbClr val="7030A0"/>
                </a:solidFill>
              </a:rPr>
              <a:t>ServletConfig</a:t>
            </a:r>
            <a:r>
              <a:rPr lang="en-IN" sz="2800" dirty="0" smtClean="0">
                <a:solidFill>
                  <a:srgbClr val="7030A0"/>
                </a:solidFill>
              </a:rPr>
              <a:t> object.</a:t>
            </a:r>
          </a:p>
          <a:p>
            <a:r>
              <a:rPr lang="en-IN" sz="2800" dirty="0" smtClean="0">
                <a:solidFill>
                  <a:srgbClr val="00B0F0"/>
                </a:solidFill>
              </a:rPr>
              <a:t>Context parameters are available in </a:t>
            </a:r>
            <a:r>
              <a:rPr lang="en-IN" sz="2800" b="1" dirty="0" smtClean="0">
                <a:solidFill>
                  <a:srgbClr val="00B0F0"/>
                </a:solidFill>
              </a:rPr>
              <a:t>ServletContext</a:t>
            </a:r>
            <a:r>
              <a:rPr lang="en-IN" sz="2800" dirty="0" smtClean="0">
                <a:solidFill>
                  <a:srgbClr val="00B0F0"/>
                </a:solidFill>
              </a:rPr>
              <a:t> object.</a:t>
            </a:r>
            <a:endParaRPr lang="en-US" sz="28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57200"/>
            <a:ext cx="91440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0" y="990600"/>
            <a:ext cx="6934200" cy="5410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600200" y="1371600"/>
            <a:ext cx="5943600" cy="4648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0" y="6248400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/>
              <a:t>Web Server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0" y="586740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/>
              <a:t>Web Container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4724400" y="1600200"/>
            <a:ext cx="2895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/>
              <a:t>HelloServlet.java</a:t>
            </a:r>
          </a:p>
          <a:p>
            <a:r>
              <a:rPr lang="en-IN" sz="2800" dirty="0" smtClean="0"/>
              <a:t>HaiServlet.java</a:t>
            </a:r>
          </a:p>
          <a:p>
            <a:r>
              <a:rPr lang="en-IN" sz="2800" dirty="0" smtClean="0"/>
              <a:t>hello.html</a:t>
            </a:r>
          </a:p>
          <a:p>
            <a:r>
              <a:rPr lang="en-IN" sz="2800" dirty="0" smtClean="0"/>
              <a:t>hai.html</a:t>
            </a:r>
            <a:endParaRPr lang="en-US" sz="2800" dirty="0"/>
          </a:p>
        </p:txBody>
      </p:sp>
      <p:sp>
        <p:nvSpPr>
          <p:cNvPr id="7" name="Oval 6"/>
          <p:cNvSpPr/>
          <p:nvPr/>
        </p:nvSpPr>
        <p:spPr>
          <a:xfrm>
            <a:off x="4267200" y="1371600"/>
            <a:ext cx="3276600" cy="2286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52400" y="76200"/>
            <a:ext cx="571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u="sng" dirty="0" smtClean="0">
                <a:solidFill>
                  <a:srgbClr val="00B0F0"/>
                </a:solidFill>
              </a:rPr>
              <a:t>ServletContext Parameters</a:t>
            </a:r>
            <a:endParaRPr lang="en-US" sz="3600" b="1" i="1" u="sng" dirty="0">
              <a:solidFill>
                <a:srgbClr val="00B0F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76600" y="1273314"/>
            <a:ext cx="213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/>
              <a:t>myapp</a:t>
            </a:r>
            <a:endParaRPr lang="en-US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04800"/>
            <a:ext cx="8305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smtClean="0"/>
              <a:t>I have a </a:t>
            </a:r>
            <a:r>
              <a:rPr lang="en-IN" sz="3200" b="1" dirty="0" smtClean="0"/>
              <a:t>web server </a:t>
            </a:r>
            <a:r>
              <a:rPr lang="en-IN" sz="3200" dirty="0" smtClean="0"/>
              <a:t>, and </a:t>
            </a:r>
            <a:r>
              <a:rPr lang="en-IN" sz="3200" b="1" dirty="0" smtClean="0"/>
              <a:t>web container </a:t>
            </a:r>
            <a:r>
              <a:rPr lang="en-IN" sz="3200" dirty="0" smtClean="0"/>
              <a:t>is running inside a web server .</a:t>
            </a:r>
          </a:p>
          <a:p>
            <a:endParaRPr lang="en-IN" sz="3200" dirty="0" smtClean="0"/>
          </a:p>
          <a:p>
            <a:r>
              <a:rPr lang="en-IN" sz="3200" dirty="0" smtClean="0"/>
              <a:t>I have a application , and I have 2 Servlets and 2 html files in my application , </a:t>
            </a:r>
            <a:r>
              <a:rPr lang="en-IN" sz="3200" b="1" dirty="0" smtClean="0"/>
              <a:t>HelloServlet.java</a:t>
            </a:r>
          </a:p>
          <a:p>
            <a:r>
              <a:rPr lang="en-IN" sz="3200" b="1" dirty="0" smtClean="0"/>
              <a:t>HaiServlet.java ,hello.html , hai.html</a:t>
            </a:r>
          </a:p>
          <a:p>
            <a:endParaRPr lang="en-IN" sz="3200" b="1" dirty="0" smtClean="0"/>
          </a:p>
          <a:p>
            <a:r>
              <a:rPr lang="en-IN" sz="3200" dirty="0" smtClean="0"/>
              <a:t>So these 2 html files and 2 Servlets are written and deployed in the web container.</a:t>
            </a:r>
            <a:endParaRPr lang="en-US" sz="3200" b="1" dirty="0" smtClean="0"/>
          </a:p>
          <a:p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304800"/>
            <a:ext cx="800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smtClean="0">
                <a:solidFill>
                  <a:srgbClr val="00B0F0"/>
                </a:solidFill>
              </a:rPr>
              <a:t>What Happens when I start my Server ?</a:t>
            </a:r>
            <a:endParaRPr lang="en-US" sz="3600" b="1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1219200"/>
            <a:ext cx="81534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smtClean="0"/>
              <a:t>I just developed my application and deployed in the container , when I am deploying I don’t have any customers now , I don’t have any users now to use , no request is coming to my server , I am just starting my server .</a:t>
            </a:r>
          </a:p>
          <a:p>
            <a:endParaRPr lang="en-IN" sz="3200" dirty="0" smtClean="0"/>
          </a:p>
          <a:p>
            <a:r>
              <a:rPr lang="en-IN" sz="3200" dirty="0" smtClean="0"/>
              <a:t>When ever you are starting a web server , web server will start first and web server will start internally the web container .</a:t>
            </a:r>
          </a:p>
          <a:p>
            <a:r>
              <a:rPr lang="en-IN" sz="3200" dirty="0" smtClean="0"/>
              <a:t>At the time of starting the web container , web container will create “Servlet Context “ object. 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48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>
                <a:solidFill>
                  <a:srgbClr val="00B0F0"/>
                </a:solidFill>
              </a:rPr>
              <a:t>When ServletContext object will be created?</a:t>
            </a:r>
            <a:endParaRPr lang="en-US" sz="3600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3400" y="1752600"/>
            <a:ext cx="8305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smtClean="0"/>
              <a:t>At the time of web container start up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04800"/>
            <a:ext cx="8458200" cy="609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85800" y="609600"/>
            <a:ext cx="7772400" cy="5410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0" y="6248400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/>
              <a:t>Web Server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0" y="586740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/>
              <a:t>Web Container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5486400" y="990600"/>
            <a:ext cx="2895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/>
              <a:t>HelloServlet.java</a:t>
            </a:r>
          </a:p>
          <a:p>
            <a:r>
              <a:rPr lang="en-IN" sz="2800" dirty="0" smtClean="0"/>
              <a:t>HaiServlet.java</a:t>
            </a:r>
          </a:p>
          <a:p>
            <a:r>
              <a:rPr lang="en-IN" sz="2800" dirty="0" smtClean="0"/>
              <a:t>hello.html</a:t>
            </a:r>
          </a:p>
          <a:p>
            <a:r>
              <a:rPr lang="en-IN" sz="2800" dirty="0" smtClean="0"/>
              <a:t>hai.html</a:t>
            </a:r>
            <a:endParaRPr lang="en-US" sz="2800" dirty="0"/>
          </a:p>
        </p:txBody>
      </p:sp>
      <p:sp>
        <p:nvSpPr>
          <p:cNvPr id="7" name="Oval 6"/>
          <p:cNvSpPr/>
          <p:nvPr/>
        </p:nvSpPr>
        <p:spPr>
          <a:xfrm>
            <a:off x="5029200" y="685800"/>
            <a:ext cx="3276600" cy="2286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105400" y="3276600"/>
            <a:ext cx="2362200" cy="1828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486400" y="34290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ServletContext</a:t>
            </a:r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5181600" y="3810000"/>
            <a:ext cx="2209800" cy="1588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733800" y="838200"/>
            <a:ext cx="213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/>
              <a:t>myapp</a:t>
            </a:r>
            <a:endParaRPr lang="en-US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349032"/>
            <a:ext cx="8305800" cy="8032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/>
              <a:t>After creating </a:t>
            </a:r>
            <a:r>
              <a:rPr lang="en-IN" sz="3600" b="1" dirty="0" smtClean="0"/>
              <a:t>ServletContext</a:t>
            </a:r>
            <a:r>
              <a:rPr lang="en-IN" sz="3600" dirty="0" smtClean="0"/>
              <a:t> object , it will be initialized with context parameters.</a:t>
            </a:r>
          </a:p>
          <a:p>
            <a:endParaRPr lang="en-IN" sz="3600" dirty="0" smtClean="0"/>
          </a:p>
          <a:p>
            <a:r>
              <a:rPr lang="en-IN" sz="3600" dirty="0" smtClean="0">
                <a:solidFill>
                  <a:srgbClr val="00B0F0"/>
                </a:solidFill>
              </a:rPr>
              <a:t>What are context parameters?</a:t>
            </a:r>
          </a:p>
          <a:p>
            <a:r>
              <a:rPr lang="en-IN" sz="3600" dirty="0" smtClean="0"/>
              <a:t>context parameters are the parameters which we can specify in the web.xml file.</a:t>
            </a:r>
          </a:p>
          <a:p>
            <a:endParaRPr lang="en-IN" sz="3600" dirty="0" smtClean="0">
              <a:solidFill>
                <a:srgbClr val="00B0F0"/>
              </a:solidFill>
            </a:endParaRPr>
          </a:p>
          <a:p>
            <a:r>
              <a:rPr lang="pt-BR" sz="2800" dirty="0" smtClean="0"/>
              <a:t>&lt;context-param&gt;  </a:t>
            </a:r>
          </a:p>
          <a:p>
            <a:r>
              <a:rPr lang="pt-BR" sz="2800" dirty="0" smtClean="0"/>
              <a:t>    &lt;param-name&gt;state&lt;/param-name&gt;  </a:t>
            </a:r>
          </a:p>
          <a:p>
            <a:r>
              <a:rPr lang="pt-BR" sz="2800" dirty="0" smtClean="0"/>
              <a:t>    &lt;param-value&gt;telangana&lt;/param-value&gt;  </a:t>
            </a:r>
          </a:p>
          <a:p>
            <a:r>
              <a:rPr lang="pt-BR" sz="2800" dirty="0" smtClean="0"/>
              <a:t>  &lt;/context-param&gt; </a:t>
            </a:r>
            <a:r>
              <a:rPr lang="pt-BR" sz="3600" dirty="0" smtClean="0"/>
              <a:t> </a:t>
            </a:r>
          </a:p>
          <a:p>
            <a:endParaRPr lang="en-IN" sz="3600" dirty="0" smtClean="0">
              <a:solidFill>
                <a:srgbClr val="00B0F0"/>
              </a:solidFill>
            </a:endParaRPr>
          </a:p>
          <a:p>
            <a:endParaRPr lang="en-IN" sz="3600" dirty="0" smtClean="0"/>
          </a:p>
          <a:p>
            <a:endParaRPr lang="en-IN" sz="3600" dirty="0" smtClean="0"/>
          </a:p>
          <a:p>
            <a:endParaRPr lang="en-US" sz="3600" dirty="0"/>
          </a:p>
        </p:txBody>
      </p:sp>
      <p:sp>
        <p:nvSpPr>
          <p:cNvPr id="3" name="Rectangle 2"/>
          <p:cNvSpPr/>
          <p:nvPr/>
        </p:nvSpPr>
        <p:spPr>
          <a:xfrm>
            <a:off x="381000" y="4114800"/>
            <a:ext cx="7391400" cy="1981200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04800"/>
            <a:ext cx="84582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smtClean="0"/>
              <a:t>Per one application , there will be only </a:t>
            </a:r>
            <a:r>
              <a:rPr lang="en-IN" sz="3200" b="1" dirty="0" smtClean="0">
                <a:solidFill>
                  <a:srgbClr val="FF0000"/>
                </a:solidFill>
              </a:rPr>
              <a:t>one</a:t>
            </a:r>
            <a:r>
              <a:rPr lang="en-IN" sz="3200" dirty="0" smtClean="0">
                <a:solidFill>
                  <a:srgbClr val="FF0000"/>
                </a:solidFill>
              </a:rPr>
              <a:t> </a:t>
            </a:r>
            <a:r>
              <a:rPr lang="en-IN" sz="3200" b="1" dirty="0" smtClean="0">
                <a:solidFill>
                  <a:srgbClr val="00B0F0"/>
                </a:solidFill>
              </a:rPr>
              <a:t>ServletContext </a:t>
            </a:r>
            <a:r>
              <a:rPr lang="en-IN" sz="3200" dirty="0" smtClean="0"/>
              <a:t>object </a:t>
            </a:r>
          </a:p>
          <a:p>
            <a:endParaRPr lang="en-IN" sz="3200" dirty="0" smtClean="0"/>
          </a:p>
          <a:p>
            <a:r>
              <a:rPr lang="en-IN" sz="3200" dirty="0" smtClean="0"/>
              <a:t>One application can have 100 Servlets , </a:t>
            </a:r>
            <a:r>
              <a:rPr lang="en-IN" sz="3200" b="1" dirty="0" smtClean="0"/>
              <a:t>or</a:t>
            </a:r>
            <a:r>
              <a:rPr lang="en-IN" sz="3200" dirty="0" smtClean="0"/>
              <a:t> 1000 Servlets , but only one ServletContext object  is created per application.</a:t>
            </a:r>
          </a:p>
          <a:p>
            <a:endParaRPr lang="en-IN" sz="3200" dirty="0" smtClean="0"/>
          </a:p>
          <a:p>
            <a:r>
              <a:rPr lang="en-IN" sz="3200" dirty="0" smtClean="0"/>
              <a:t>You can store the common data for the entire application in the </a:t>
            </a:r>
            <a:r>
              <a:rPr lang="en-IN" sz="3200" b="1" dirty="0" smtClean="0"/>
              <a:t>ServletContext </a:t>
            </a:r>
            <a:r>
              <a:rPr lang="en-IN" sz="3200" dirty="0" smtClean="0"/>
              <a:t>object .</a:t>
            </a:r>
          </a:p>
          <a:p>
            <a:endParaRPr lang="en-IN" sz="3200" dirty="0" smtClean="0"/>
          </a:p>
          <a:p>
            <a:r>
              <a:rPr lang="en-IN" sz="3200" dirty="0" smtClean="0"/>
              <a:t>The data which is common to all the users has to be placed inside the </a:t>
            </a:r>
            <a:r>
              <a:rPr lang="en-IN" sz="3200" b="1" dirty="0" smtClean="0"/>
              <a:t>ServletContext</a:t>
            </a:r>
            <a:r>
              <a:rPr lang="en-IN" sz="3200" dirty="0" smtClean="0"/>
              <a:t> object .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304800"/>
            <a:ext cx="8534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smtClean="0"/>
              <a:t>If you have any common data for all users , you write it as a </a:t>
            </a:r>
            <a:r>
              <a:rPr lang="en-IN" sz="3200" b="1" dirty="0" smtClean="0"/>
              <a:t>context-param </a:t>
            </a:r>
            <a:r>
              <a:rPr lang="en-IN" sz="3200" dirty="0" smtClean="0"/>
              <a:t>in </a:t>
            </a:r>
            <a:r>
              <a:rPr lang="en-IN" sz="3200" b="1" dirty="0" smtClean="0"/>
              <a:t>web.xml</a:t>
            </a:r>
            <a:r>
              <a:rPr lang="en-IN" sz="3200" dirty="0" smtClean="0"/>
              <a:t> file , what ever context-param  you write , your web container , will read it from web.xml file and stores that in the </a:t>
            </a:r>
            <a:r>
              <a:rPr lang="en-IN" sz="3200" b="1" dirty="0" smtClean="0"/>
              <a:t>ServletContext</a:t>
            </a:r>
            <a:r>
              <a:rPr lang="en-IN" sz="3200" dirty="0" smtClean="0"/>
              <a:t> object.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04800"/>
            <a:ext cx="8458200" cy="609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85800" y="609600"/>
            <a:ext cx="7772400" cy="5410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0" y="6248400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/>
              <a:t>Web Server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0" y="586740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/>
              <a:t>Web Container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5486400" y="990600"/>
            <a:ext cx="2895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/>
              <a:t>HelloServlet.java</a:t>
            </a:r>
          </a:p>
          <a:p>
            <a:r>
              <a:rPr lang="en-IN" sz="2800" dirty="0" smtClean="0"/>
              <a:t>HaiServlet.java</a:t>
            </a:r>
          </a:p>
          <a:p>
            <a:r>
              <a:rPr lang="en-IN" sz="2800" dirty="0" smtClean="0"/>
              <a:t>hello.html</a:t>
            </a:r>
          </a:p>
          <a:p>
            <a:r>
              <a:rPr lang="en-IN" sz="2800" dirty="0" smtClean="0"/>
              <a:t>hai.html</a:t>
            </a:r>
            <a:endParaRPr lang="en-US" sz="2800" dirty="0"/>
          </a:p>
        </p:txBody>
      </p:sp>
      <p:sp>
        <p:nvSpPr>
          <p:cNvPr id="7" name="Oval 6"/>
          <p:cNvSpPr/>
          <p:nvPr/>
        </p:nvSpPr>
        <p:spPr>
          <a:xfrm>
            <a:off x="5029200" y="685800"/>
            <a:ext cx="3276600" cy="2286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105400" y="3276600"/>
            <a:ext cx="2362200" cy="1828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486400" y="34290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ServletContext</a:t>
            </a:r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5181600" y="3810000"/>
            <a:ext cx="2209800" cy="1588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733800" y="838200"/>
            <a:ext cx="213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/>
              <a:t>myapp</a:t>
            </a:r>
            <a:endParaRPr lang="en-US" sz="4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181600" y="3886200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state     telangana</a:t>
            </a:r>
          </a:p>
          <a:p>
            <a:r>
              <a:rPr lang="en-IN" dirty="0" smtClean="0"/>
              <a:t>city       Hyderabad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 rot="5400000">
            <a:off x="5257800" y="4419600"/>
            <a:ext cx="1219200" cy="1588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228600"/>
            <a:ext cx="792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u="sng" dirty="0" smtClean="0">
                <a:solidFill>
                  <a:srgbClr val="FF0000"/>
                </a:solidFill>
              </a:rPr>
              <a:t>ServletConfig Parameters</a:t>
            </a:r>
            <a:endParaRPr lang="en-US" sz="3600" b="1" i="1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52800" y="304800"/>
            <a:ext cx="5486400" cy="609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733800" y="609600"/>
            <a:ext cx="4724400" cy="5410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0" y="6248400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/>
              <a:t>Web Server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0" y="586740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/>
              <a:t>Web Container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5486400" y="990600"/>
            <a:ext cx="2895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/>
              <a:t>HelloServlet.java</a:t>
            </a:r>
          </a:p>
          <a:p>
            <a:r>
              <a:rPr lang="en-IN" sz="2800" dirty="0" smtClean="0"/>
              <a:t>HaiServlet.java</a:t>
            </a:r>
          </a:p>
          <a:p>
            <a:r>
              <a:rPr lang="en-IN" sz="2800" dirty="0" smtClean="0"/>
              <a:t>hello.html</a:t>
            </a:r>
          </a:p>
          <a:p>
            <a:r>
              <a:rPr lang="en-IN" sz="2800" dirty="0" smtClean="0"/>
              <a:t>hai.html</a:t>
            </a:r>
            <a:endParaRPr lang="en-US" sz="2800" dirty="0"/>
          </a:p>
        </p:txBody>
      </p:sp>
      <p:sp>
        <p:nvSpPr>
          <p:cNvPr id="7" name="Oval 6"/>
          <p:cNvSpPr/>
          <p:nvPr/>
        </p:nvSpPr>
        <p:spPr>
          <a:xfrm>
            <a:off x="5029200" y="685800"/>
            <a:ext cx="3276600" cy="2286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105400" y="3276600"/>
            <a:ext cx="2362200" cy="1828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486400" y="34290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ServletContext</a:t>
            </a:r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5181600" y="3810000"/>
            <a:ext cx="2209800" cy="1588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733800" y="838200"/>
            <a:ext cx="213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/>
              <a:t>myapp</a:t>
            </a:r>
            <a:endParaRPr lang="en-US" sz="4000" b="1" dirty="0"/>
          </a:p>
        </p:txBody>
      </p:sp>
      <p:cxnSp>
        <p:nvCxnSpPr>
          <p:cNvPr id="15" name="Straight Connector 14"/>
          <p:cNvCxnSpPr/>
          <p:nvPr/>
        </p:nvCxnSpPr>
        <p:spPr>
          <a:xfrm rot="5400000">
            <a:off x="5257800" y="4419600"/>
            <a:ext cx="1219200" cy="1588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28600" y="1828800"/>
            <a:ext cx="2286000" cy="1905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81000" y="19812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Enter Name: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57200" y="2362200"/>
            <a:ext cx="17526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33400" y="2438400"/>
            <a:ext cx="175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/>
              <a:t>bjln</a:t>
            </a:r>
            <a:endParaRPr lang="en-US" sz="2800" dirty="0"/>
          </a:p>
        </p:txBody>
      </p:sp>
      <p:sp>
        <p:nvSpPr>
          <p:cNvPr id="19" name="Oval 18"/>
          <p:cNvSpPr/>
          <p:nvPr/>
        </p:nvSpPr>
        <p:spPr>
          <a:xfrm>
            <a:off x="609600" y="3124200"/>
            <a:ext cx="16002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990600" y="31242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Submit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52400" y="1219200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 smtClean="0"/>
              <a:t>hello.html</a:t>
            </a:r>
            <a:endParaRPr lang="en-US" sz="3200" b="1" u="sng" dirty="0"/>
          </a:p>
        </p:txBody>
      </p:sp>
      <p:sp>
        <p:nvSpPr>
          <p:cNvPr id="22" name="TextBox 21"/>
          <p:cNvSpPr txBox="1"/>
          <p:nvPr/>
        </p:nvSpPr>
        <p:spPr>
          <a:xfrm>
            <a:off x="5181600" y="3886200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state     telangana</a:t>
            </a:r>
          </a:p>
          <a:p>
            <a:r>
              <a:rPr lang="en-IN" dirty="0" smtClean="0"/>
              <a:t>city       Hyderabad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04800"/>
            <a:ext cx="8305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/>
              <a:t>When ever you enter the name and click on </a:t>
            </a:r>
            <a:r>
              <a:rPr lang="en-IN" sz="2800" b="1" dirty="0" smtClean="0"/>
              <a:t>submit </a:t>
            </a:r>
            <a:r>
              <a:rPr lang="en-IN" sz="2800" dirty="0" smtClean="0"/>
              <a:t>button , request will go to server , Consider request you are sending to </a:t>
            </a:r>
            <a:r>
              <a:rPr lang="en-IN" sz="2800" b="1" dirty="0" smtClean="0"/>
              <a:t>HelloServlet</a:t>
            </a:r>
            <a:r>
              <a:rPr lang="en-IN" sz="2800" dirty="0" smtClean="0"/>
              <a:t> on clicking on </a:t>
            </a:r>
            <a:r>
              <a:rPr lang="en-IN" sz="2800" b="1" dirty="0" smtClean="0"/>
              <a:t>submit</a:t>
            </a:r>
            <a:r>
              <a:rPr lang="en-IN" sz="2800" dirty="0" smtClean="0"/>
              <a:t> button.(i.e. in form tag ,action attribute, you specified HelloServlet URL-pattern)</a:t>
            </a:r>
          </a:p>
          <a:p>
            <a:endParaRPr lang="en-IN" sz="2800" dirty="0" smtClean="0"/>
          </a:p>
          <a:p>
            <a:r>
              <a:rPr lang="en-IN" sz="2800" dirty="0" smtClean="0"/>
              <a:t>When ever you send a request to HelloServlet , web container has to process the HelloServlet now .</a:t>
            </a:r>
          </a:p>
          <a:p>
            <a:endParaRPr lang="en-IN" sz="2800" dirty="0" smtClean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87630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IN" sz="2800" dirty="0" smtClean="0"/>
              <a:t>  So web container will </a:t>
            </a:r>
            <a:r>
              <a:rPr lang="en-IN" sz="2800" b="1" dirty="0" smtClean="0"/>
              <a:t>load</a:t>
            </a:r>
            <a:r>
              <a:rPr lang="en-IN" sz="2800" dirty="0" smtClean="0"/>
              <a:t> the HelloServlet class into the memory .</a:t>
            </a:r>
          </a:p>
          <a:p>
            <a:endParaRPr lang="en-IN" sz="2800" dirty="0" smtClean="0"/>
          </a:p>
          <a:p>
            <a:pPr>
              <a:buFont typeface="Wingdings" pitchFamily="2" charset="2"/>
              <a:buChar char="§"/>
            </a:pPr>
            <a:r>
              <a:rPr lang="en-IN" sz="2800" dirty="0" smtClean="0"/>
              <a:t> Web container will create HelloServlet </a:t>
            </a:r>
            <a:r>
              <a:rPr lang="en-IN" sz="2800" b="1" dirty="0" smtClean="0"/>
              <a:t>instance</a:t>
            </a:r>
            <a:r>
              <a:rPr lang="en-IN" sz="2800" dirty="0" smtClean="0"/>
              <a:t> .</a:t>
            </a:r>
          </a:p>
          <a:p>
            <a:endParaRPr lang="en-IN" sz="2800" dirty="0" smtClean="0"/>
          </a:p>
          <a:p>
            <a:pPr>
              <a:buFont typeface="Wingdings" pitchFamily="2" charset="2"/>
              <a:buChar char="§"/>
            </a:pPr>
            <a:r>
              <a:rPr lang="en-IN" sz="2800" dirty="0" smtClean="0"/>
              <a:t>  The web container will create one </a:t>
            </a:r>
            <a:r>
              <a:rPr lang="en-IN" sz="2800" b="1" dirty="0" smtClean="0">
                <a:solidFill>
                  <a:srgbClr val="FF0000"/>
                </a:solidFill>
              </a:rPr>
              <a:t>ServletConfig</a:t>
            </a:r>
            <a:r>
              <a:rPr lang="en-IN" sz="2800" dirty="0" smtClean="0"/>
              <a:t> Object .</a:t>
            </a:r>
          </a:p>
          <a:p>
            <a:endParaRPr lang="en-IN" sz="2800" dirty="0" smtClean="0"/>
          </a:p>
          <a:p>
            <a:pPr>
              <a:buFont typeface="Wingdings" pitchFamily="2" charset="2"/>
              <a:buChar char="§"/>
            </a:pPr>
            <a:r>
              <a:rPr lang="en-IN" sz="2800" dirty="0" smtClean="0"/>
              <a:t>  After creating ServletConfig Object  ,Container will initialize the ServletConfig Object , with Config parameters ,which are specified in web.xml file or annotations .</a:t>
            </a:r>
          </a:p>
          <a:p>
            <a:endParaRPr lang="en-IN" sz="2800" dirty="0" smtClean="0"/>
          </a:p>
          <a:p>
            <a:pPr>
              <a:buFont typeface="Wingdings" pitchFamily="2" charset="2"/>
              <a:buChar char="§"/>
            </a:pPr>
            <a:r>
              <a:rPr lang="en-IN" sz="2800" dirty="0" smtClean="0"/>
              <a:t>  After initializing ServletConfig Object , web  container will call the life cycle method </a:t>
            </a:r>
            <a:r>
              <a:rPr lang="en-IN" sz="2800" b="1" dirty="0" smtClean="0"/>
              <a:t>init() </a:t>
            </a:r>
            <a:r>
              <a:rPr lang="en-IN" sz="2800" dirty="0" smtClean="0"/>
              <a:t>by</a:t>
            </a:r>
            <a:r>
              <a:rPr lang="en-IN" sz="2800" b="1" dirty="0" smtClean="0"/>
              <a:t>  </a:t>
            </a:r>
            <a:r>
              <a:rPr lang="en-IN" sz="2800" dirty="0" smtClean="0"/>
              <a:t>passing ServletConfig Object i.e. hs.init(sconfig) (hs is reference to HelloServlet object)</a:t>
            </a:r>
            <a:endParaRPr lang="en-US" sz="2800" b="1" dirty="0" smtClean="0"/>
          </a:p>
          <a:p>
            <a:pPr>
              <a:buFont typeface="Wingdings" pitchFamily="2" charset="2"/>
              <a:buChar char="§"/>
            </a:pPr>
            <a:endParaRPr lang="en-US" sz="2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762000"/>
            <a:ext cx="8991600" cy="370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52800" y="304800"/>
            <a:ext cx="5486400" cy="609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733800" y="609600"/>
            <a:ext cx="4724400" cy="5410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0" y="6248400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/>
              <a:t>Web Server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0" y="586740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/>
              <a:t>Web Container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6172200" y="990600"/>
            <a:ext cx="28956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00" dirty="0" smtClean="0"/>
              <a:t>HelloServlet.java</a:t>
            </a:r>
          </a:p>
          <a:p>
            <a:r>
              <a:rPr lang="en-IN" sz="1900" dirty="0" smtClean="0"/>
              <a:t>HaiServlet.java</a:t>
            </a:r>
          </a:p>
          <a:p>
            <a:r>
              <a:rPr lang="en-IN" sz="1900" dirty="0" smtClean="0"/>
              <a:t>hello.html</a:t>
            </a:r>
          </a:p>
          <a:p>
            <a:r>
              <a:rPr lang="en-IN" sz="1900" dirty="0" smtClean="0"/>
              <a:t>hai.html</a:t>
            </a:r>
            <a:endParaRPr lang="en-US" sz="1900" dirty="0"/>
          </a:p>
        </p:txBody>
      </p:sp>
      <p:sp>
        <p:nvSpPr>
          <p:cNvPr id="7" name="Oval 6"/>
          <p:cNvSpPr/>
          <p:nvPr/>
        </p:nvSpPr>
        <p:spPr>
          <a:xfrm>
            <a:off x="5791200" y="685800"/>
            <a:ext cx="2514600" cy="18288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6096000" y="3886200"/>
            <a:ext cx="2362200" cy="1828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477000" y="39624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ServletContext</a:t>
            </a:r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6172200" y="4494212"/>
            <a:ext cx="2209800" cy="1588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48200" y="609600"/>
            <a:ext cx="213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/>
              <a:t>myapp</a:t>
            </a:r>
            <a:endParaRPr lang="en-US" sz="4000" b="1" dirty="0"/>
          </a:p>
        </p:txBody>
      </p:sp>
      <p:cxnSp>
        <p:nvCxnSpPr>
          <p:cNvPr id="15" name="Straight Connector 14"/>
          <p:cNvCxnSpPr/>
          <p:nvPr/>
        </p:nvCxnSpPr>
        <p:spPr>
          <a:xfrm rot="5400000">
            <a:off x="6249194" y="5104606"/>
            <a:ext cx="1219200" cy="1588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28600" y="1828800"/>
            <a:ext cx="2286000" cy="1905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81000" y="19812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Enter Name: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57200" y="2362200"/>
            <a:ext cx="17526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33400" y="2438400"/>
            <a:ext cx="175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/>
              <a:t>bjln</a:t>
            </a:r>
            <a:endParaRPr lang="en-US" sz="2800" dirty="0"/>
          </a:p>
        </p:txBody>
      </p:sp>
      <p:sp>
        <p:nvSpPr>
          <p:cNvPr id="19" name="Oval 18"/>
          <p:cNvSpPr/>
          <p:nvPr/>
        </p:nvSpPr>
        <p:spPr>
          <a:xfrm>
            <a:off x="609600" y="3124200"/>
            <a:ext cx="16002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990600" y="31242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Submit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52400" y="1219200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 smtClean="0"/>
              <a:t>hello.html</a:t>
            </a:r>
            <a:endParaRPr lang="en-US" sz="3200" b="1" u="sng" dirty="0"/>
          </a:p>
        </p:txBody>
      </p:sp>
      <p:sp>
        <p:nvSpPr>
          <p:cNvPr id="22" name="Oval 21"/>
          <p:cNvSpPr/>
          <p:nvPr/>
        </p:nvSpPr>
        <p:spPr>
          <a:xfrm>
            <a:off x="3733800" y="1905000"/>
            <a:ext cx="2590800" cy="2133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4191000" y="205740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solidFill>
                  <a:srgbClr val="FF0000"/>
                </a:solidFill>
              </a:rPr>
              <a:t>ServletConfig</a:t>
            </a:r>
            <a:endParaRPr lang="en-US" sz="2400" b="1" dirty="0">
              <a:solidFill>
                <a:srgbClr val="FF0000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3810000" y="2514600"/>
            <a:ext cx="2362200" cy="1588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962400" y="4114800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solidFill>
                  <a:schemeClr val="accent1"/>
                </a:solidFill>
              </a:rPr>
              <a:t>hs.init(Sconfig);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48400" y="4724400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state     telangana</a:t>
            </a:r>
          </a:p>
          <a:p>
            <a:r>
              <a:rPr lang="en-IN" dirty="0" smtClean="0"/>
              <a:t>city       Hyderabad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381000"/>
            <a:ext cx="84582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smtClean="0"/>
              <a:t>After calling init() , web container has to call service() method , in order to call service() method , it needs two parameters , HttpServletRequest and HttpServletResponse .</a:t>
            </a:r>
          </a:p>
          <a:p>
            <a:endParaRPr lang="en-IN" sz="3200" dirty="0" smtClean="0"/>
          </a:p>
          <a:p>
            <a:r>
              <a:rPr lang="en-IN" sz="3200" dirty="0" smtClean="0"/>
              <a:t>So container will create one request object and one response object .</a:t>
            </a:r>
          </a:p>
          <a:p>
            <a:endParaRPr lang="en-IN" sz="3200" dirty="0" smtClean="0"/>
          </a:p>
          <a:p>
            <a:r>
              <a:rPr lang="en-IN" sz="3200" dirty="0" smtClean="0"/>
              <a:t>Client submitted data , will be stored in request object , as request parameter . </a:t>
            </a:r>
            <a:endParaRPr lang="en-US" sz="3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52800" y="304800"/>
            <a:ext cx="5486400" cy="609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733800" y="609600"/>
            <a:ext cx="4724400" cy="5410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0" y="6248400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/>
              <a:t>Web Server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0" y="586740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/>
              <a:t>Web Container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6629400" y="838200"/>
            <a:ext cx="1828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/>
              <a:t>HelloServlet.java</a:t>
            </a:r>
          </a:p>
          <a:p>
            <a:r>
              <a:rPr lang="en-IN" sz="1400" dirty="0" smtClean="0"/>
              <a:t>HaiServlet.java</a:t>
            </a:r>
          </a:p>
          <a:p>
            <a:r>
              <a:rPr lang="en-IN" sz="1400" dirty="0" smtClean="0"/>
              <a:t>hello.html</a:t>
            </a:r>
          </a:p>
          <a:p>
            <a:r>
              <a:rPr lang="en-IN" sz="1400" dirty="0" smtClean="0"/>
              <a:t>hai.html</a:t>
            </a:r>
            <a:endParaRPr lang="en-US" sz="1400" dirty="0"/>
          </a:p>
        </p:txBody>
      </p:sp>
      <p:sp>
        <p:nvSpPr>
          <p:cNvPr id="7" name="Oval 6"/>
          <p:cNvSpPr/>
          <p:nvPr/>
        </p:nvSpPr>
        <p:spPr>
          <a:xfrm>
            <a:off x="6400800" y="685800"/>
            <a:ext cx="1981200" cy="1143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6553200" y="4114800"/>
            <a:ext cx="1828800" cy="1600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858000" y="4203412"/>
            <a:ext cx="2133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b="1" dirty="0" smtClean="0"/>
              <a:t>ServletContext</a:t>
            </a:r>
            <a:endParaRPr lang="en-US" sz="1300" b="1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6705600" y="4495800"/>
            <a:ext cx="1524000" cy="1588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562600" y="609600"/>
            <a:ext cx="114300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b="1" dirty="0" smtClean="0"/>
              <a:t>myapp</a:t>
            </a:r>
            <a:endParaRPr lang="en-US" sz="2300" b="1" dirty="0"/>
          </a:p>
        </p:txBody>
      </p:sp>
      <p:cxnSp>
        <p:nvCxnSpPr>
          <p:cNvPr id="15" name="Straight Connector 14"/>
          <p:cNvCxnSpPr/>
          <p:nvPr/>
        </p:nvCxnSpPr>
        <p:spPr>
          <a:xfrm rot="5400000">
            <a:off x="6704805" y="5104606"/>
            <a:ext cx="1219200" cy="1588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28600" y="1828800"/>
            <a:ext cx="2286000" cy="1905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81000" y="19812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Enter Name: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57200" y="2362200"/>
            <a:ext cx="17526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33400" y="2438400"/>
            <a:ext cx="175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/>
              <a:t>bjln</a:t>
            </a:r>
            <a:endParaRPr lang="en-US" sz="2800" dirty="0"/>
          </a:p>
        </p:txBody>
      </p:sp>
      <p:sp>
        <p:nvSpPr>
          <p:cNvPr id="19" name="Oval 18"/>
          <p:cNvSpPr/>
          <p:nvPr/>
        </p:nvSpPr>
        <p:spPr>
          <a:xfrm>
            <a:off x="609600" y="3124200"/>
            <a:ext cx="16002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990600" y="31242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Submit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52400" y="1219200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 smtClean="0"/>
              <a:t>hello.html</a:t>
            </a:r>
            <a:endParaRPr lang="en-US" sz="3200" b="1" u="sng" dirty="0"/>
          </a:p>
        </p:txBody>
      </p:sp>
      <p:sp>
        <p:nvSpPr>
          <p:cNvPr id="22" name="Oval 21"/>
          <p:cNvSpPr/>
          <p:nvPr/>
        </p:nvSpPr>
        <p:spPr>
          <a:xfrm>
            <a:off x="3733800" y="990600"/>
            <a:ext cx="1752600" cy="1295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3962400" y="11430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ServletConfig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3733800" y="1600200"/>
            <a:ext cx="1752600" cy="1588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810000" y="2286000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solidFill>
                  <a:schemeClr val="accent1"/>
                </a:solidFill>
              </a:rPr>
              <a:t>hs.init(Sconfig);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29400" y="4724400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state     telangana</a:t>
            </a:r>
          </a:p>
          <a:p>
            <a:r>
              <a:rPr lang="en-IN" dirty="0" smtClean="0"/>
              <a:t>city       Hyderabad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3886200" y="2819400"/>
            <a:ext cx="1676400" cy="1447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/>
          <p:cNvSpPr/>
          <p:nvPr/>
        </p:nvSpPr>
        <p:spPr>
          <a:xfrm>
            <a:off x="3886200" y="4495800"/>
            <a:ext cx="1676400" cy="1447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6" name="Straight Connector 35"/>
          <p:cNvCxnSpPr/>
          <p:nvPr/>
        </p:nvCxnSpPr>
        <p:spPr>
          <a:xfrm>
            <a:off x="3886200" y="3276600"/>
            <a:ext cx="1600200" cy="1588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3886200" y="4953000"/>
            <a:ext cx="1600200" cy="1588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343400" y="2743200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smtClean="0"/>
              <a:t>Req</a:t>
            </a:r>
            <a:endParaRPr lang="en-US" sz="3200" dirty="0"/>
          </a:p>
        </p:txBody>
      </p:sp>
      <p:sp>
        <p:nvSpPr>
          <p:cNvPr id="41" name="TextBox 40"/>
          <p:cNvSpPr txBox="1"/>
          <p:nvPr/>
        </p:nvSpPr>
        <p:spPr>
          <a:xfrm>
            <a:off x="4267200" y="44196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/>
              <a:t>Res</a:t>
            </a:r>
            <a:endParaRPr lang="en-US" sz="3600" dirty="0"/>
          </a:p>
        </p:txBody>
      </p:sp>
      <p:sp>
        <p:nvSpPr>
          <p:cNvPr id="43" name="TextBox 42"/>
          <p:cNvSpPr txBox="1"/>
          <p:nvPr/>
        </p:nvSpPr>
        <p:spPr>
          <a:xfrm>
            <a:off x="3962400" y="34290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Name      bjln</a:t>
            </a:r>
            <a:endParaRPr lang="en-US" dirty="0"/>
          </a:p>
        </p:txBody>
      </p:sp>
      <p:cxnSp>
        <p:nvCxnSpPr>
          <p:cNvPr id="44" name="Straight Connector 43"/>
          <p:cNvCxnSpPr>
            <a:endCxn id="34" idx="4"/>
          </p:cNvCxnSpPr>
          <p:nvPr/>
        </p:nvCxnSpPr>
        <p:spPr>
          <a:xfrm rot="5400000">
            <a:off x="4229100" y="3771900"/>
            <a:ext cx="990600" cy="1588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381000"/>
            <a:ext cx="84582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IN" sz="4000" dirty="0" smtClean="0">
                <a:solidFill>
                  <a:schemeClr val="accent6"/>
                </a:solidFill>
              </a:rPr>
              <a:t> parameters  available in </a:t>
            </a:r>
            <a:r>
              <a:rPr lang="en-IN" sz="4000" b="1" dirty="0" smtClean="0">
                <a:solidFill>
                  <a:schemeClr val="accent6"/>
                </a:solidFill>
              </a:rPr>
              <a:t>ServletRequest</a:t>
            </a:r>
            <a:r>
              <a:rPr lang="en-IN" sz="4000" dirty="0" smtClean="0">
                <a:solidFill>
                  <a:schemeClr val="accent6"/>
                </a:solidFill>
              </a:rPr>
              <a:t> object are called Request parameters </a:t>
            </a:r>
          </a:p>
          <a:p>
            <a:endParaRPr lang="en-IN" sz="4000" dirty="0" smtClean="0"/>
          </a:p>
          <a:p>
            <a:pPr>
              <a:buFont typeface="Wingdings" pitchFamily="2" charset="2"/>
              <a:buChar char="§"/>
            </a:pPr>
            <a:r>
              <a:rPr lang="en-IN" sz="4000" dirty="0" smtClean="0">
                <a:solidFill>
                  <a:srgbClr val="7030A0"/>
                </a:solidFill>
              </a:rPr>
              <a:t> parameters  available in </a:t>
            </a:r>
            <a:r>
              <a:rPr lang="en-IN" sz="4000" b="1" dirty="0" smtClean="0">
                <a:solidFill>
                  <a:srgbClr val="7030A0"/>
                </a:solidFill>
              </a:rPr>
              <a:t>ServletConfig</a:t>
            </a:r>
            <a:r>
              <a:rPr lang="en-IN" sz="4000" dirty="0" smtClean="0">
                <a:solidFill>
                  <a:srgbClr val="7030A0"/>
                </a:solidFill>
              </a:rPr>
              <a:t> object are called Config parameters </a:t>
            </a:r>
          </a:p>
          <a:p>
            <a:endParaRPr lang="en-IN" sz="4000" dirty="0" smtClean="0">
              <a:solidFill>
                <a:srgbClr val="7030A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IN" sz="4000" dirty="0" smtClean="0">
                <a:solidFill>
                  <a:srgbClr val="00B0F0"/>
                </a:solidFill>
              </a:rPr>
              <a:t>parameters available in </a:t>
            </a:r>
            <a:r>
              <a:rPr lang="en-IN" sz="4000" b="1" dirty="0" smtClean="0">
                <a:solidFill>
                  <a:srgbClr val="00B0F0"/>
                </a:solidFill>
              </a:rPr>
              <a:t>ServletContext</a:t>
            </a:r>
            <a:r>
              <a:rPr lang="en-IN" sz="4000" dirty="0" smtClean="0">
                <a:solidFill>
                  <a:srgbClr val="00B0F0"/>
                </a:solidFill>
              </a:rPr>
              <a:t> object </a:t>
            </a:r>
            <a:r>
              <a:rPr lang="en-IN" sz="4000" dirty="0" smtClean="0">
                <a:solidFill>
                  <a:srgbClr val="7030A0"/>
                </a:solidFill>
              </a:rPr>
              <a:t>are called </a:t>
            </a:r>
            <a:r>
              <a:rPr lang="en-IN" sz="4000" dirty="0" smtClean="0">
                <a:solidFill>
                  <a:srgbClr val="00B0F0"/>
                </a:solidFill>
              </a:rPr>
              <a:t>Context parameters </a:t>
            </a:r>
            <a:endParaRPr lang="en-US" sz="4000" dirty="0" smtClean="0">
              <a:solidFill>
                <a:srgbClr val="00B0F0"/>
              </a:solidFill>
            </a:endParaRPr>
          </a:p>
          <a:p>
            <a:pPr>
              <a:buFont typeface="Wingdings" pitchFamily="2" charset="2"/>
              <a:buChar char="§"/>
            </a:pP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52800" y="304800"/>
            <a:ext cx="5486400" cy="609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733800" y="609600"/>
            <a:ext cx="4724400" cy="5410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0" y="6248400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/>
              <a:t>Web Server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0" y="586740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/>
              <a:t>Web Container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6629400" y="838200"/>
            <a:ext cx="1828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/>
              <a:t>HelloServlet.java</a:t>
            </a:r>
          </a:p>
          <a:p>
            <a:r>
              <a:rPr lang="en-IN" sz="1400" dirty="0" smtClean="0"/>
              <a:t>HaiServlet.java</a:t>
            </a:r>
          </a:p>
          <a:p>
            <a:r>
              <a:rPr lang="en-IN" sz="1400" dirty="0" smtClean="0"/>
              <a:t>hello.html</a:t>
            </a:r>
          </a:p>
          <a:p>
            <a:r>
              <a:rPr lang="en-IN" sz="1400" dirty="0" smtClean="0"/>
              <a:t>hai.html</a:t>
            </a:r>
            <a:endParaRPr lang="en-US" sz="1400" dirty="0"/>
          </a:p>
        </p:txBody>
      </p:sp>
      <p:sp>
        <p:nvSpPr>
          <p:cNvPr id="7" name="Oval 6"/>
          <p:cNvSpPr/>
          <p:nvPr/>
        </p:nvSpPr>
        <p:spPr>
          <a:xfrm>
            <a:off x="6400800" y="685800"/>
            <a:ext cx="1981200" cy="1143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6553200" y="1981200"/>
            <a:ext cx="1828800" cy="1600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858000" y="2057400"/>
            <a:ext cx="2133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b="1" dirty="0" smtClean="0"/>
              <a:t>ServletContext</a:t>
            </a:r>
            <a:endParaRPr lang="en-US" sz="1300" b="1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6705600" y="2362200"/>
            <a:ext cx="1524000" cy="1588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562600" y="609600"/>
            <a:ext cx="114300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b="1" dirty="0" smtClean="0"/>
              <a:t>myapp</a:t>
            </a:r>
            <a:endParaRPr lang="en-US" sz="2300" b="1" dirty="0"/>
          </a:p>
        </p:txBody>
      </p:sp>
      <p:cxnSp>
        <p:nvCxnSpPr>
          <p:cNvPr id="15" name="Straight Connector 14"/>
          <p:cNvCxnSpPr/>
          <p:nvPr/>
        </p:nvCxnSpPr>
        <p:spPr>
          <a:xfrm rot="5400000">
            <a:off x="6630194" y="2971006"/>
            <a:ext cx="1219200" cy="1588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28600" y="1295400"/>
            <a:ext cx="2286000" cy="1905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81000" y="14478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Enter Name: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57200" y="1828800"/>
            <a:ext cx="17526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33400" y="1905000"/>
            <a:ext cx="175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/>
              <a:t>bjln</a:t>
            </a:r>
            <a:endParaRPr lang="en-US" sz="2800" dirty="0"/>
          </a:p>
        </p:txBody>
      </p:sp>
      <p:sp>
        <p:nvSpPr>
          <p:cNvPr id="19" name="Oval 18"/>
          <p:cNvSpPr/>
          <p:nvPr/>
        </p:nvSpPr>
        <p:spPr>
          <a:xfrm>
            <a:off x="609600" y="2590800"/>
            <a:ext cx="16002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990600" y="25908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Submit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52400" y="685800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 smtClean="0"/>
              <a:t>hello.html</a:t>
            </a:r>
            <a:endParaRPr lang="en-US" sz="3200" b="1" u="sng" dirty="0"/>
          </a:p>
        </p:txBody>
      </p:sp>
      <p:sp>
        <p:nvSpPr>
          <p:cNvPr id="22" name="Oval 21"/>
          <p:cNvSpPr/>
          <p:nvPr/>
        </p:nvSpPr>
        <p:spPr>
          <a:xfrm>
            <a:off x="3810000" y="685800"/>
            <a:ext cx="1524000" cy="1143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4038600" y="3745468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ServletConfig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3810000" y="1143000"/>
            <a:ext cx="1447800" cy="1588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810000" y="1828800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solidFill>
                  <a:schemeClr val="accent1"/>
                </a:solidFill>
              </a:rPr>
              <a:t>hs.init(Sconfig);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53200" y="2514600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state     telangana</a:t>
            </a:r>
          </a:p>
          <a:p>
            <a:r>
              <a:rPr lang="en-IN" dirty="0" smtClean="0"/>
              <a:t>city       Hyderabad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3886200" y="2286000"/>
            <a:ext cx="1676400" cy="1066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/>
          <p:cNvSpPr/>
          <p:nvPr/>
        </p:nvSpPr>
        <p:spPr>
          <a:xfrm>
            <a:off x="3886200" y="4876800"/>
            <a:ext cx="1676400" cy="1066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6" name="Straight Connector 35"/>
          <p:cNvCxnSpPr/>
          <p:nvPr/>
        </p:nvCxnSpPr>
        <p:spPr>
          <a:xfrm>
            <a:off x="3962400" y="2667000"/>
            <a:ext cx="1600200" cy="1588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3962400" y="5256212"/>
            <a:ext cx="1600200" cy="1588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343400" y="2209800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smtClean="0"/>
              <a:t>Req</a:t>
            </a:r>
            <a:endParaRPr lang="en-US" sz="3200" dirty="0"/>
          </a:p>
        </p:txBody>
      </p:sp>
      <p:sp>
        <p:nvSpPr>
          <p:cNvPr id="41" name="TextBox 40"/>
          <p:cNvSpPr txBox="1"/>
          <p:nvPr/>
        </p:nvSpPr>
        <p:spPr>
          <a:xfrm>
            <a:off x="4267200" y="47244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/>
              <a:t>Req</a:t>
            </a:r>
            <a:endParaRPr lang="en-US" sz="3600" dirty="0"/>
          </a:p>
        </p:txBody>
      </p:sp>
      <p:sp>
        <p:nvSpPr>
          <p:cNvPr id="43" name="TextBox 42"/>
          <p:cNvSpPr txBox="1"/>
          <p:nvPr/>
        </p:nvSpPr>
        <p:spPr>
          <a:xfrm>
            <a:off x="3962400" y="27432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Name      bjln</a:t>
            </a:r>
            <a:endParaRPr lang="en-US" dirty="0"/>
          </a:p>
        </p:txBody>
      </p:sp>
      <p:cxnSp>
        <p:nvCxnSpPr>
          <p:cNvPr id="44" name="Straight Connector 43"/>
          <p:cNvCxnSpPr/>
          <p:nvPr/>
        </p:nvCxnSpPr>
        <p:spPr>
          <a:xfrm rot="5400000">
            <a:off x="4420394" y="2971006"/>
            <a:ext cx="608806" cy="794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52400" y="3276600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 smtClean="0"/>
              <a:t>hai.html</a:t>
            </a:r>
            <a:endParaRPr lang="en-US" sz="3200" b="1" u="sng" dirty="0"/>
          </a:p>
        </p:txBody>
      </p:sp>
      <p:sp>
        <p:nvSpPr>
          <p:cNvPr id="37" name="Rectangle 36"/>
          <p:cNvSpPr/>
          <p:nvPr/>
        </p:nvSpPr>
        <p:spPr>
          <a:xfrm>
            <a:off x="304800" y="3962400"/>
            <a:ext cx="2286000" cy="1905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457200" y="41148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Enter Phone No:</a:t>
            </a:r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533400" y="4495800"/>
            <a:ext cx="175260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Oval 44"/>
          <p:cNvSpPr/>
          <p:nvPr/>
        </p:nvSpPr>
        <p:spPr>
          <a:xfrm>
            <a:off x="533400" y="5257800"/>
            <a:ext cx="16002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685800" y="464820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9999999999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838200" y="52578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Submit</a:t>
            </a:r>
            <a:endParaRPr lang="en-US" b="1" dirty="0"/>
          </a:p>
        </p:txBody>
      </p:sp>
      <p:cxnSp>
        <p:nvCxnSpPr>
          <p:cNvPr id="55" name="Straight Connector 54"/>
          <p:cNvCxnSpPr/>
          <p:nvPr/>
        </p:nvCxnSpPr>
        <p:spPr>
          <a:xfrm>
            <a:off x="3733800" y="3581400"/>
            <a:ext cx="2971800" cy="158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3962400" y="3657600"/>
            <a:ext cx="1524000" cy="1143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3886200" y="6858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rgbClr val="FF0000"/>
                </a:solidFill>
              </a:rPr>
              <a:t>ServletConfig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59" name="Straight Connector 58"/>
          <p:cNvCxnSpPr/>
          <p:nvPr/>
        </p:nvCxnSpPr>
        <p:spPr>
          <a:xfrm>
            <a:off x="3962400" y="4114800"/>
            <a:ext cx="1524000" cy="1588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3962400" y="53340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phone     999999999</a:t>
            </a:r>
            <a:endParaRPr lang="en-US" dirty="0"/>
          </a:p>
        </p:txBody>
      </p:sp>
      <p:cxnSp>
        <p:nvCxnSpPr>
          <p:cNvPr id="62" name="Straight Connector 61"/>
          <p:cNvCxnSpPr/>
          <p:nvPr/>
        </p:nvCxnSpPr>
        <p:spPr>
          <a:xfrm rot="5400000">
            <a:off x="4420394" y="5561806"/>
            <a:ext cx="608806" cy="794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334000" y="4495800"/>
            <a:ext cx="2362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solidFill>
                  <a:schemeClr val="accent1"/>
                </a:solidFill>
              </a:rPr>
              <a:t>hais.init(Sconfig);</a:t>
            </a:r>
            <a:endParaRPr lang="en-US" sz="24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81000"/>
            <a:ext cx="85344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Let's say we have an HTML form, </a:t>
            </a:r>
            <a:r>
              <a:rPr lang="en-US" sz="3200" b="1" dirty="0" smtClean="0"/>
              <a:t>hai.html</a:t>
            </a:r>
            <a:r>
              <a:rPr lang="en-US" sz="3200" dirty="0" smtClean="0"/>
              <a:t>. When the submit button is clicked, a request is sent to the server. Specifically, the request is sent to the </a:t>
            </a:r>
            <a:r>
              <a:rPr lang="en-US" sz="3200" b="1" dirty="0" smtClean="0"/>
              <a:t>HaiServlet</a:t>
            </a:r>
            <a:r>
              <a:rPr lang="en-US" sz="3200" dirty="0" smtClean="0"/>
              <a:t> (assuming that the action attribute in the form tag specifies the URL pattern for </a:t>
            </a:r>
            <a:r>
              <a:rPr lang="en-US" sz="3200" b="1" dirty="0" smtClean="0"/>
              <a:t>HaiServlet</a:t>
            </a:r>
            <a:r>
              <a:rPr lang="en-US" sz="3200" dirty="0" smtClean="0"/>
              <a:t>).</a:t>
            </a:r>
          </a:p>
          <a:p>
            <a:endParaRPr lang="en-IN" sz="3200" dirty="0" smtClean="0"/>
          </a:p>
          <a:p>
            <a:r>
              <a:rPr lang="en-IN" sz="3200" dirty="0" smtClean="0"/>
              <a:t>As of now </a:t>
            </a:r>
            <a:r>
              <a:rPr lang="en-US" sz="3200" b="1" dirty="0" smtClean="0"/>
              <a:t>HaiServlet </a:t>
            </a:r>
            <a:r>
              <a:rPr lang="en-US" sz="3200" dirty="0" smtClean="0"/>
              <a:t>is not loaded , not yet instantiated , not yet initialized .</a:t>
            </a:r>
          </a:p>
          <a:p>
            <a:endParaRPr lang="en-IN" sz="3200" dirty="0" smtClean="0"/>
          </a:p>
          <a:p>
            <a:r>
              <a:rPr lang="en-IN" sz="3200" dirty="0" smtClean="0"/>
              <a:t>What about </a:t>
            </a:r>
            <a:r>
              <a:rPr lang="en-US" sz="3200" b="1" dirty="0" smtClean="0"/>
              <a:t>HelloServlet ?</a:t>
            </a:r>
          </a:p>
          <a:p>
            <a:r>
              <a:rPr lang="en-US" sz="3200" b="1" dirty="0" smtClean="0"/>
              <a:t>HelloServlet  </a:t>
            </a:r>
            <a:r>
              <a:rPr lang="en-US" sz="3200" dirty="0" smtClean="0"/>
              <a:t>loaded , </a:t>
            </a:r>
            <a:r>
              <a:rPr lang="en-US" sz="3200" b="1" dirty="0" smtClean="0"/>
              <a:t>HelloServlet</a:t>
            </a:r>
            <a:r>
              <a:rPr lang="en-US" sz="3200" dirty="0" smtClean="0"/>
              <a:t> instantiated , </a:t>
            </a:r>
            <a:r>
              <a:rPr lang="en-US" sz="3200" b="1" dirty="0" smtClean="0"/>
              <a:t>HelloServlet  </a:t>
            </a:r>
            <a:r>
              <a:rPr lang="en-US" sz="3200" dirty="0" smtClean="0"/>
              <a:t>is</a:t>
            </a:r>
            <a:r>
              <a:rPr lang="en-US" sz="3200" b="1" dirty="0" smtClean="0"/>
              <a:t> </a:t>
            </a:r>
            <a:r>
              <a:rPr lang="en-US" sz="3200" dirty="0" smtClean="0"/>
              <a:t>initialized by calling init() method.</a:t>
            </a:r>
            <a:endParaRPr lang="en-US" sz="3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4800"/>
            <a:ext cx="91440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smtClean="0"/>
              <a:t>These 3 things (loading,instantiation and initialization) will happen </a:t>
            </a:r>
            <a:r>
              <a:rPr lang="en-IN" sz="3200" b="1" dirty="0" smtClean="0"/>
              <a:t>only once </a:t>
            </a:r>
            <a:r>
              <a:rPr lang="en-IN" sz="3200" dirty="0" smtClean="0"/>
              <a:t>in the servlet life  .</a:t>
            </a:r>
          </a:p>
          <a:p>
            <a:endParaRPr lang="en-IN" sz="3200" dirty="0" smtClean="0"/>
          </a:p>
          <a:p>
            <a:r>
              <a:rPr lang="en-IN" sz="3200" dirty="0" smtClean="0"/>
              <a:t>It means , how many instances will be created for </a:t>
            </a:r>
            <a:r>
              <a:rPr lang="en-US" sz="3200" b="1" dirty="0" smtClean="0"/>
              <a:t>HelloServlet  ?</a:t>
            </a:r>
          </a:p>
          <a:p>
            <a:r>
              <a:rPr lang="en-IN" sz="3200" dirty="0" smtClean="0"/>
              <a:t>Ans : Only one instance</a:t>
            </a:r>
            <a:endParaRPr lang="en-US" sz="3200" dirty="0" smtClean="0"/>
          </a:p>
          <a:p>
            <a:endParaRPr lang="en-IN" sz="3200" b="1" dirty="0" smtClean="0"/>
          </a:p>
          <a:p>
            <a:r>
              <a:rPr lang="en-IN" sz="3200" dirty="0" smtClean="0"/>
              <a:t>how many instances will be created for </a:t>
            </a:r>
            <a:r>
              <a:rPr lang="en-US" sz="3200" b="1" dirty="0" smtClean="0"/>
              <a:t>HaiServlet  ?</a:t>
            </a:r>
          </a:p>
          <a:p>
            <a:r>
              <a:rPr lang="en-IN" sz="3200" dirty="0" smtClean="0"/>
              <a:t>Ans : Only one instance</a:t>
            </a:r>
          </a:p>
          <a:p>
            <a:endParaRPr lang="en-IN" sz="3200" dirty="0" smtClean="0"/>
          </a:p>
          <a:p>
            <a:r>
              <a:rPr lang="en-IN" sz="3200" dirty="0" smtClean="0"/>
              <a:t>For every servlet only one instance will be created.</a:t>
            </a:r>
            <a:endParaRPr lang="en-US" sz="3200" dirty="0" smtClean="0"/>
          </a:p>
          <a:p>
            <a:endParaRPr lang="en-US" sz="3200" b="1" dirty="0" smtClean="0"/>
          </a:p>
          <a:p>
            <a:endParaRPr lang="en-US" sz="3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04800"/>
            <a:ext cx="8915400" cy="8463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smtClean="0">
                <a:solidFill>
                  <a:schemeClr val="accent1"/>
                </a:solidFill>
              </a:rPr>
              <a:t>How many </a:t>
            </a:r>
            <a:r>
              <a:rPr lang="en-IN" sz="3200" b="1" dirty="0" smtClean="0">
                <a:solidFill>
                  <a:schemeClr val="accent2"/>
                </a:solidFill>
              </a:rPr>
              <a:t>ServletConfig</a:t>
            </a:r>
            <a:r>
              <a:rPr lang="en-IN" sz="3200" b="1" dirty="0" smtClean="0">
                <a:solidFill>
                  <a:schemeClr val="accent1"/>
                </a:solidFill>
              </a:rPr>
              <a:t> objects will be created per </a:t>
            </a:r>
            <a:r>
              <a:rPr lang="en-IN" sz="3200" b="1" dirty="0" smtClean="0">
                <a:solidFill>
                  <a:schemeClr val="accent2"/>
                </a:solidFill>
              </a:rPr>
              <a:t>application</a:t>
            </a:r>
            <a:r>
              <a:rPr lang="en-IN" sz="3200" b="1" dirty="0" smtClean="0">
                <a:solidFill>
                  <a:schemeClr val="accent1"/>
                </a:solidFill>
              </a:rPr>
              <a:t>?</a:t>
            </a:r>
          </a:p>
          <a:p>
            <a:r>
              <a:rPr lang="en-IN" sz="3200" b="1" dirty="0" smtClean="0"/>
              <a:t>Ans : </a:t>
            </a:r>
            <a:r>
              <a:rPr lang="en-IN" sz="3200" dirty="0" smtClean="0"/>
              <a:t>many depending one no.of Servlets</a:t>
            </a:r>
          </a:p>
          <a:p>
            <a:r>
              <a:rPr lang="en-IN" sz="3200" dirty="0" smtClean="0"/>
              <a:t>          If there are 2 Servlets 2 ServeltConfig objects</a:t>
            </a:r>
          </a:p>
          <a:p>
            <a:endParaRPr lang="en-IN" sz="3200" dirty="0" smtClean="0"/>
          </a:p>
          <a:p>
            <a:r>
              <a:rPr lang="en-IN" sz="3200" b="1" dirty="0" smtClean="0">
                <a:solidFill>
                  <a:schemeClr val="accent1"/>
                </a:solidFill>
              </a:rPr>
              <a:t>How many </a:t>
            </a:r>
            <a:r>
              <a:rPr lang="en-IN" sz="3200" b="1" dirty="0" smtClean="0">
                <a:solidFill>
                  <a:schemeClr val="accent2"/>
                </a:solidFill>
              </a:rPr>
              <a:t>ServletConfig</a:t>
            </a:r>
            <a:r>
              <a:rPr lang="en-IN" sz="3200" b="1" dirty="0" smtClean="0">
                <a:solidFill>
                  <a:schemeClr val="accent1"/>
                </a:solidFill>
              </a:rPr>
              <a:t> objects will be created per </a:t>
            </a:r>
            <a:r>
              <a:rPr lang="en-IN" sz="3200" b="1" dirty="0" smtClean="0">
                <a:solidFill>
                  <a:schemeClr val="accent2"/>
                </a:solidFill>
              </a:rPr>
              <a:t>Servlet</a:t>
            </a:r>
            <a:r>
              <a:rPr lang="en-IN" sz="3200" b="1" dirty="0" smtClean="0">
                <a:solidFill>
                  <a:schemeClr val="accent1"/>
                </a:solidFill>
              </a:rPr>
              <a:t>?</a:t>
            </a:r>
          </a:p>
          <a:p>
            <a:r>
              <a:rPr lang="en-IN" sz="3200" b="1" dirty="0" smtClean="0"/>
              <a:t>Ans :  </a:t>
            </a:r>
            <a:r>
              <a:rPr lang="en-IN" sz="3200" b="1" dirty="0" smtClean="0">
                <a:solidFill>
                  <a:srgbClr val="00B050"/>
                </a:solidFill>
              </a:rPr>
              <a:t>one</a:t>
            </a:r>
            <a:r>
              <a:rPr lang="en-IN" sz="3200" b="1" dirty="0" smtClean="0"/>
              <a:t>  , if there are 2 Servlets 2 ServletConfig objects will be created </a:t>
            </a:r>
          </a:p>
          <a:p>
            <a:endParaRPr lang="en-IN" sz="3200" b="1" dirty="0" smtClean="0"/>
          </a:p>
          <a:p>
            <a:r>
              <a:rPr lang="en-IN" sz="3200" b="1" dirty="0" smtClean="0">
                <a:solidFill>
                  <a:schemeClr val="accent1"/>
                </a:solidFill>
              </a:rPr>
              <a:t>How many </a:t>
            </a:r>
            <a:r>
              <a:rPr lang="en-IN" sz="3200" b="1" dirty="0" smtClean="0">
                <a:solidFill>
                  <a:schemeClr val="accent2"/>
                </a:solidFill>
              </a:rPr>
              <a:t>request</a:t>
            </a:r>
            <a:r>
              <a:rPr lang="en-IN" sz="3200" b="1" dirty="0" smtClean="0">
                <a:solidFill>
                  <a:schemeClr val="accent1"/>
                </a:solidFill>
              </a:rPr>
              <a:t> objects will be created per </a:t>
            </a:r>
            <a:r>
              <a:rPr lang="en-IN" sz="3200" b="1" dirty="0" smtClean="0">
                <a:solidFill>
                  <a:schemeClr val="accent2"/>
                </a:solidFill>
              </a:rPr>
              <a:t>Servlet</a:t>
            </a:r>
            <a:r>
              <a:rPr lang="en-IN" sz="3200" b="1" dirty="0" smtClean="0">
                <a:solidFill>
                  <a:schemeClr val="accent1"/>
                </a:solidFill>
              </a:rPr>
              <a:t>?</a:t>
            </a:r>
          </a:p>
          <a:p>
            <a:r>
              <a:rPr lang="en-IN" sz="3200" b="1" dirty="0" smtClean="0"/>
              <a:t>Ans :  </a:t>
            </a:r>
            <a:r>
              <a:rPr lang="en-IN" sz="3200" b="1" dirty="0" smtClean="0">
                <a:solidFill>
                  <a:srgbClr val="00B050"/>
                </a:solidFill>
              </a:rPr>
              <a:t>many</a:t>
            </a:r>
            <a:r>
              <a:rPr lang="en-IN" sz="3200" b="1" dirty="0" smtClean="0"/>
              <a:t> , as many requests , those many objects</a:t>
            </a:r>
            <a:endParaRPr lang="en-IN" sz="3200" dirty="0" smtClean="0"/>
          </a:p>
          <a:p>
            <a:endParaRPr lang="en-IN" sz="3200" dirty="0" smtClean="0"/>
          </a:p>
          <a:p>
            <a:endParaRPr lang="en-IN" sz="3200" dirty="0" smtClean="0"/>
          </a:p>
          <a:p>
            <a:endParaRPr lang="en-IN" sz="3200" b="1" dirty="0" smtClean="0">
              <a:solidFill>
                <a:schemeClr val="accent1"/>
              </a:solidFill>
            </a:endParaRPr>
          </a:p>
          <a:p>
            <a:endParaRPr lang="en-US" sz="3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76200"/>
            <a:ext cx="868680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IN" sz="2600" dirty="0" smtClean="0"/>
              <a:t> When ever you send a request to </a:t>
            </a:r>
            <a:r>
              <a:rPr lang="en-IN" sz="2600" b="1" dirty="0" smtClean="0"/>
              <a:t>HaiServlet</a:t>
            </a:r>
            <a:r>
              <a:rPr lang="en-IN" sz="2600" dirty="0" smtClean="0"/>
              <a:t> by clicking on submit button, web container will </a:t>
            </a:r>
            <a:r>
              <a:rPr lang="en-IN" sz="2600" b="1" dirty="0" smtClean="0"/>
              <a:t>load</a:t>
            </a:r>
            <a:r>
              <a:rPr lang="en-IN" sz="2600" dirty="0" smtClean="0"/>
              <a:t> the HaiServlet class into the memory .</a:t>
            </a:r>
          </a:p>
          <a:p>
            <a:endParaRPr lang="en-IN" sz="2600" dirty="0" smtClean="0"/>
          </a:p>
          <a:p>
            <a:pPr>
              <a:buFont typeface="Wingdings" pitchFamily="2" charset="2"/>
              <a:buChar char="§"/>
            </a:pPr>
            <a:r>
              <a:rPr lang="en-IN" sz="2600" dirty="0" smtClean="0"/>
              <a:t> Web container will create HaiServlet </a:t>
            </a:r>
            <a:r>
              <a:rPr lang="en-IN" sz="2600" b="1" dirty="0" smtClean="0"/>
              <a:t>instance</a:t>
            </a:r>
            <a:r>
              <a:rPr lang="en-IN" sz="2600" dirty="0" smtClean="0"/>
              <a:t> .</a:t>
            </a:r>
          </a:p>
          <a:p>
            <a:endParaRPr lang="en-IN" sz="2600" dirty="0" smtClean="0"/>
          </a:p>
          <a:p>
            <a:pPr>
              <a:buFont typeface="Wingdings" pitchFamily="2" charset="2"/>
              <a:buChar char="§"/>
            </a:pPr>
            <a:r>
              <a:rPr lang="en-IN" sz="2600" dirty="0" smtClean="0"/>
              <a:t>  The web container will create one </a:t>
            </a:r>
            <a:r>
              <a:rPr lang="en-IN" sz="2600" b="1" dirty="0" smtClean="0">
                <a:solidFill>
                  <a:srgbClr val="FF0000"/>
                </a:solidFill>
              </a:rPr>
              <a:t>ServletConfig</a:t>
            </a:r>
            <a:r>
              <a:rPr lang="en-IN" sz="2600" dirty="0" smtClean="0"/>
              <a:t> Object for this HaiServlet .</a:t>
            </a:r>
          </a:p>
          <a:p>
            <a:endParaRPr lang="en-IN" sz="2600" dirty="0" smtClean="0"/>
          </a:p>
          <a:p>
            <a:pPr>
              <a:buFont typeface="Wingdings" pitchFamily="2" charset="2"/>
              <a:buChar char="§"/>
            </a:pPr>
            <a:r>
              <a:rPr lang="en-IN" sz="2600" dirty="0" smtClean="0"/>
              <a:t>  After creating ServletConfig Object  ,Container will initialize the ServletConfig Object , with Config parameters ,which are specified in web.xml file or annotations .</a:t>
            </a:r>
          </a:p>
          <a:p>
            <a:endParaRPr lang="en-IN" sz="2600" dirty="0" smtClean="0"/>
          </a:p>
          <a:p>
            <a:pPr>
              <a:buFont typeface="Wingdings" pitchFamily="2" charset="2"/>
              <a:buChar char="§"/>
            </a:pPr>
            <a:r>
              <a:rPr lang="en-IN" sz="2600" dirty="0" smtClean="0"/>
              <a:t>  After initializing ServletConfig Object , web  container will call the life cycle method </a:t>
            </a:r>
            <a:r>
              <a:rPr lang="en-IN" sz="2600" b="1" dirty="0" smtClean="0"/>
              <a:t>init() </a:t>
            </a:r>
            <a:r>
              <a:rPr lang="en-IN" sz="2600" dirty="0" smtClean="0"/>
              <a:t>by</a:t>
            </a:r>
            <a:r>
              <a:rPr lang="en-IN" sz="2600" b="1" dirty="0" smtClean="0"/>
              <a:t>  </a:t>
            </a:r>
            <a:r>
              <a:rPr lang="en-IN" sz="2600" dirty="0" smtClean="0"/>
              <a:t>passing ServletConfig Object i.e. hais.init(sconfig) (hais is reference to HaiServlet object)</a:t>
            </a:r>
            <a:endParaRPr lang="en-US" sz="2600" b="1" dirty="0" smtClean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381000"/>
            <a:ext cx="84582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smtClean="0"/>
              <a:t>After calling init() , web container has to call service() method , in order to call service() method , it needs two parameters , HttpServletRequest and HttpServletResponse .</a:t>
            </a:r>
          </a:p>
          <a:p>
            <a:endParaRPr lang="en-IN" sz="3200" dirty="0" smtClean="0"/>
          </a:p>
          <a:p>
            <a:r>
              <a:rPr lang="en-IN" sz="3200" dirty="0" smtClean="0"/>
              <a:t>So container will create one more request object and one more  response object .</a:t>
            </a:r>
          </a:p>
          <a:p>
            <a:endParaRPr lang="en-IN" sz="3200" dirty="0" smtClean="0"/>
          </a:p>
          <a:p>
            <a:r>
              <a:rPr lang="en-IN" sz="3200" dirty="0" smtClean="0"/>
              <a:t>Client submitted data , will be stored in </a:t>
            </a:r>
            <a:r>
              <a:rPr lang="en-IN" sz="3200" b="1" dirty="0" smtClean="0"/>
              <a:t>corresponding</a:t>
            </a:r>
            <a:r>
              <a:rPr lang="en-IN" sz="3200" dirty="0" smtClean="0"/>
              <a:t> request object , as request parameter . </a:t>
            </a:r>
            <a:endParaRPr lang="en-US" sz="3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76200"/>
            <a:ext cx="8534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ServletContext</a:t>
            </a:r>
            <a:r>
              <a:rPr lang="en-IN" sz="2800" dirty="0" smtClean="0"/>
              <a:t> object we can not access directly , we will access it from </a:t>
            </a:r>
            <a:r>
              <a:rPr lang="en-IN" sz="2800" b="1" dirty="0" smtClean="0"/>
              <a:t>ServletConfig</a:t>
            </a:r>
            <a:r>
              <a:rPr lang="en-IN" sz="2800" dirty="0" smtClean="0"/>
              <a:t> object , from config we can call </a:t>
            </a:r>
            <a:r>
              <a:rPr lang="en-IN" sz="2800" b="1" dirty="0" smtClean="0"/>
              <a:t>getServletContext()  </a:t>
            </a:r>
            <a:r>
              <a:rPr lang="en-IN" sz="2800" dirty="0" smtClean="0"/>
              <a:t>method</a:t>
            </a:r>
            <a:r>
              <a:rPr lang="en-IN" sz="2800" b="1" dirty="0" smtClean="0"/>
              <a:t>.</a:t>
            </a:r>
          </a:p>
          <a:p>
            <a:endParaRPr lang="en-IN" sz="2800" b="1" dirty="0" smtClean="0"/>
          </a:p>
          <a:p>
            <a:r>
              <a:rPr lang="en-IN" sz="2800" b="1" dirty="0" smtClean="0"/>
              <a:t>Your </a:t>
            </a:r>
            <a:r>
              <a:rPr lang="en-IN" sz="2800" dirty="0" smtClean="0"/>
              <a:t>servlet will have access to </a:t>
            </a:r>
            <a:r>
              <a:rPr lang="en-IN" sz="2800" b="1" dirty="0" smtClean="0"/>
              <a:t>ServletConfig</a:t>
            </a:r>
            <a:r>
              <a:rPr lang="en-IN" sz="2800" dirty="0" smtClean="0"/>
              <a:t> object , </a:t>
            </a:r>
            <a:r>
              <a:rPr lang="en-IN" sz="2800" b="1" dirty="0" smtClean="0"/>
              <a:t>ServletConfig</a:t>
            </a:r>
            <a:r>
              <a:rPr lang="en-IN" sz="2800" dirty="0" smtClean="0"/>
              <a:t> object will have access to </a:t>
            </a:r>
            <a:r>
              <a:rPr lang="en-IN" sz="2800" b="1" dirty="0" smtClean="0"/>
              <a:t>ServletContext</a:t>
            </a:r>
            <a:r>
              <a:rPr lang="en-IN" sz="2800" dirty="0" smtClean="0"/>
              <a:t> object . Context object address available with config object . </a:t>
            </a:r>
            <a:r>
              <a:rPr lang="en-IN" sz="2800" b="1" dirty="0" smtClean="0"/>
              <a:t> </a:t>
            </a:r>
            <a:endParaRPr lang="en-US" sz="28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95601" y="3200400"/>
            <a:ext cx="6248400" cy="3657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04800"/>
            <a:ext cx="85344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smtClean="0">
                <a:solidFill>
                  <a:srgbClr val="00B050"/>
                </a:solidFill>
              </a:rPr>
              <a:t>How many times servlet class will be loaded ?</a:t>
            </a:r>
          </a:p>
          <a:p>
            <a:r>
              <a:rPr lang="en-IN" sz="3200" b="1" dirty="0" smtClean="0"/>
              <a:t>Ans : </a:t>
            </a:r>
            <a:r>
              <a:rPr lang="en-IN" sz="3200" dirty="0" smtClean="0"/>
              <a:t>only one time</a:t>
            </a:r>
          </a:p>
          <a:p>
            <a:endParaRPr lang="en-IN" sz="3200" dirty="0" smtClean="0"/>
          </a:p>
          <a:p>
            <a:r>
              <a:rPr lang="en-IN" sz="3200" dirty="0" smtClean="0">
                <a:solidFill>
                  <a:srgbClr val="00B050"/>
                </a:solidFill>
              </a:rPr>
              <a:t>How many times servlet instance will be created ?</a:t>
            </a:r>
          </a:p>
          <a:p>
            <a:r>
              <a:rPr lang="en-IN" sz="3200" b="1" dirty="0" smtClean="0"/>
              <a:t>Ans : </a:t>
            </a:r>
            <a:r>
              <a:rPr lang="en-IN" sz="3200" dirty="0" smtClean="0"/>
              <a:t>only one time per application</a:t>
            </a:r>
          </a:p>
          <a:p>
            <a:endParaRPr lang="en-IN" sz="3200" dirty="0" smtClean="0"/>
          </a:p>
          <a:p>
            <a:r>
              <a:rPr lang="en-IN" sz="3200" dirty="0" smtClean="0">
                <a:solidFill>
                  <a:schemeClr val="accent2"/>
                </a:solidFill>
              </a:rPr>
              <a:t>How many times init() method  will be called in the servlet life ?</a:t>
            </a:r>
          </a:p>
          <a:p>
            <a:r>
              <a:rPr lang="en-IN" sz="3200" b="1" dirty="0" smtClean="0"/>
              <a:t>Ans : </a:t>
            </a:r>
            <a:r>
              <a:rPr lang="en-IN" sz="3200" dirty="0" smtClean="0"/>
              <a:t>only once</a:t>
            </a:r>
            <a:endParaRPr lang="en-US" sz="3200" dirty="0" smtClean="0"/>
          </a:p>
          <a:p>
            <a:endParaRPr lang="en-US" sz="3200" dirty="0" smtClean="0"/>
          </a:p>
          <a:p>
            <a:r>
              <a:rPr lang="en-IN" sz="3200" dirty="0" smtClean="0"/>
              <a:t> 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04800"/>
            <a:ext cx="84582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smtClean="0">
                <a:solidFill>
                  <a:schemeClr val="accent2"/>
                </a:solidFill>
              </a:rPr>
              <a:t>Who is storing the parameters in the respective objects(request , config and context objects)?</a:t>
            </a:r>
          </a:p>
          <a:p>
            <a:endParaRPr lang="en-IN" sz="3200" dirty="0" smtClean="0"/>
          </a:p>
          <a:p>
            <a:r>
              <a:rPr lang="en-IN" sz="3200" b="1" dirty="0" smtClean="0"/>
              <a:t>Ans :  </a:t>
            </a:r>
            <a:r>
              <a:rPr lang="en-IN" sz="3200" dirty="0" smtClean="0"/>
              <a:t>Web Container </a:t>
            </a:r>
          </a:p>
          <a:p>
            <a:endParaRPr lang="en-IN" sz="3200" dirty="0" smtClean="0"/>
          </a:p>
          <a:p>
            <a:r>
              <a:rPr lang="en-IN" sz="3200" dirty="0" smtClean="0">
                <a:solidFill>
                  <a:schemeClr val="accent2"/>
                </a:solidFill>
              </a:rPr>
              <a:t>Can you modify any of these parameters ?</a:t>
            </a:r>
          </a:p>
          <a:p>
            <a:r>
              <a:rPr lang="en-IN" sz="3200" b="1" dirty="0" smtClean="0"/>
              <a:t>Ans: </a:t>
            </a:r>
            <a:r>
              <a:rPr lang="en-IN" sz="3200" dirty="0" smtClean="0"/>
              <a:t>you can not modify these , these parameters are </a:t>
            </a:r>
            <a:r>
              <a:rPr lang="en-IN" sz="3200" b="1" dirty="0" smtClean="0"/>
              <a:t>read-only</a:t>
            </a:r>
            <a:r>
              <a:rPr lang="en-IN" sz="3200" dirty="0" smtClean="0"/>
              <a:t> </a:t>
            </a:r>
          </a:p>
          <a:p>
            <a:endParaRPr lang="en-IN" sz="3200" dirty="0" smtClean="0"/>
          </a:p>
          <a:p>
            <a:r>
              <a:rPr lang="en-IN" sz="3200" dirty="0" smtClean="0"/>
              <a:t> 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2400"/>
            <a:ext cx="91440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9075" y="3733800"/>
            <a:ext cx="7248525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4800"/>
            <a:ext cx="9144000" cy="506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304800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52400"/>
            <a:ext cx="91440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62000"/>
            <a:ext cx="9144000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76200"/>
            <a:ext cx="83058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&lt;!DOCTYPE html&gt;</a:t>
            </a:r>
          </a:p>
          <a:p>
            <a:r>
              <a:rPr lang="en-US" sz="1200" dirty="0" smtClean="0"/>
              <a:t>&lt;html&gt;</a:t>
            </a:r>
          </a:p>
          <a:p>
            <a:r>
              <a:rPr lang="en-US" sz="1200" dirty="0" smtClean="0"/>
              <a:t>&lt;head&gt;</a:t>
            </a:r>
          </a:p>
          <a:p>
            <a:r>
              <a:rPr lang="en-US" sz="1200" dirty="0" smtClean="0"/>
              <a:t>&lt;title&gt;Welcome to Web </a:t>
            </a:r>
            <a:r>
              <a:rPr lang="en-US" sz="1200" u="sng" dirty="0" smtClean="0"/>
              <a:t>App&lt;/title&gt;</a:t>
            </a:r>
          </a:p>
          <a:p>
            <a:r>
              <a:rPr lang="en-US" sz="1200" dirty="0" smtClean="0"/>
              <a:t>&lt;/head&gt;</a:t>
            </a:r>
          </a:p>
          <a:p>
            <a:r>
              <a:rPr lang="en-US" sz="1200" dirty="0" smtClean="0"/>
              <a:t>&lt;body&gt;</a:t>
            </a:r>
          </a:p>
          <a:p>
            <a:r>
              <a:rPr lang="pt-BR" sz="1200" dirty="0" smtClean="0"/>
              <a:t>&lt;h2&gt;Welcome to Java </a:t>
            </a:r>
            <a:r>
              <a:rPr lang="pt-BR" sz="1200" u="sng" dirty="0" smtClean="0"/>
              <a:t>Servlets&lt;/h2&gt;</a:t>
            </a:r>
          </a:p>
          <a:p>
            <a:r>
              <a:rPr lang="en-US" sz="1200" dirty="0" smtClean="0"/>
              <a:t>&lt;h3&gt;Hello Form&lt;/h3&gt;</a:t>
            </a:r>
          </a:p>
          <a:p>
            <a:r>
              <a:rPr lang="en-US" sz="1200" dirty="0" smtClean="0"/>
              <a:t>&lt;form action=</a:t>
            </a:r>
            <a:r>
              <a:rPr lang="en-US" sz="1200" i="1" dirty="0" smtClean="0"/>
              <a:t>"hello"&gt;</a:t>
            </a:r>
          </a:p>
          <a:p>
            <a:r>
              <a:rPr lang="en-US" sz="1200" dirty="0" smtClean="0"/>
              <a:t>&lt;table&gt;</a:t>
            </a:r>
          </a:p>
          <a:p>
            <a:r>
              <a:rPr lang="en-US" sz="1200" dirty="0" smtClean="0"/>
              <a:t>&lt;tr&gt;</a:t>
            </a:r>
          </a:p>
          <a:p>
            <a:r>
              <a:rPr lang="en-US" sz="1200" dirty="0" smtClean="0"/>
              <a:t>&lt;td&gt;Full Name&lt;/td&gt;</a:t>
            </a:r>
          </a:p>
          <a:p>
            <a:r>
              <a:rPr lang="en-US" sz="1200" dirty="0" smtClean="0"/>
              <a:t>&lt;td&gt;&lt;input type=</a:t>
            </a:r>
            <a:r>
              <a:rPr lang="en-US" sz="1200" i="1" dirty="0" smtClean="0"/>
              <a:t>"text" name="fname" /&gt;&lt;/td&gt;</a:t>
            </a:r>
          </a:p>
          <a:p>
            <a:r>
              <a:rPr lang="en-US" sz="1200" dirty="0" smtClean="0"/>
              <a:t>&lt;/tr&gt;</a:t>
            </a:r>
          </a:p>
          <a:p>
            <a:r>
              <a:rPr lang="en-US" sz="1200" dirty="0" smtClean="0"/>
              <a:t>&lt;tr&gt;</a:t>
            </a:r>
          </a:p>
          <a:p>
            <a:r>
              <a:rPr lang="en-US" sz="1200" dirty="0" smtClean="0"/>
              <a:t>&lt;td colspan=</a:t>
            </a:r>
            <a:r>
              <a:rPr lang="en-US" sz="1200" i="1" dirty="0" smtClean="0"/>
              <a:t>"2" align="center"&gt;&lt;input type="submit"</a:t>
            </a:r>
          </a:p>
          <a:p>
            <a:r>
              <a:rPr lang="en-US" sz="1200" dirty="0" smtClean="0"/>
              <a:t>value=</a:t>
            </a:r>
            <a:r>
              <a:rPr lang="en-US" sz="1200" i="1" dirty="0" smtClean="0"/>
              <a:t>"Submit" /&gt;&lt;/td&gt;</a:t>
            </a:r>
          </a:p>
          <a:p>
            <a:r>
              <a:rPr lang="en-US" sz="1200" dirty="0" smtClean="0"/>
              <a:t>&lt;/tr&gt;</a:t>
            </a:r>
          </a:p>
          <a:p>
            <a:r>
              <a:rPr lang="en-US" sz="1200" dirty="0" smtClean="0"/>
              <a:t>&lt;/table&gt;</a:t>
            </a:r>
          </a:p>
          <a:p>
            <a:r>
              <a:rPr lang="en-US" sz="1200" dirty="0" smtClean="0"/>
              <a:t>&lt;/form&gt;</a:t>
            </a:r>
          </a:p>
          <a:p>
            <a:r>
              <a:rPr lang="en-US" sz="1200" dirty="0" smtClean="0"/>
              <a:t>&lt;!-- this web page has two forms , it is valid  --&gt;</a:t>
            </a:r>
          </a:p>
          <a:p>
            <a:r>
              <a:rPr lang="en-US" sz="1200" dirty="0" smtClean="0"/>
              <a:t>&lt;h3&gt;</a:t>
            </a:r>
            <a:r>
              <a:rPr lang="en-US" sz="1200" u="sng" dirty="0" smtClean="0"/>
              <a:t>Hai Form&lt;/h3&gt;</a:t>
            </a:r>
          </a:p>
          <a:p>
            <a:r>
              <a:rPr lang="en-US" sz="1200" dirty="0" smtClean="0"/>
              <a:t>&lt;form action=</a:t>
            </a:r>
            <a:r>
              <a:rPr lang="en-US" sz="1200" i="1" dirty="0" smtClean="0"/>
              <a:t>"hai"&gt;</a:t>
            </a:r>
          </a:p>
          <a:p>
            <a:r>
              <a:rPr lang="en-US" sz="1200" dirty="0" smtClean="0"/>
              <a:t>&lt;table&gt;</a:t>
            </a:r>
          </a:p>
          <a:p>
            <a:r>
              <a:rPr lang="en-US" sz="1200" dirty="0" smtClean="0"/>
              <a:t>&lt;tr&gt;</a:t>
            </a:r>
          </a:p>
          <a:p>
            <a:r>
              <a:rPr lang="en-US" sz="1200" dirty="0" smtClean="0"/>
              <a:t>&lt;td&gt;Phone&lt;/td&gt;</a:t>
            </a:r>
          </a:p>
          <a:p>
            <a:r>
              <a:rPr lang="en-US" sz="1200" dirty="0" smtClean="0"/>
              <a:t>&lt;td&gt;&lt;input type=</a:t>
            </a:r>
            <a:r>
              <a:rPr lang="en-US" sz="1200" i="1" dirty="0" smtClean="0"/>
              <a:t>"text" name="phone" /&gt;&lt;/td&gt;</a:t>
            </a:r>
          </a:p>
          <a:p>
            <a:r>
              <a:rPr lang="en-US" sz="1200" dirty="0" smtClean="0"/>
              <a:t>&lt;/tr&gt;</a:t>
            </a:r>
          </a:p>
          <a:p>
            <a:r>
              <a:rPr lang="en-US" sz="1200" dirty="0" smtClean="0"/>
              <a:t>&lt;tr&gt;</a:t>
            </a:r>
          </a:p>
          <a:p>
            <a:r>
              <a:rPr lang="en-US" sz="1200" dirty="0" smtClean="0"/>
              <a:t>&lt;td colspan=</a:t>
            </a:r>
            <a:r>
              <a:rPr lang="en-US" sz="1200" i="1" dirty="0" smtClean="0"/>
              <a:t>"2" align="center"&gt;&lt;input type="submit"</a:t>
            </a:r>
          </a:p>
          <a:p>
            <a:r>
              <a:rPr lang="en-US" sz="1200" dirty="0" smtClean="0"/>
              <a:t>value=</a:t>
            </a:r>
            <a:r>
              <a:rPr lang="en-US" sz="1200" i="1" dirty="0" smtClean="0"/>
              <a:t>"Submit" /&gt;&lt;/td&gt;</a:t>
            </a:r>
          </a:p>
          <a:p>
            <a:r>
              <a:rPr lang="en-US" sz="1200" dirty="0" smtClean="0"/>
              <a:t>&lt;/tr&gt;</a:t>
            </a:r>
          </a:p>
          <a:p>
            <a:r>
              <a:rPr lang="en-US" sz="1200" dirty="0" smtClean="0"/>
              <a:t>&lt;/table&gt;</a:t>
            </a:r>
          </a:p>
          <a:p>
            <a:r>
              <a:rPr lang="en-US" sz="1200" dirty="0" smtClean="0"/>
              <a:t>&lt;/form&gt;</a:t>
            </a:r>
          </a:p>
          <a:p>
            <a:r>
              <a:rPr lang="en-US" sz="1200" dirty="0" smtClean="0"/>
              <a:t>&lt;/body&gt;</a:t>
            </a:r>
          </a:p>
          <a:p>
            <a:r>
              <a:rPr lang="en-US" sz="1200" dirty="0" smtClean="0"/>
              <a:t>&lt;/html&gt;</a:t>
            </a:r>
            <a:endParaRPr lang="en-US" sz="1200" dirty="0"/>
          </a:p>
        </p:txBody>
      </p:sp>
      <p:sp>
        <p:nvSpPr>
          <p:cNvPr id="3" name="TextBox 2"/>
          <p:cNvSpPr txBox="1"/>
          <p:nvPr/>
        </p:nvSpPr>
        <p:spPr>
          <a:xfrm>
            <a:off x="5105400" y="609600"/>
            <a:ext cx="3581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i="1" u="sng" dirty="0" smtClean="0">
                <a:solidFill>
                  <a:srgbClr val="FF0000"/>
                </a:solidFill>
              </a:rPr>
              <a:t>mylab7</a:t>
            </a:r>
          </a:p>
          <a:p>
            <a:r>
              <a:rPr lang="en-IN" sz="4400" dirty="0" smtClean="0">
                <a:solidFill>
                  <a:srgbClr val="FF0000"/>
                </a:solidFill>
              </a:rPr>
              <a:t>index.html</a:t>
            </a:r>
            <a:endParaRPr lang="en-US" sz="4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152400"/>
            <a:ext cx="8229600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 smtClean="0"/>
              <a:t>package com.vrsec.servlets;</a:t>
            </a:r>
          </a:p>
          <a:p>
            <a:endParaRPr lang="en-US" sz="600" dirty="0" smtClean="0"/>
          </a:p>
          <a:p>
            <a:r>
              <a:rPr lang="en-US" sz="600" b="1" dirty="0" smtClean="0"/>
              <a:t>import java.io.IOException;</a:t>
            </a:r>
          </a:p>
          <a:p>
            <a:r>
              <a:rPr lang="en-US" sz="600" b="1" dirty="0" smtClean="0"/>
              <a:t>import java.io.PrintWriter;</a:t>
            </a:r>
          </a:p>
          <a:p>
            <a:r>
              <a:rPr lang="en-US" sz="600" b="1" dirty="0" smtClean="0"/>
              <a:t>import javax.servlet.ServletConfig;</a:t>
            </a:r>
          </a:p>
          <a:p>
            <a:r>
              <a:rPr lang="en-US" sz="600" b="1" dirty="0" smtClean="0"/>
              <a:t>import javax.servlet.ServletContext;</a:t>
            </a:r>
          </a:p>
          <a:p>
            <a:r>
              <a:rPr lang="en-US" sz="600" b="1" dirty="0" smtClean="0"/>
              <a:t>import javax.servlet.ServletException;</a:t>
            </a:r>
          </a:p>
          <a:p>
            <a:r>
              <a:rPr lang="en-US" sz="600" b="1" dirty="0" smtClean="0"/>
              <a:t>import javax.servlet.http.HttpServlet;</a:t>
            </a:r>
          </a:p>
          <a:p>
            <a:r>
              <a:rPr lang="en-US" sz="600" b="1" dirty="0" smtClean="0"/>
              <a:t>import javax.servlet.http.HttpServletRequest;</a:t>
            </a:r>
          </a:p>
          <a:p>
            <a:r>
              <a:rPr lang="en-US" sz="600" b="1" dirty="0" smtClean="0"/>
              <a:t>import javax.servlet.http.HttpServletResponse;</a:t>
            </a:r>
          </a:p>
          <a:p>
            <a:endParaRPr lang="en-US" sz="600" dirty="0" smtClean="0"/>
          </a:p>
          <a:p>
            <a:r>
              <a:rPr lang="en-US" sz="600" b="1" dirty="0" smtClean="0"/>
              <a:t>public class </a:t>
            </a:r>
            <a:r>
              <a:rPr lang="en-US" sz="600" b="1" u="sng" dirty="0" smtClean="0"/>
              <a:t>HelloServlet extends HttpServlet {</a:t>
            </a:r>
          </a:p>
          <a:p>
            <a:r>
              <a:rPr lang="en-US" sz="600" dirty="0" smtClean="0"/>
              <a:t>ServletConfig sconfig = </a:t>
            </a:r>
            <a:r>
              <a:rPr lang="en-US" sz="600" b="1" dirty="0" smtClean="0"/>
              <a:t>null;</a:t>
            </a:r>
          </a:p>
          <a:p>
            <a:r>
              <a:rPr lang="en-US" sz="600" dirty="0" smtClean="0"/>
              <a:t>//static block , constructor and </a:t>
            </a:r>
            <a:r>
              <a:rPr lang="en-US" sz="600" u="sng" dirty="0" smtClean="0"/>
              <a:t>init() executed only in </a:t>
            </a:r>
          </a:p>
          <a:p>
            <a:r>
              <a:rPr lang="en-US" sz="600" dirty="0" smtClean="0"/>
              <a:t>//</a:t>
            </a:r>
            <a:r>
              <a:rPr lang="en-US" sz="600" u="sng" dirty="0" smtClean="0"/>
              <a:t>servlet life i.e. only for first request , for rest of the </a:t>
            </a:r>
          </a:p>
          <a:p>
            <a:r>
              <a:rPr lang="en-US" sz="600" dirty="0" smtClean="0"/>
              <a:t>//requests only service() will be executed</a:t>
            </a:r>
          </a:p>
          <a:p>
            <a:r>
              <a:rPr lang="en-US" sz="600" b="1" dirty="0" smtClean="0"/>
              <a:t>static {</a:t>
            </a:r>
          </a:p>
          <a:p>
            <a:r>
              <a:rPr lang="en-US" sz="600" dirty="0" smtClean="0"/>
              <a:t>System.</a:t>
            </a:r>
            <a:r>
              <a:rPr lang="en-US" sz="600" b="1" i="1" dirty="0" smtClean="0"/>
              <a:t>out.println("HelloServlet - S.B");</a:t>
            </a:r>
          </a:p>
          <a:p>
            <a:r>
              <a:rPr lang="en-US" sz="600" dirty="0" smtClean="0"/>
              <a:t>}</a:t>
            </a:r>
          </a:p>
          <a:p>
            <a:endParaRPr lang="en-US" sz="600" dirty="0" smtClean="0"/>
          </a:p>
          <a:p>
            <a:r>
              <a:rPr lang="en-US" sz="600" b="1" dirty="0" smtClean="0"/>
              <a:t>public HelloServlet() {</a:t>
            </a:r>
          </a:p>
          <a:p>
            <a:r>
              <a:rPr lang="en-US" sz="600" dirty="0" smtClean="0"/>
              <a:t>System.</a:t>
            </a:r>
            <a:r>
              <a:rPr lang="en-US" sz="600" b="1" i="1" dirty="0" smtClean="0"/>
              <a:t>out.println("HelloServlet - D.C");</a:t>
            </a:r>
          </a:p>
          <a:p>
            <a:r>
              <a:rPr lang="en-US" sz="600" dirty="0" smtClean="0"/>
              <a:t>}</a:t>
            </a:r>
          </a:p>
          <a:p>
            <a:endParaRPr lang="en-US" sz="600" dirty="0" smtClean="0"/>
          </a:p>
          <a:p>
            <a:r>
              <a:rPr lang="en-US" sz="600" b="1" dirty="0" smtClean="0"/>
              <a:t>public void init(ServletConfig sconfig) {</a:t>
            </a:r>
          </a:p>
          <a:p>
            <a:r>
              <a:rPr lang="en-US" sz="600" dirty="0" smtClean="0"/>
              <a:t>System.</a:t>
            </a:r>
            <a:r>
              <a:rPr lang="en-US" sz="600" b="1" i="1" dirty="0" smtClean="0"/>
              <a:t>out.println("HelloServlet - init()");</a:t>
            </a:r>
          </a:p>
          <a:p>
            <a:r>
              <a:rPr lang="en-US" sz="600" b="1" dirty="0" smtClean="0"/>
              <a:t>this.sconfig = sconfig;</a:t>
            </a:r>
          </a:p>
          <a:p>
            <a:r>
              <a:rPr lang="en-US" sz="600" dirty="0" smtClean="0"/>
              <a:t>}</a:t>
            </a:r>
          </a:p>
          <a:p>
            <a:endParaRPr lang="en-US" sz="600" dirty="0" smtClean="0"/>
          </a:p>
          <a:p>
            <a:r>
              <a:rPr lang="en-US" sz="600" b="1" dirty="0" smtClean="0"/>
              <a:t>public void service(HttpServletRequest request, HttpServletResponse response) throws IOException, ServletException {</a:t>
            </a:r>
          </a:p>
          <a:p>
            <a:r>
              <a:rPr lang="en-US" sz="600" dirty="0" smtClean="0"/>
              <a:t>System.</a:t>
            </a:r>
            <a:r>
              <a:rPr lang="en-US" sz="600" b="1" i="1" dirty="0" smtClean="0"/>
              <a:t>out.println("HelloServlet - service()");</a:t>
            </a:r>
          </a:p>
          <a:p>
            <a:r>
              <a:rPr lang="en-US" sz="600" dirty="0" smtClean="0"/>
              <a:t>// 1.Collect Request </a:t>
            </a:r>
            <a:r>
              <a:rPr lang="en-US" sz="600" u="sng" dirty="0" smtClean="0"/>
              <a:t>Params</a:t>
            </a:r>
          </a:p>
          <a:p>
            <a:r>
              <a:rPr lang="en-US" sz="600" dirty="0" smtClean="0"/>
              <a:t>String fname = request.getParameter("fname");</a:t>
            </a:r>
          </a:p>
          <a:p>
            <a:r>
              <a:rPr lang="en-US" sz="600" dirty="0" smtClean="0"/>
              <a:t>String phone = request.getParameter("phone"); // null , if parameter name does not exists getParameter() method returns null value</a:t>
            </a:r>
          </a:p>
          <a:p>
            <a:r>
              <a:rPr lang="en-US" sz="600" dirty="0" smtClean="0"/>
              <a:t>// 2.Collect </a:t>
            </a:r>
            <a:r>
              <a:rPr lang="en-US" sz="600" u="sng" dirty="0" smtClean="0"/>
              <a:t>Config Params</a:t>
            </a:r>
          </a:p>
          <a:p>
            <a:r>
              <a:rPr lang="en-US" sz="600" dirty="0" smtClean="0"/>
              <a:t>String email = sconfig.getInitParameter("email");</a:t>
            </a:r>
          </a:p>
          <a:p>
            <a:r>
              <a:rPr lang="en-US" sz="600" dirty="0" smtClean="0"/>
              <a:t>// 3.Collect Context </a:t>
            </a:r>
            <a:r>
              <a:rPr lang="en-US" sz="600" u="sng" dirty="0" smtClean="0"/>
              <a:t>Params</a:t>
            </a:r>
          </a:p>
          <a:p>
            <a:r>
              <a:rPr lang="en-US" sz="600" dirty="0" smtClean="0"/>
              <a:t>ServletContext scontext = sconfig.getServletContext();</a:t>
            </a:r>
          </a:p>
          <a:p>
            <a:r>
              <a:rPr lang="en-US" sz="600" dirty="0" smtClean="0"/>
              <a:t>String web = scontext.getInitParameter("website");</a:t>
            </a:r>
          </a:p>
          <a:p>
            <a:r>
              <a:rPr lang="en-US" sz="600" dirty="0" smtClean="0"/>
              <a:t>// 4.Do Processing</a:t>
            </a:r>
          </a:p>
          <a:p>
            <a:r>
              <a:rPr lang="en-US" sz="600" dirty="0" smtClean="0"/>
              <a:t>System.</a:t>
            </a:r>
            <a:r>
              <a:rPr lang="en-US" sz="600" b="1" i="1" dirty="0" smtClean="0"/>
              <a:t>out.println(fname);</a:t>
            </a:r>
          </a:p>
          <a:p>
            <a:r>
              <a:rPr lang="en-US" sz="600" dirty="0" smtClean="0"/>
              <a:t>System.</a:t>
            </a:r>
            <a:r>
              <a:rPr lang="en-US" sz="600" b="1" i="1" dirty="0" smtClean="0"/>
              <a:t>out.println(phone);</a:t>
            </a:r>
          </a:p>
          <a:p>
            <a:r>
              <a:rPr lang="en-US" sz="600" dirty="0" smtClean="0"/>
              <a:t>System.</a:t>
            </a:r>
            <a:r>
              <a:rPr lang="en-US" sz="600" b="1" i="1" dirty="0" smtClean="0"/>
              <a:t>out.println(email);</a:t>
            </a:r>
          </a:p>
          <a:p>
            <a:r>
              <a:rPr lang="en-US" sz="600" dirty="0" smtClean="0"/>
              <a:t>System.</a:t>
            </a:r>
            <a:r>
              <a:rPr lang="en-US" sz="600" b="1" i="1" dirty="0" smtClean="0"/>
              <a:t>out.println(web);</a:t>
            </a:r>
          </a:p>
          <a:p>
            <a:r>
              <a:rPr lang="en-US" sz="600" dirty="0" smtClean="0"/>
              <a:t>// 5.Send Response</a:t>
            </a:r>
          </a:p>
          <a:p>
            <a:r>
              <a:rPr lang="en-US" sz="600" dirty="0" smtClean="0"/>
              <a:t>response.setContentType("text/html");</a:t>
            </a:r>
          </a:p>
          <a:p>
            <a:r>
              <a:rPr lang="en-US" sz="600" dirty="0" smtClean="0"/>
              <a:t>PrintWriter out = response.getWriter();</a:t>
            </a:r>
          </a:p>
          <a:p>
            <a:r>
              <a:rPr lang="pt-BR" sz="600" dirty="0" smtClean="0"/>
              <a:t>out.print("&lt;h3&gt; &lt;u&gt;1.Request Parameters &lt;/u&gt; &lt;h3&gt;");</a:t>
            </a:r>
          </a:p>
          <a:p>
            <a:r>
              <a:rPr lang="en-US" sz="600" dirty="0" smtClean="0"/>
              <a:t>out.print("&lt;table&gt;");</a:t>
            </a:r>
          </a:p>
          <a:p>
            <a:r>
              <a:rPr lang="en-US" sz="600" dirty="0" smtClean="0"/>
              <a:t>out.print("&lt;tr&gt;");</a:t>
            </a:r>
          </a:p>
          <a:p>
            <a:r>
              <a:rPr lang="en-US" sz="600" dirty="0" smtClean="0"/>
              <a:t>out.print("&lt;td&gt; Full Name &lt;/td&gt;");</a:t>
            </a:r>
          </a:p>
          <a:p>
            <a:r>
              <a:rPr lang="en-US" sz="600" dirty="0" smtClean="0"/>
              <a:t>out.print("&lt;td&gt; " + fname + " &lt;/td&gt;");</a:t>
            </a:r>
          </a:p>
          <a:p>
            <a:r>
              <a:rPr lang="en-US" sz="600" dirty="0" smtClean="0"/>
              <a:t>out.print("&lt;/tr&gt;");</a:t>
            </a:r>
          </a:p>
          <a:p>
            <a:r>
              <a:rPr lang="en-US" sz="600" dirty="0" smtClean="0"/>
              <a:t>out.print("&lt;/table&gt;");</a:t>
            </a:r>
          </a:p>
          <a:p>
            <a:r>
              <a:rPr lang="pt-BR" sz="600" dirty="0" smtClean="0"/>
              <a:t>out.print("&lt;h3&gt; &lt;u&gt;2.Config Parameters &lt;/u&gt; &lt;h3&gt;");</a:t>
            </a:r>
          </a:p>
          <a:p>
            <a:r>
              <a:rPr lang="en-US" sz="600" dirty="0" smtClean="0"/>
              <a:t>out.print("&lt;table&gt;");</a:t>
            </a:r>
          </a:p>
          <a:p>
            <a:r>
              <a:rPr lang="en-US" sz="600" dirty="0" smtClean="0"/>
              <a:t>out.print("&lt;tr&gt;");</a:t>
            </a:r>
          </a:p>
          <a:p>
            <a:r>
              <a:rPr lang="en-US" sz="600" dirty="0" smtClean="0"/>
              <a:t>out.print("&lt;td&gt; Email&lt;/td&gt;");</a:t>
            </a:r>
          </a:p>
          <a:p>
            <a:r>
              <a:rPr lang="en-US" sz="600" dirty="0" smtClean="0"/>
              <a:t>out.print("&lt;td&gt; " + email + " &lt;/td&gt;");</a:t>
            </a:r>
          </a:p>
          <a:p>
            <a:r>
              <a:rPr lang="en-US" sz="600" dirty="0" smtClean="0"/>
              <a:t>out.print("&lt;/tr&gt;");</a:t>
            </a:r>
          </a:p>
          <a:p>
            <a:r>
              <a:rPr lang="en-US" sz="600" dirty="0" smtClean="0"/>
              <a:t>out.print("&lt;/table&gt;");</a:t>
            </a:r>
          </a:p>
          <a:p>
            <a:r>
              <a:rPr lang="pt-BR" sz="600" dirty="0" smtClean="0"/>
              <a:t>out.print("&lt;h3&gt; &lt;u&gt;3.Context Parameters &lt;/u&gt; &lt;h3&gt;");</a:t>
            </a:r>
          </a:p>
          <a:p>
            <a:r>
              <a:rPr lang="en-US" sz="600" dirty="0" smtClean="0"/>
              <a:t>out.print("&lt;table&gt;");</a:t>
            </a:r>
          </a:p>
          <a:p>
            <a:r>
              <a:rPr lang="en-US" sz="600" dirty="0" smtClean="0"/>
              <a:t>out.print("&lt;tr&gt;");</a:t>
            </a:r>
          </a:p>
          <a:p>
            <a:r>
              <a:rPr lang="en-US" sz="600" dirty="0" smtClean="0"/>
              <a:t>out.print("&lt;td&gt; Website &lt;/td&gt;");</a:t>
            </a:r>
          </a:p>
          <a:p>
            <a:r>
              <a:rPr lang="en-US" sz="600" dirty="0" smtClean="0"/>
              <a:t>out.print("&lt;td&gt; " + web + " &lt;/td&gt;");</a:t>
            </a:r>
          </a:p>
          <a:p>
            <a:r>
              <a:rPr lang="en-US" sz="600" dirty="0" smtClean="0"/>
              <a:t>out.print("&lt;/tr&gt;");</a:t>
            </a:r>
          </a:p>
          <a:p>
            <a:r>
              <a:rPr lang="en-US" sz="600" dirty="0" smtClean="0"/>
              <a:t>out.print("&lt;/table&gt;");</a:t>
            </a:r>
          </a:p>
          <a:p>
            <a:r>
              <a:rPr lang="en-US" sz="600" dirty="0" smtClean="0"/>
              <a:t>}</a:t>
            </a:r>
          </a:p>
          <a:p>
            <a:endParaRPr lang="en-US" sz="600" dirty="0" smtClean="0"/>
          </a:p>
          <a:p>
            <a:r>
              <a:rPr lang="en-US" sz="600" b="1" dirty="0" smtClean="0"/>
              <a:t>public void destroy() {</a:t>
            </a:r>
          </a:p>
          <a:p>
            <a:r>
              <a:rPr lang="en-US" sz="600" dirty="0" smtClean="0"/>
              <a:t>System.</a:t>
            </a:r>
            <a:r>
              <a:rPr lang="en-US" sz="600" b="1" i="1" dirty="0" smtClean="0"/>
              <a:t>out.println("HelloServlet - destroy()");</a:t>
            </a:r>
          </a:p>
          <a:p>
            <a:r>
              <a:rPr lang="en-US" sz="600" dirty="0" smtClean="0"/>
              <a:t>}</a:t>
            </a:r>
          </a:p>
          <a:p>
            <a:r>
              <a:rPr lang="en-US" sz="600" dirty="0" smtClean="0"/>
              <a:t>}</a:t>
            </a:r>
            <a:endParaRPr lang="en-US" sz="600" dirty="0"/>
          </a:p>
        </p:txBody>
      </p:sp>
      <p:sp>
        <p:nvSpPr>
          <p:cNvPr id="3" name="TextBox 2"/>
          <p:cNvSpPr txBox="1"/>
          <p:nvPr/>
        </p:nvSpPr>
        <p:spPr>
          <a:xfrm>
            <a:off x="4724400" y="685800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 smtClean="0">
                <a:solidFill>
                  <a:srgbClr val="FF0000"/>
                </a:solidFill>
              </a:rPr>
              <a:t>HelloServlet.java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79248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 smtClean="0"/>
              <a:t>package com.vrsec.servlets;</a:t>
            </a:r>
          </a:p>
          <a:p>
            <a:endParaRPr lang="en-US" sz="600" dirty="0" smtClean="0"/>
          </a:p>
          <a:p>
            <a:r>
              <a:rPr lang="en-US" sz="600" b="1" dirty="0" smtClean="0"/>
              <a:t>import java.io.IOException;</a:t>
            </a:r>
          </a:p>
          <a:p>
            <a:r>
              <a:rPr lang="en-US" sz="600" b="1" dirty="0" smtClean="0"/>
              <a:t>import java.io.PrintWriter;</a:t>
            </a:r>
          </a:p>
          <a:p>
            <a:r>
              <a:rPr lang="en-US" sz="600" b="1" dirty="0" smtClean="0"/>
              <a:t>import javax.servlet.ServletConfig;</a:t>
            </a:r>
          </a:p>
          <a:p>
            <a:r>
              <a:rPr lang="en-US" sz="600" b="1" dirty="0" smtClean="0"/>
              <a:t>import javax.servlet.ServletContext;</a:t>
            </a:r>
          </a:p>
          <a:p>
            <a:r>
              <a:rPr lang="en-US" sz="600" b="1" dirty="0" smtClean="0"/>
              <a:t>import javax.servlet.ServletException;</a:t>
            </a:r>
          </a:p>
          <a:p>
            <a:r>
              <a:rPr lang="en-US" sz="600" b="1" dirty="0" smtClean="0"/>
              <a:t>import javax.servlet.http.HttpServlet;</a:t>
            </a:r>
          </a:p>
          <a:p>
            <a:r>
              <a:rPr lang="en-US" sz="600" b="1" dirty="0" smtClean="0"/>
              <a:t>import javax.servlet.http.HttpServletRequest;</a:t>
            </a:r>
          </a:p>
          <a:p>
            <a:r>
              <a:rPr lang="en-US" sz="600" b="1" dirty="0" smtClean="0"/>
              <a:t>import javax.servlet.http.HttpServletResponse;</a:t>
            </a:r>
          </a:p>
          <a:p>
            <a:endParaRPr lang="en-US" sz="600" dirty="0" smtClean="0"/>
          </a:p>
          <a:p>
            <a:r>
              <a:rPr lang="en-US" sz="600" b="1" dirty="0" smtClean="0"/>
              <a:t>public class </a:t>
            </a:r>
            <a:r>
              <a:rPr lang="en-US" sz="600" b="1" u="sng" dirty="0" smtClean="0"/>
              <a:t>HaiServlet extends HttpServlet {</a:t>
            </a:r>
          </a:p>
          <a:p>
            <a:r>
              <a:rPr lang="en-US" sz="600" b="1" dirty="0" smtClean="0"/>
              <a:t>static {</a:t>
            </a:r>
          </a:p>
          <a:p>
            <a:r>
              <a:rPr lang="en-US" sz="600" dirty="0" smtClean="0"/>
              <a:t>System.</a:t>
            </a:r>
            <a:r>
              <a:rPr lang="en-US" sz="600" b="1" i="1" dirty="0" smtClean="0"/>
              <a:t>out.println("HaiServlet - S.B");</a:t>
            </a:r>
          </a:p>
          <a:p>
            <a:r>
              <a:rPr lang="en-US" sz="600" dirty="0" smtClean="0"/>
              <a:t>}</a:t>
            </a:r>
          </a:p>
          <a:p>
            <a:endParaRPr lang="en-US" sz="600" dirty="0" smtClean="0"/>
          </a:p>
          <a:p>
            <a:r>
              <a:rPr lang="en-US" sz="600" b="1" dirty="0" smtClean="0"/>
              <a:t>public HaiServlet() {</a:t>
            </a:r>
          </a:p>
          <a:p>
            <a:r>
              <a:rPr lang="en-US" sz="600" dirty="0" smtClean="0"/>
              <a:t>System.</a:t>
            </a:r>
            <a:r>
              <a:rPr lang="en-US" sz="600" b="1" i="1" dirty="0" smtClean="0"/>
              <a:t>out.println("HaiServlet - D.C");</a:t>
            </a:r>
          </a:p>
          <a:p>
            <a:r>
              <a:rPr lang="en-US" sz="600" dirty="0" smtClean="0"/>
              <a:t>}</a:t>
            </a:r>
          </a:p>
          <a:p>
            <a:endParaRPr lang="en-US" sz="600" dirty="0" smtClean="0"/>
          </a:p>
          <a:p>
            <a:r>
              <a:rPr lang="en-US" sz="600" b="1" dirty="0" smtClean="0"/>
              <a:t>public void init(ServletConfig sconfig) throws ServletException {</a:t>
            </a:r>
          </a:p>
          <a:p>
            <a:r>
              <a:rPr lang="en-US" sz="600" b="1" dirty="0" smtClean="0"/>
              <a:t>super.init(sconfig);</a:t>
            </a:r>
          </a:p>
          <a:p>
            <a:r>
              <a:rPr lang="en-US" sz="600" dirty="0" smtClean="0"/>
              <a:t>System.</a:t>
            </a:r>
            <a:r>
              <a:rPr lang="en-US" sz="600" b="1" i="1" dirty="0" smtClean="0"/>
              <a:t>out.println("HaiServlet - init()");</a:t>
            </a:r>
          </a:p>
          <a:p>
            <a:r>
              <a:rPr lang="en-US" sz="600" dirty="0" smtClean="0"/>
              <a:t>}</a:t>
            </a:r>
          </a:p>
          <a:p>
            <a:endParaRPr lang="en-US" sz="600" dirty="0" smtClean="0"/>
          </a:p>
          <a:p>
            <a:r>
              <a:rPr lang="en-US" sz="600" b="1" dirty="0" smtClean="0"/>
              <a:t>public void service(HttpServletRequest request, HttpServletResponse response) throws IOException, ServletException {</a:t>
            </a:r>
          </a:p>
          <a:p>
            <a:r>
              <a:rPr lang="en-US" sz="600" dirty="0" smtClean="0"/>
              <a:t>System.</a:t>
            </a:r>
            <a:r>
              <a:rPr lang="en-US" sz="600" b="1" i="1" dirty="0" smtClean="0"/>
              <a:t>out.println("HaiServlet - service()");</a:t>
            </a:r>
          </a:p>
          <a:p>
            <a:r>
              <a:rPr lang="en-US" sz="600" dirty="0" smtClean="0"/>
              <a:t>// 1.Collect Request </a:t>
            </a:r>
            <a:r>
              <a:rPr lang="en-US" sz="600" u="sng" dirty="0" smtClean="0"/>
              <a:t>Params</a:t>
            </a:r>
          </a:p>
          <a:p>
            <a:r>
              <a:rPr lang="en-US" sz="600" dirty="0" smtClean="0"/>
              <a:t>String fname = request.getParameter("fname");// null</a:t>
            </a:r>
          </a:p>
          <a:p>
            <a:r>
              <a:rPr lang="en-US" sz="600" dirty="0" smtClean="0"/>
              <a:t>String phone = request.getParameter("phone"); </a:t>
            </a:r>
          </a:p>
          <a:p>
            <a:r>
              <a:rPr lang="en-US" sz="600" dirty="0" smtClean="0"/>
              <a:t>// 2.Collect </a:t>
            </a:r>
            <a:r>
              <a:rPr lang="en-US" sz="600" u="sng" dirty="0" smtClean="0"/>
              <a:t>Config Params</a:t>
            </a:r>
          </a:p>
          <a:p>
            <a:r>
              <a:rPr lang="en-US" sz="600" dirty="0" smtClean="0"/>
              <a:t>ServletConfig sconfig = getServletConfig();</a:t>
            </a:r>
          </a:p>
          <a:p>
            <a:r>
              <a:rPr lang="en-US" sz="600" dirty="0" smtClean="0"/>
              <a:t>String email = sconfig.getInitParameter("email");</a:t>
            </a:r>
          </a:p>
          <a:p>
            <a:r>
              <a:rPr lang="en-US" sz="600" dirty="0" smtClean="0"/>
              <a:t>// 3.Collect Context </a:t>
            </a:r>
            <a:r>
              <a:rPr lang="en-US" sz="600" u="sng" dirty="0" smtClean="0"/>
              <a:t>Params</a:t>
            </a:r>
          </a:p>
          <a:p>
            <a:r>
              <a:rPr lang="en-US" sz="600" dirty="0" smtClean="0"/>
              <a:t>ServletContext scontext = sconfig.getServletContext();</a:t>
            </a:r>
          </a:p>
          <a:p>
            <a:r>
              <a:rPr lang="en-US" sz="600" dirty="0" smtClean="0"/>
              <a:t>String web = scontext.getInitParameter("website");</a:t>
            </a:r>
          </a:p>
          <a:p>
            <a:r>
              <a:rPr lang="en-US" sz="600" dirty="0" smtClean="0"/>
              <a:t>// 4.Do Processing</a:t>
            </a:r>
          </a:p>
          <a:p>
            <a:r>
              <a:rPr lang="en-US" sz="600" dirty="0" smtClean="0"/>
              <a:t>System.</a:t>
            </a:r>
            <a:r>
              <a:rPr lang="en-US" sz="600" b="1" i="1" dirty="0" smtClean="0"/>
              <a:t>out.println(fname);</a:t>
            </a:r>
          </a:p>
          <a:p>
            <a:r>
              <a:rPr lang="en-US" sz="600" dirty="0" smtClean="0"/>
              <a:t>System.</a:t>
            </a:r>
            <a:r>
              <a:rPr lang="en-US" sz="600" b="1" i="1" dirty="0" smtClean="0"/>
              <a:t>out.println(phone);</a:t>
            </a:r>
          </a:p>
          <a:p>
            <a:r>
              <a:rPr lang="en-US" sz="600" dirty="0" smtClean="0"/>
              <a:t>System.</a:t>
            </a:r>
            <a:r>
              <a:rPr lang="en-US" sz="600" b="1" i="1" dirty="0" smtClean="0"/>
              <a:t>out.println(email);</a:t>
            </a:r>
          </a:p>
          <a:p>
            <a:r>
              <a:rPr lang="en-US" sz="600" dirty="0" smtClean="0"/>
              <a:t>System.</a:t>
            </a:r>
            <a:r>
              <a:rPr lang="en-US" sz="600" b="1" i="1" dirty="0" smtClean="0"/>
              <a:t>out.println(web);</a:t>
            </a:r>
          </a:p>
          <a:p>
            <a:r>
              <a:rPr lang="en-US" sz="600" dirty="0" smtClean="0"/>
              <a:t>// 5.Send Response</a:t>
            </a:r>
          </a:p>
          <a:p>
            <a:r>
              <a:rPr lang="en-US" sz="600" dirty="0" smtClean="0"/>
              <a:t>response.setContentType("text/html");</a:t>
            </a:r>
          </a:p>
          <a:p>
            <a:r>
              <a:rPr lang="en-US" sz="600" dirty="0" smtClean="0"/>
              <a:t>PrintWriter out = response.getWriter();</a:t>
            </a:r>
          </a:p>
          <a:p>
            <a:r>
              <a:rPr lang="pt-BR" sz="600" dirty="0" smtClean="0"/>
              <a:t>out.print("&lt;h3&gt; &lt;u&gt;1.Request Parameters &lt;/u&gt; &lt;h3&gt;");</a:t>
            </a:r>
          </a:p>
          <a:p>
            <a:r>
              <a:rPr lang="en-US" sz="600" dirty="0" smtClean="0"/>
              <a:t>out.print("&lt;table&gt;");</a:t>
            </a:r>
          </a:p>
          <a:p>
            <a:r>
              <a:rPr lang="en-US" sz="600" dirty="0" smtClean="0"/>
              <a:t>out.print("&lt;tr&gt;");</a:t>
            </a:r>
          </a:p>
          <a:p>
            <a:r>
              <a:rPr lang="en-US" sz="600" dirty="0" smtClean="0"/>
              <a:t>out.print("&lt;td&gt; Phone &lt;/td&gt;");</a:t>
            </a:r>
          </a:p>
          <a:p>
            <a:r>
              <a:rPr lang="en-US" sz="600" dirty="0" smtClean="0"/>
              <a:t>out.print("&lt;td&gt; " + phone + " &lt;/td&gt;");</a:t>
            </a:r>
          </a:p>
          <a:p>
            <a:r>
              <a:rPr lang="en-US" sz="600" dirty="0" smtClean="0"/>
              <a:t>out.print("&lt;/tr&gt;");</a:t>
            </a:r>
          </a:p>
          <a:p>
            <a:r>
              <a:rPr lang="en-US" sz="600" dirty="0" smtClean="0"/>
              <a:t>out.print("&lt;/table&gt;");</a:t>
            </a:r>
          </a:p>
          <a:p>
            <a:r>
              <a:rPr lang="pt-BR" sz="600" dirty="0" smtClean="0"/>
              <a:t>out.print("&lt;h3&gt; &lt;u&gt;2.Config Parameters &lt;/u&gt; &lt;h3&gt;");</a:t>
            </a:r>
          </a:p>
          <a:p>
            <a:r>
              <a:rPr lang="en-US" sz="600" dirty="0" smtClean="0"/>
              <a:t>out.print("&lt;table&gt;");</a:t>
            </a:r>
          </a:p>
          <a:p>
            <a:r>
              <a:rPr lang="en-US" sz="600" dirty="0" smtClean="0"/>
              <a:t>out.print("&lt;tr&gt;");</a:t>
            </a:r>
          </a:p>
          <a:p>
            <a:r>
              <a:rPr lang="en-US" sz="600" dirty="0" smtClean="0"/>
              <a:t>out.print("&lt;td&gt; Email&lt;/td&gt;");</a:t>
            </a:r>
          </a:p>
          <a:p>
            <a:r>
              <a:rPr lang="en-US" sz="600" dirty="0" smtClean="0"/>
              <a:t>out.print("&lt;td&gt; " + email + " &lt;/td&gt;");</a:t>
            </a:r>
          </a:p>
          <a:p>
            <a:r>
              <a:rPr lang="en-US" sz="600" dirty="0" smtClean="0"/>
              <a:t>out.print("&lt;/tr&gt;");</a:t>
            </a:r>
          </a:p>
          <a:p>
            <a:r>
              <a:rPr lang="en-US" sz="600" dirty="0" smtClean="0"/>
              <a:t>out.print("&lt;/table&gt;");</a:t>
            </a:r>
          </a:p>
          <a:p>
            <a:r>
              <a:rPr lang="pt-BR" sz="600" dirty="0" smtClean="0"/>
              <a:t>out.print("&lt;h3&gt; &lt;u&gt;3.Context Parameters &lt;/u&gt; &lt;h3&gt;");</a:t>
            </a:r>
          </a:p>
          <a:p>
            <a:r>
              <a:rPr lang="en-US" sz="600" dirty="0" smtClean="0"/>
              <a:t>out.print("&lt;table&gt;");</a:t>
            </a:r>
          </a:p>
          <a:p>
            <a:r>
              <a:rPr lang="en-US" sz="600" dirty="0" smtClean="0"/>
              <a:t>out.print("&lt;tr&gt;");</a:t>
            </a:r>
          </a:p>
          <a:p>
            <a:r>
              <a:rPr lang="en-US" sz="600" dirty="0" smtClean="0"/>
              <a:t>out.print("&lt;td&gt; Website &lt;/td&gt;");</a:t>
            </a:r>
          </a:p>
          <a:p>
            <a:r>
              <a:rPr lang="en-US" sz="600" dirty="0" smtClean="0"/>
              <a:t>out.print("&lt;td&gt; " + web + " &lt;/td&gt;");</a:t>
            </a:r>
          </a:p>
          <a:p>
            <a:r>
              <a:rPr lang="en-US" sz="600" dirty="0" smtClean="0"/>
              <a:t>out.print("&lt;/tr&gt;");</a:t>
            </a:r>
          </a:p>
          <a:p>
            <a:r>
              <a:rPr lang="en-US" sz="600" dirty="0" smtClean="0"/>
              <a:t>out.print("&lt;/table&gt;");</a:t>
            </a:r>
          </a:p>
          <a:p>
            <a:r>
              <a:rPr lang="en-US" sz="600" dirty="0" smtClean="0"/>
              <a:t>}</a:t>
            </a:r>
          </a:p>
          <a:p>
            <a:endParaRPr lang="en-US" sz="600" dirty="0" smtClean="0"/>
          </a:p>
          <a:p>
            <a:r>
              <a:rPr lang="en-US" sz="600" b="1" dirty="0" smtClean="0"/>
              <a:t>public void destroy() {</a:t>
            </a:r>
          </a:p>
          <a:p>
            <a:r>
              <a:rPr lang="en-US" sz="600" dirty="0" smtClean="0"/>
              <a:t>System.</a:t>
            </a:r>
            <a:r>
              <a:rPr lang="en-US" sz="600" b="1" i="1" dirty="0" smtClean="0"/>
              <a:t>out.println("HaiServlet - destroy()");</a:t>
            </a:r>
          </a:p>
          <a:p>
            <a:r>
              <a:rPr lang="en-US" sz="600" dirty="0" smtClean="0"/>
              <a:t>}</a:t>
            </a:r>
          </a:p>
          <a:p>
            <a:r>
              <a:rPr lang="en-US" sz="600" dirty="0" smtClean="0"/>
              <a:t>}</a:t>
            </a:r>
          </a:p>
          <a:p>
            <a:endParaRPr lang="en-US" sz="600" dirty="0"/>
          </a:p>
        </p:txBody>
      </p:sp>
      <p:sp>
        <p:nvSpPr>
          <p:cNvPr id="3" name="TextBox 2"/>
          <p:cNvSpPr txBox="1"/>
          <p:nvPr/>
        </p:nvSpPr>
        <p:spPr>
          <a:xfrm>
            <a:off x="5105400" y="914400"/>
            <a:ext cx="3429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 smtClean="0">
                <a:solidFill>
                  <a:srgbClr val="FF0000"/>
                </a:solidFill>
              </a:rPr>
              <a:t>HaiServlet.java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746760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&lt;?xml version=</a:t>
            </a:r>
            <a:r>
              <a:rPr lang="en-US" sz="1200" i="1" dirty="0" smtClean="0"/>
              <a:t>"1.0" encoding="UTF-8"?&gt;</a:t>
            </a:r>
          </a:p>
          <a:p>
            <a:r>
              <a:rPr lang="en-US" sz="1200" dirty="0" smtClean="0"/>
              <a:t>&lt;web-app xmlns:xsi=</a:t>
            </a:r>
            <a:r>
              <a:rPr lang="en-US" sz="1200" i="1" dirty="0" smtClean="0"/>
              <a:t>"http://www.w3.org/2001/XMLSchema-instance"</a:t>
            </a:r>
          </a:p>
          <a:p>
            <a:r>
              <a:rPr lang="en-US" sz="1200" dirty="0" smtClean="0"/>
              <a:t>xmlns=</a:t>
            </a:r>
            <a:r>
              <a:rPr lang="en-US" sz="1200" i="1" dirty="0" smtClean="0"/>
              <a:t>"http://xmlns.jcp.org/xml/ns/javaee"</a:t>
            </a:r>
          </a:p>
          <a:p>
            <a:r>
              <a:rPr lang="en-US" sz="1200" dirty="0" smtClean="0"/>
              <a:t>xsi:schemaLocation=</a:t>
            </a:r>
            <a:r>
              <a:rPr lang="en-US" sz="1200" i="1" dirty="0" smtClean="0"/>
              <a:t>"http://xmlns.jcp.org/xml/ns/javaee http://xmlns.jcp.org/xml/ns/javaee/web-app_3_1.xsd"</a:t>
            </a:r>
          </a:p>
          <a:p>
            <a:r>
              <a:rPr lang="en-US" sz="1200" dirty="0" smtClean="0"/>
              <a:t>id=</a:t>
            </a:r>
            <a:r>
              <a:rPr lang="en-US" sz="1200" i="1" dirty="0" smtClean="0"/>
              <a:t>"WebApp_ID" version="3.1"&gt;</a:t>
            </a:r>
          </a:p>
          <a:p>
            <a:r>
              <a:rPr lang="en-US" sz="1200" dirty="0" smtClean="0"/>
              <a:t>&lt;display-name&gt;mylab7&lt;/display-name&gt;</a:t>
            </a:r>
          </a:p>
          <a:p>
            <a:r>
              <a:rPr lang="en-US" sz="1200" dirty="0" smtClean="0"/>
              <a:t>&lt;welcome-file-list&gt;</a:t>
            </a:r>
          </a:p>
          <a:p>
            <a:r>
              <a:rPr lang="en-US" sz="1200" dirty="0" smtClean="0"/>
              <a:t>&lt;welcome-file&gt;index.html&lt;/welcome-file&gt;</a:t>
            </a:r>
          </a:p>
          <a:p>
            <a:r>
              <a:rPr lang="en-US" sz="1200" dirty="0" smtClean="0"/>
              <a:t>&lt;/welcome-file-list&gt;</a:t>
            </a:r>
          </a:p>
          <a:p>
            <a:r>
              <a:rPr lang="en-US" sz="1200" dirty="0" smtClean="0"/>
              <a:t>&lt;context-param&gt;</a:t>
            </a:r>
          </a:p>
          <a:p>
            <a:r>
              <a:rPr lang="en-US" sz="1200" dirty="0" smtClean="0"/>
              <a:t>&lt;param-name&gt;</a:t>
            </a:r>
            <a:r>
              <a:rPr lang="en-US" sz="1200" u="sng" dirty="0" smtClean="0"/>
              <a:t>website&lt;/param-name&gt;</a:t>
            </a:r>
          </a:p>
          <a:p>
            <a:r>
              <a:rPr lang="en-US" sz="1200" dirty="0" smtClean="0"/>
              <a:t>&lt;param-value&gt;www.mycompany.com&lt;/param-value&gt;</a:t>
            </a:r>
          </a:p>
          <a:p>
            <a:r>
              <a:rPr lang="en-US" sz="1200" dirty="0" smtClean="0"/>
              <a:t>&lt;/context-param&gt;</a:t>
            </a:r>
          </a:p>
          <a:p>
            <a:r>
              <a:rPr lang="en-US" sz="1200" dirty="0" smtClean="0"/>
              <a:t>&lt;servlet&gt;</a:t>
            </a:r>
          </a:p>
          <a:p>
            <a:r>
              <a:rPr lang="en-US" sz="1200" dirty="0" smtClean="0"/>
              <a:t>&lt;servlet-name&gt;hello&lt;/servlet-name&gt;</a:t>
            </a:r>
          </a:p>
          <a:p>
            <a:r>
              <a:rPr lang="en-US" sz="1200" dirty="0" smtClean="0"/>
              <a:t>&lt;servlet-class&gt;com.vrsec.servlets.HelloServlet&lt;/servlet-class&gt;</a:t>
            </a:r>
          </a:p>
          <a:p>
            <a:r>
              <a:rPr lang="en-US" sz="1200" dirty="0" smtClean="0"/>
              <a:t>&lt;init-param&gt;</a:t>
            </a:r>
          </a:p>
          <a:p>
            <a:r>
              <a:rPr lang="en-US" sz="1200" dirty="0" smtClean="0"/>
              <a:t>&lt;param-name&gt;email&lt;/param-name&gt;</a:t>
            </a:r>
          </a:p>
          <a:p>
            <a:r>
              <a:rPr lang="en-US" sz="1200" dirty="0" smtClean="0"/>
              <a:t>&lt;param-value&gt;hello</a:t>
            </a:r>
            <a:r>
              <a:rPr lang="en-US" sz="1200" u="sng" dirty="0" smtClean="0"/>
              <a:t>@hello.com&lt;/param-value&gt;</a:t>
            </a:r>
          </a:p>
          <a:p>
            <a:r>
              <a:rPr lang="en-US" sz="1200" dirty="0" smtClean="0"/>
              <a:t>&lt;/init-param&gt;</a:t>
            </a:r>
          </a:p>
          <a:p>
            <a:r>
              <a:rPr lang="en-US" sz="1200" dirty="0" smtClean="0"/>
              <a:t>&lt;/servlet&gt;</a:t>
            </a:r>
          </a:p>
          <a:p>
            <a:r>
              <a:rPr lang="en-US" sz="1200" dirty="0" smtClean="0"/>
              <a:t>&lt;servlet-mapping&gt;</a:t>
            </a:r>
          </a:p>
          <a:p>
            <a:r>
              <a:rPr lang="en-US" sz="1200" dirty="0" smtClean="0"/>
              <a:t>&lt;servlet-name&gt;hello&lt;/servlet-name&gt;</a:t>
            </a:r>
          </a:p>
          <a:p>
            <a:r>
              <a:rPr lang="en-US" sz="1200" dirty="0" smtClean="0"/>
              <a:t>&lt;url-pattern&gt;/hello&lt;/url-pattern&gt;</a:t>
            </a:r>
          </a:p>
          <a:p>
            <a:r>
              <a:rPr lang="en-US" sz="1200" dirty="0" smtClean="0"/>
              <a:t>&lt;/servlet-mapping&gt;</a:t>
            </a:r>
          </a:p>
          <a:p>
            <a:r>
              <a:rPr lang="en-US" sz="1200" dirty="0" smtClean="0"/>
              <a:t>&lt;servlet&gt;</a:t>
            </a:r>
          </a:p>
          <a:p>
            <a:r>
              <a:rPr lang="en-US" sz="1200" dirty="0" smtClean="0"/>
              <a:t>&lt;servlet-name&gt;</a:t>
            </a:r>
            <a:r>
              <a:rPr lang="en-US" sz="1200" u="sng" dirty="0" smtClean="0"/>
              <a:t>hai&lt;/servlet-name&gt;</a:t>
            </a:r>
          </a:p>
          <a:p>
            <a:r>
              <a:rPr lang="en-US" sz="1200" dirty="0" smtClean="0"/>
              <a:t>&lt;servlet-class&gt;com.vrsec.servlets.HaiServlet&lt;/servlet-class&gt;</a:t>
            </a:r>
          </a:p>
          <a:p>
            <a:r>
              <a:rPr lang="en-US" sz="1200" dirty="0" smtClean="0"/>
              <a:t>&lt;init-param&gt;</a:t>
            </a:r>
          </a:p>
          <a:p>
            <a:r>
              <a:rPr lang="en-US" sz="1200" dirty="0" smtClean="0"/>
              <a:t>&lt;param-name&gt;email&lt;/param-name&gt;</a:t>
            </a:r>
          </a:p>
          <a:p>
            <a:r>
              <a:rPr lang="en-US" sz="1200" dirty="0" smtClean="0"/>
              <a:t>&lt;param-value&gt;</a:t>
            </a:r>
            <a:r>
              <a:rPr lang="en-US" sz="1200" u="sng" dirty="0" smtClean="0"/>
              <a:t>hai@hai.com&lt;/param-value&gt;</a:t>
            </a:r>
          </a:p>
          <a:p>
            <a:r>
              <a:rPr lang="en-US" sz="1200" dirty="0" smtClean="0"/>
              <a:t>&lt;/init-param&gt;</a:t>
            </a:r>
          </a:p>
          <a:p>
            <a:r>
              <a:rPr lang="en-US" sz="1200" dirty="0" smtClean="0"/>
              <a:t>&lt;/servlet&gt;</a:t>
            </a:r>
          </a:p>
          <a:p>
            <a:r>
              <a:rPr lang="en-US" sz="1200" dirty="0" smtClean="0"/>
              <a:t>&lt;servlet-mapping&gt;</a:t>
            </a:r>
          </a:p>
          <a:p>
            <a:r>
              <a:rPr lang="en-US" sz="1200" dirty="0" smtClean="0"/>
              <a:t>&lt;servlet-name&gt;</a:t>
            </a:r>
            <a:r>
              <a:rPr lang="en-US" sz="1200" u="sng" dirty="0" smtClean="0"/>
              <a:t>hai&lt;/servlet-name&gt;</a:t>
            </a:r>
          </a:p>
          <a:p>
            <a:r>
              <a:rPr lang="en-US" sz="1200" dirty="0" smtClean="0"/>
              <a:t>&lt;url-pattern&gt;/</a:t>
            </a:r>
            <a:r>
              <a:rPr lang="en-US" sz="1200" u="sng" dirty="0" smtClean="0"/>
              <a:t>hai&lt;/url-pattern&gt;</a:t>
            </a:r>
          </a:p>
          <a:p>
            <a:r>
              <a:rPr lang="en-US" sz="1200" dirty="0" smtClean="0"/>
              <a:t>&lt;/servlet-mapping&gt;</a:t>
            </a:r>
          </a:p>
          <a:p>
            <a:r>
              <a:rPr lang="en-US" sz="1200" dirty="0" smtClean="0"/>
              <a:t>&lt;/web-app&gt;</a:t>
            </a:r>
            <a:endParaRPr lang="en-US" sz="12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0" y="2286000"/>
            <a:ext cx="3200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 smtClean="0">
                <a:solidFill>
                  <a:srgbClr val="FF0000"/>
                </a:solidFill>
              </a:rPr>
              <a:t>web.xml</a:t>
            </a:r>
            <a:endParaRPr lang="en-US" sz="4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304800"/>
            <a:ext cx="67341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85800" y="1143000"/>
            <a:ext cx="7772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smtClean="0"/>
              <a:t>Here initialized means all 3 , loading , instantiation , initialization</a:t>
            </a:r>
            <a:endParaRPr lang="en-US" sz="3200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2590800"/>
            <a:ext cx="672465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09600" y="3048000"/>
            <a:ext cx="7772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&lt;load-on-startup&gt;1&lt;/load-on-startup&gt;  </a:t>
            </a:r>
          </a:p>
          <a:p>
            <a:endParaRPr lang="en-US" sz="3600" b="1" dirty="0" smtClean="0"/>
          </a:p>
          <a:p>
            <a:r>
              <a:rPr lang="en-US" sz="3600" b="1" dirty="0" smtClean="0"/>
              <a:t>in xml file</a:t>
            </a:r>
          </a:p>
          <a:p>
            <a:r>
              <a:rPr lang="en-IN" sz="3600" b="1" dirty="0" smtClean="0"/>
              <a:t>(Or )</a:t>
            </a:r>
          </a:p>
          <a:p>
            <a:r>
              <a:rPr lang="en-IN" sz="3600" dirty="0" smtClean="0"/>
              <a:t>Using annotation , by using </a:t>
            </a:r>
            <a:r>
              <a:rPr lang="en-US" sz="3600" dirty="0" smtClean="0"/>
              <a:t>loadOnStartup = 2 </a:t>
            </a:r>
          </a:p>
          <a:p>
            <a:r>
              <a:rPr lang="en-US" sz="3600" dirty="0" smtClean="0"/>
              <a:t>attribute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76200"/>
            <a:ext cx="83058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&lt;!DOCTYPE html&gt;</a:t>
            </a:r>
          </a:p>
          <a:p>
            <a:r>
              <a:rPr lang="en-US" sz="1200" dirty="0" smtClean="0"/>
              <a:t>&lt;html&gt;</a:t>
            </a:r>
          </a:p>
          <a:p>
            <a:r>
              <a:rPr lang="en-US" sz="1200" dirty="0" smtClean="0"/>
              <a:t>&lt;head&gt;</a:t>
            </a:r>
          </a:p>
          <a:p>
            <a:r>
              <a:rPr lang="en-US" sz="1200" dirty="0" smtClean="0"/>
              <a:t>&lt;title&gt;Welcome to Web </a:t>
            </a:r>
            <a:r>
              <a:rPr lang="en-US" sz="1200" u="sng" dirty="0" smtClean="0"/>
              <a:t>App&lt;/title&gt;</a:t>
            </a:r>
          </a:p>
          <a:p>
            <a:r>
              <a:rPr lang="en-US" sz="1200" dirty="0" smtClean="0"/>
              <a:t>&lt;/head&gt;</a:t>
            </a:r>
          </a:p>
          <a:p>
            <a:r>
              <a:rPr lang="en-US" sz="1200" dirty="0" smtClean="0"/>
              <a:t>&lt;body&gt;</a:t>
            </a:r>
          </a:p>
          <a:p>
            <a:r>
              <a:rPr lang="pt-BR" sz="1200" dirty="0" smtClean="0"/>
              <a:t>&lt;h2&gt;Welcome to Java </a:t>
            </a:r>
            <a:r>
              <a:rPr lang="pt-BR" sz="1200" u="sng" dirty="0" smtClean="0"/>
              <a:t>Servlets&lt;/h2&gt;</a:t>
            </a:r>
          </a:p>
          <a:p>
            <a:r>
              <a:rPr lang="en-US" sz="1200" dirty="0" smtClean="0"/>
              <a:t>&lt;h3&gt;Hello Form&lt;/h3&gt;</a:t>
            </a:r>
          </a:p>
          <a:p>
            <a:r>
              <a:rPr lang="en-US" sz="1200" dirty="0" smtClean="0"/>
              <a:t>&lt;form action=</a:t>
            </a:r>
            <a:r>
              <a:rPr lang="en-US" sz="1200" i="1" dirty="0" smtClean="0"/>
              <a:t>"hello"&gt;</a:t>
            </a:r>
          </a:p>
          <a:p>
            <a:r>
              <a:rPr lang="en-US" sz="1200" dirty="0" smtClean="0"/>
              <a:t>&lt;table&gt;</a:t>
            </a:r>
          </a:p>
          <a:p>
            <a:r>
              <a:rPr lang="en-US" sz="1200" dirty="0" smtClean="0"/>
              <a:t>&lt;tr&gt;</a:t>
            </a:r>
          </a:p>
          <a:p>
            <a:r>
              <a:rPr lang="en-US" sz="1200" dirty="0" smtClean="0"/>
              <a:t>&lt;td&gt;Full Name&lt;/td&gt;</a:t>
            </a:r>
          </a:p>
          <a:p>
            <a:r>
              <a:rPr lang="en-US" sz="1200" dirty="0" smtClean="0"/>
              <a:t>&lt;td&gt;&lt;input type=</a:t>
            </a:r>
            <a:r>
              <a:rPr lang="en-US" sz="1200" i="1" dirty="0" smtClean="0"/>
              <a:t>"text" name="fname" /&gt;&lt;/td&gt;</a:t>
            </a:r>
          </a:p>
          <a:p>
            <a:r>
              <a:rPr lang="en-US" sz="1200" dirty="0" smtClean="0"/>
              <a:t>&lt;/tr&gt;</a:t>
            </a:r>
          </a:p>
          <a:p>
            <a:r>
              <a:rPr lang="en-US" sz="1200" dirty="0" smtClean="0"/>
              <a:t>&lt;tr&gt;</a:t>
            </a:r>
          </a:p>
          <a:p>
            <a:r>
              <a:rPr lang="en-US" sz="1200" dirty="0" smtClean="0"/>
              <a:t>&lt;td colspan=</a:t>
            </a:r>
            <a:r>
              <a:rPr lang="en-US" sz="1200" i="1" dirty="0" smtClean="0"/>
              <a:t>"2" align="center"&gt;&lt;input type="submit"</a:t>
            </a:r>
          </a:p>
          <a:p>
            <a:r>
              <a:rPr lang="en-US" sz="1200" dirty="0" smtClean="0"/>
              <a:t>value=</a:t>
            </a:r>
            <a:r>
              <a:rPr lang="en-US" sz="1200" i="1" dirty="0" smtClean="0"/>
              <a:t>"Submit" /&gt;&lt;/td&gt;</a:t>
            </a:r>
          </a:p>
          <a:p>
            <a:r>
              <a:rPr lang="en-US" sz="1200" dirty="0" smtClean="0"/>
              <a:t>&lt;/tr&gt;</a:t>
            </a:r>
          </a:p>
          <a:p>
            <a:r>
              <a:rPr lang="en-US" sz="1200" dirty="0" smtClean="0"/>
              <a:t>&lt;/table&gt;</a:t>
            </a:r>
          </a:p>
          <a:p>
            <a:r>
              <a:rPr lang="en-US" sz="1200" dirty="0" smtClean="0"/>
              <a:t>&lt;/form&gt;</a:t>
            </a:r>
          </a:p>
          <a:p>
            <a:r>
              <a:rPr lang="en-US" sz="1200" dirty="0" smtClean="0"/>
              <a:t>&lt;!-- this web page has two forms , it is valid  --&gt;</a:t>
            </a:r>
          </a:p>
          <a:p>
            <a:r>
              <a:rPr lang="en-US" sz="1200" dirty="0" smtClean="0"/>
              <a:t>&lt;h3&gt;</a:t>
            </a:r>
            <a:r>
              <a:rPr lang="en-US" sz="1200" u="sng" dirty="0" smtClean="0"/>
              <a:t>Hai Form&lt;/h3&gt;</a:t>
            </a:r>
          </a:p>
          <a:p>
            <a:r>
              <a:rPr lang="en-US" sz="1200" dirty="0" smtClean="0"/>
              <a:t>&lt;form action=</a:t>
            </a:r>
            <a:r>
              <a:rPr lang="en-US" sz="1200" i="1" dirty="0" smtClean="0"/>
              <a:t>"hai"&gt;</a:t>
            </a:r>
          </a:p>
          <a:p>
            <a:r>
              <a:rPr lang="en-US" sz="1200" dirty="0" smtClean="0"/>
              <a:t>&lt;table&gt;</a:t>
            </a:r>
          </a:p>
          <a:p>
            <a:r>
              <a:rPr lang="en-US" sz="1200" dirty="0" smtClean="0"/>
              <a:t>&lt;tr&gt;</a:t>
            </a:r>
          </a:p>
          <a:p>
            <a:r>
              <a:rPr lang="en-US" sz="1200" dirty="0" smtClean="0"/>
              <a:t>&lt;td&gt;Phone&lt;/td&gt;</a:t>
            </a:r>
          </a:p>
          <a:p>
            <a:r>
              <a:rPr lang="en-US" sz="1200" dirty="0" smtClean="0"/>
              <a:t>&lt;td&gt;&lt;input type=</a:t>
            </a:r>
            <a:r>
              <a:rPr lang="en-US" sz="1200" i="1" dirty="0" smtClean="0"/>
              <a:t>"text" name="phone" /&gt;&lt;/td&gt;</a:t>
            </a:r>
          </a:p>
          <a:p>
            <a:r>
              <a:rPr lang="en-US" sz="1200" dirty="0" smtClean="0"/>
              <a:t>&lt;/tr&gt;</a:t>
            </a:r>
          </a:p>
          <a:p>
            <a:r>
              <a:rPr lang="en-US" sz="1200" dirty="0" smtClean="0"/>
              <a:t>&lt;tr&gt;</a:t>
            </a:r>
          </a:p>
          <a:p>
            <a:r>
              <a:rPr lang="en-US" sz="1200" dirty="0" smtClean="0"/>
              <a:t>&lt;td colspan=</a:t>
            </a:r>
            <a:r>
              <a:rPr lang="en-US" sz="1200" i="1" dirty="0" smtClean="0"/>
              <a:t>"2" align="center"&gt;&lt;input type="submit"</a:t>
            </a:r>
          </a:p>
          <a:p>
            <a:r>
              <a:rPr lang="en-US" sz="1200" dirty="0" smtClean="0"/>
              <a:t>value=</a:t>
            </a:r>
            <a:r>
              <a:rPr lang="en-US" sz="1200" i="1" dirty="0" smtClean="0"/>
              <a:t>"Submit" /&gt;&lt;/td&gt;</a:t>
            </a:r>
          </a:p>
          <a:p>
            <a:r>
              <a:rPr lang="en-US" sz="1200" dirty="0" smtClean="0"/>
              <a:t>&lt;/tr&gt;</a:t>
            </a:r>
          </a:p>
          <a:p>
            <a:r>
              <a:rPr lang="en-US" sz="1200" dirty="0" smtClean="0"/>
              <a:t>&lt;/table&gt;</a:t>
            </a:r>
          </a:p>
          <a:p>
            <a:r>
              <a:rPr lang="en-US" sz="1200" dirty="0" smtClean="0"/>
              <a:t>&lt;/form&gt;</a:t>
            </a:r>
          </a:p>
          <a:p>
            <a:r>
              <a:rPr lang="en-US" sz="1200" dirty="0" smtClean="0"/>
              <a:t>&lt;/body&gt;</a:t>
            </a:r>
          </a:p>
          <a:p>
            <a:r>
              <a:rPr lang="en-US" sz="1200" dirty="0" smtClean="0"/>
              <a:t>&lt;/html&gt;</a:t>
            </a:r>
            <a:endParaRPr lang="en-US" sz="1200" dirty="0"/>
          </a:p>
        </p:txBody>
      </p:sp>
      <p:sp>
        <p:nvSpPr>
          <p:cNvPr id="3" name="TextBox 2"/>
          <p:cNvSpPr txBox="1"/>
          <p:nvPr/>
        </p:nvSpPr>
        <p:spPr>
          <a:xfrm>
            <a:off x="5105400" y="609600"/>
            <a:ext cx="3581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i="1" u="sng" dirty="0" smtClean="0">
                <a:solidFill>
                  <a:srgbClr val="FF0000"/>
                </a:solidFill>
              </a:rPr>
              <a:t>mylab8</a:t>
            </a:r>
          </a:p>
          <a:p>
            <a:r>
              <a:rPr lang="en-IN" sz="4400" dirty="0" smtClean="0">
                <a:solidFill>
                  <a:srgbClr val="FF0000"/>
                </a:solidFill>
              </a:rPr>
              <a:t>index.html</a:t>
            </a:r>
            <a:endParaRPr lang="en-US" sz="4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6858000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/>
              <a:t>package </a:t>
            </a:r>
            <a:r>
              <a:rPr lang="en-US" sz="600" dirty="0" err="1" smtClean="0"/>
              <a:t>com.vrsec.servlets</a:t>
            </a:r>
            <a:r>
              <a:rPr lang="en-US" sz="600" dirty="0" smtClean="0"/>
              <a:t>;</a:t>
            </a:r>
          </a:p>
          <a:p>
            <a:endParaRPr lang="en-US" sz="600" dirty="0" smtClean="0"/>
          </a:p>
          <a:p>
            <a:r>
              <a:rPr lang="en-US" sz="600" dirty="0" smtClean="0"/>
              <a:t>import </a:t>
            </a:r>
            <a:r>
              <a:rPr lang="en-US" sz="600" dirty="0" err="1" smtClean="0"/>
              <a:t>java.io.IOException</a:t>
            </a:r>
            <a:r>
              <a:rPr lang="en-US" sz="600" dirty="0" smtClean="0"/>
              <a:t>;</a:t>
            </a:r>
          </a:p>
          <a:p>
            <a:r>
              <a:rPr lang="en-US" sz="600" dirty="0" smtClean="0"/>
              <a:t>import </a:t>
            </a:r>
            <a:r>
              <a:rPr lang="en-US" sz="600" dirty="0" err="1" smtClean="0"/>
              <a:t>java.io.PrintWriter</a:t>
            </a:r>
            <a:r>
              <a:rPr lang="en-US" sz="600" dirty="0" smtClean="0"/>
              <a:t>;</a:t>
            </a:r>
          </a:p>
          <a:p>
            <a:r>
              <a:rPr lang="en-US" sz="600" dirty="0" smtClean="0"/>
              <a:t>import </a:t>
            </a:r>
            <a:r>
              <a:rPr lang="en-US" sz="600" dirty="0" err="1" smtClean="0"/>
              <a:t>javax.servlet.ServletConfig</a:t>
            </a:r>
            <a:r>
              <a:rPr lang="en-US" sz="600" dirty="0" smtClean="0"/>
              <a:t>;</a:t>
            </a:r>
          </a:p>
          <a:p>
            <a:r>
              <a:rPr lang="en-US" sz="600" dirty="0" smtClean="0"/>
              <a:t>import </a:t>
            </a:r>
            <a:r>
              <a:rPr lang="en-US" sz="600" dirty="0" err="1" smtClean="0"/>
              <a:t>javax.servlet.ServletContext</a:t>
            </a:r>
            <a:r>
              <a:rPr lang="en-US" sz="600" dirty="0" smtClean="0"/>
              <a:t>;</a:t>
            </a:r>
          </a:p>
          <a:p>
            <a:r>
              <a:rPr lang="en-US" sz="600" dirty="0" smtClean="0"/>
              <a:t>import </a:t>
            </a:r>
            <a:r>
              <a:rPr lang="en-US" sz="600" dirty="0" err="1" smtClean="0"/>
              <a:t>javax.servlet.ServletException</a:t>
            </a:r>
            <a:r>
              <a:rPr lang="en-US" sz="600" dirty="0" smtClean="0"/>
              <a:t>;</a:t>
            </a:r>
          </a:p>
          <a:p>
            <a:r>
              <a:rPr lang="en-US" sz="600" dirty="0" smtClean="0"/>
              <a:t>import </a:t>
            </a:r>
            <a:r>
              <a:rPr lang="en-US" sz="600" dirty="0" err="1" smtClean="0"/>
              <a:t>javax.servlet.annotation.WebInitParam</a:t>
            </a:r>
            <a:r>
              <a:rPr lang="en-US" sz="600" dirty="0" smtClean="0"/>
              <a:t>;</a:t>
            </a:r>
          </a:p>
          <a:p>
            <a:r>
              <a:rPr lang="en-US" sz="600" dirty="0" smtClean="0"/>
              <a:t>import </a:t>
            </a:r>
            <a:r>
              <a:rPr lang="en-US" sz="600" dirty="0" err="1" smtClean="0"/>
              <a:t>javax.servlet.annotation.WebServlet</a:t>
            </a:r>
            <a:r>
              <a:rPr lang="en-US" sz="600" dirty="0" smtClean="0"/>
              <a:t>;</a:t>
            </a:r>
          </a:p>
          <a:p>
            <a:r>
              <a:rPr lang="en-US" sz="600" dirty="0" smtClean="0"/>
              <a:t>import </a:t>
            </a:r>
            <a:r>
              <a:rPr lang="en-US" sz="600" dirty="0" err="1" smtClean="0"/>
              <a:t>javax.servlet.http.HttpServlet</a:t>
            </a:r>
            <a:r>
              <a:rPr lang="en-US" sz="600" dirty="0" smtClean="0"/>
              <a:t>;</a:t>
            </a:r>
          </a:p>
          <a:p>
            <a:r>
              <a:rPr lang="en-US" sz="600" dirty="0" smtClean="0"/>
              <a:t>import </a:t>
            </a:r>
            <a:r>
              <a:rPr lang="en-US" sz="600" dirty="0" err="1" smtClean="0"/>
              <a:t>javax.servlet.http.HttpServletRequest</a:t>
            </a:r>
            <a:r>
              <a:rPr lang="en-US" sz="600" dirty="0" smtClean="0"/>
              <a:t>;</a:t>
            </a:r>
          </a:p>
          <a:p>
            <a:r>
              <a:rPr lang="en-US" sz="600" dirty="0" smtClean="0"/>
              <a:t>import </a:t>
            </a:r>
            <a:r>
              <a:rPr lang="en-US" sz="600" dirty="0" err="1" smtClean="0"/>
              <a:t>javax.servlet.http.HttpServletResponse</a:t>
            </a:r>
            <a:r>
              <a:rPr lang="en-US" sz="600" dirty="0" smtClean="0"/>
              <a:t>;</a:t>
            </a:r>
          </a:p>
          <a:p>
            <a:r>
              <a:rPr lang="en-US" sz="600" dirty="0" smtClean="0"/>
              <a:t>@</a:t>
            </a:r>
            <a:r>
              <a:rPr lang="en-US" sz="600" dirty="0" err="1" smtClean="0"/>
              <a:t>WebServlet</a:t>
            </a:r>
            <a:r>
              <a:rPr lang="en-US" sz="600" dirty="0" smtClean="0"/>
              <a:t>(</a:t>
            </a:r>
          </a:p>
          <a:p>
            <a:r>
              <a:rPr lang="en-US" sz="600" dirty="0" smtClean="0"/>
              <a:t>name="hello",</a:t>
            </a:r>
          </a:p>
          <a:p>
            <a:r>
              <a:rPr lang="en-US" sz="600" dirty="0" err="1" smtClean="0"/>
              <a:t>urlPatterns</a:t>
            </a:r>
            <a:r>
              <a:rPr lang="en-US" sz="600" dirty="0" smtClean="0"/>
              <a:t> = "/hello",</a:t>
            </a:r>
          </a:p>
          <a:p>
            <a:r>
              <a:rPr lang="en-US" sz="600" dirty="0" err="1" smtClean="0"/>
              <a:t>loadOnStartup</a:t>
            </a:r>
            <a:r>
              <a:rPr lang="en-US" sz="600" dirty="0" smtClean="0"/>
              <a:t> = 1,</a:t>
            </a:r>
          </a:p>
          <a:p>
            <a:r>
              <a:rPr lang="en-US" sz="600" dirty="0" err="1" smtClean="0"/>
              <a:t>initParams</a:t>
            </a:r>
            <a:r>
              <a:rPr lang="en-US" sz="600" dirty="0" smtClean="0"/>
              <a:t> = {</a:t>
            </a:r>
          </a:p>
          <a:p>
            <a:r>
              <a:rPr lang="en-US" sz="600" dirty="0" smtClean="0"/>
              <a:t>@</a:t>
            </a:r>
            <a:r>
              <a:rPr lang="en-US" sz="600" dirty="0" err="1" smtClean="0"/>
              <a:t>WebInitParam</a:t>
            </a:r>
            <a:r>
              <a:rPr lang="en-US" sz="600" dirty="0" smtClean="0"/>
              <a:t>(name="</a:t>
            </a:r>
            <a:r>
              <a:rPr lang="en-US" sz="600" dirty="0" err="1" smtClean="0"/>
              <a:t>email",value</a:t>
            </a:r>
            <a:r>
              <a:rPr lang="en-US" sz="600" dirty="0" smtClean="0"/>
              <a:t>="hello@hello.com")</a:t>
            </a:r>
          </a:p>
          <a:p>
            <a:r>
              <a:rPr lang="en-US" sz="600" dirty="0" smtClean="0"/>
              <a:t>}</a:t>
            </a:r>
          </a:p>
          <a:p>
            <a:r>
              <a:rPr lang="en-US" sz="600" dirty="0" smtClean="0"/>
              <a:t>)</a:t>
            </a:r>
          </a:p>
          <a:p>
            <a:r>
              <a:rPr lang="en-US" sz="600" dirty="0" smtClean="0"/>
              <a:t>public class </a:t>
            </a:r>
            <a:r>
              <a:rPr lang="en-US" sz="600" dirty="0" err="1" smtClean="0"/>
              <a:t>HelloServlet</a:t>
            </a:r>
            <a:r>
              <a:rPr lang="en-US" sz="600" dirty="0" smtClean="0"/>
              <a:t> extends </a:t>
            </a:r>
            <a:r>
              <a:rPr lang="en-US" sz="600" dirty="0" err="1" smtClean="0"/>
              <a:t>HttpServlet</a:t>
            </a:r>
            <a:r>
              <a:rPr lang="en-US" sz="600" dirty="0" smtClean="0"/>
              <a:t> {</a:t>
            </a:r>
          </a:p>
          <a:p>
            <a:r>
              <a:rPr lang="en-US" sz="600" dirty="0" smtClean="0"/>
              <a:t>	</a:t>
            </a:r>
            <a:r>
              <a:rPr lang="en-US" sz="600" dirty="0" err="1" smtClean="0"/>
              <a:t>ServletConfig</a:t>
            </a:r>
            <a:r>
              <a:rPr lang="en-US" sz="600" dirty="0" smtClean="0"/>
              <a:t> </a:t>
            </a:r>
            <a:r>
              <a:rPr lang="en-US" sz="600" dirty="0" err="1" smtClean="0"/>
              <a:t>sconfig</a:t>
            </a:r>
            <a:r>
              <a:rPr lang="en-US" sz="600" dirty="0" smtClean="0"/>
              <a:t> = null;</a:t>
            </a:r>
          </a:p>
          <a:p>
            <a:r>
              <a:rPr lang="en-US" sz="600" dirty="0" smtClean="0"/>
              <a:t>	//static block , constructor and init() executed only once in </a:t>
            </a:r>
          </a:p>
          <a:p>
            <a:r>
              <a:rPr lang="en-US" sz="600" dirty="0" smtClean="0"/>
              <a:t>	//servlet life i.e. only for first request , for rest of the </a:t>
            </a:r>
          </a:p>
          <a:p>
            <a:r>
              <a:rPr lang="en-US" sz="600" dirty="0" smtClean="0"/>
              <a:t>	//requests only service() will be executed</a:t>
            </a:r>
          </a:p>
          <a:p>
            <a:r>
              <a:rPr lang="en-US" sz="600" dirty="0" smtClean="0"/>
              <a:t>	static {</a:t>
            </a:r>
          </a:p>
          <a:p>
            <a:r>
              <a:rPr lang="en-US" sz="600" dirty="0" smtClean="0"/>
              <a:t>		System.out.println("</a:t>
            </a:r>
            <a:r>
              <a:rPr lang="en-US" sz="600" dirty="0" err="1" smtClean="0"/>
              <a:t>HelloServlet</a:t>
            </a:r>
            <a:r>
              <a:rPr lang="en-US" sz="600" dirty="0" smtClean="0"/>
              <a:t> - S.B");</a:t>
            </a:r>
          </a:p>
          <a:p>
            <a:r>
              <a:rPr lang="en-US" sz="600" dirty="0" smtClean="0"/>
              <a:t>	}</a:t>
            </a:r>
          </a:p>
          <a:p>
            <a:endParaRPr lang="en-US" sz="600" dirty="0" smtClean="0"/>
          </a:p>
          <a:p>
            <a:r>
              <a:rPr lang="en-US" sz="600" dirty="0" smtClean="0"/>
              <a:t>	public </a:t>
            </a:r>
            <a:r>
              <a:rPr lang="en-US" sz="600" dirty="0" err="1" smtClean="0"/>
              <a:t>HelloServlet</a:t>
            </a:r>
            <a:r>
              <a:rPr lang="en-US" sz="600" dirty="0" smtClean="0"/>
              <a:t>() {</a:t>
            </a:r>
          </a:p>
          <a:p>
            <a:r>
              <a:rPr lang="en-US" sz="600" dirty="0" smtClean="0"/>
              <a:t>		System.out.println("</a:t>
            </a:r>
            <a:r>
              <a:rPr lang="en-US" sz="600" dirty="0" err="1" smtClean="0"/>
              <a:t>HelloServlet</a:t>
            </a:r>
            <a:r>
              <a:rPr lang="en-US" sz="600" dirty="0" smtClean="0"/>
              <a:t> - D.C");</a:t>
            </a:r>
          </a:p>
          <a:p>
            <a:r>
              <a:rPr lang="en-US" sz="600" dirty="0" smtClean="0"/>
              <a:t>	}</a:t>
            </a:r>
          </a:p>
          <a:p>
            <a:endParaRPr lang="en-US" sz="600" dirty="0" smtClean="0"/>
          </a:p>
          <a:p>
            <a:r>
              <a:rPr lang="en-US" sz="600" dirty="0" smtClean="0"/>
              <a:t>	public void init(</a:t>
            </a:r>
            <a:r>
              <a:rPr lang="en-US" sz="600" dirty="0" err="1" smtClean="0"/>
              <a:t>ServletConfig</a:t>
            </a:r>
            <a:r>
              <a:rPr lang="en-US" sz="600" dirty="0" smtClean="0"/>
              <a:t> </a:t>
            </a:r>
            <a:r>
              <a:rPr lang="en-US" sz="600" dirty="0" err="1" smtClean="0"/>
              <a:t>sconfig</a:t>
            </a:r>
            <a:r>
              <a:rPr lang="en-US" sz="600" dirty="0" smtClean="0"/>
              <a:t>) {</a:t>
            </a:r>
          </a:p>
          <a:p>
            <a:r>
              <a:rPr lang="en-US" sz="600" dirty="0" smtClean="0"/>
              <a:t>		System.out.println("</a:t>
            </a:r>
            <a:r>
              <a:rPr lang="en-US" sz="600" dirty="0" err="1" smtClean="0"/>
              <a:t>HelloServlet</a:t>
            </a:r>
            <a:r>
              <a:rPr lang="en-US" sz="600" dirty="0" smtClean="0"/>
              <a:t> - init()");</a:t>
            </a:r>
          </a:p>
          <a:p>
            <a:r>
              <a:rPr lang="en-US" sz="600" dirty="0" smtClean="0"/>
              <a:t>		</a:t>
            </a:r>
            <a:r>
              <a:rPr lang="en-US" sz="600" dirty="0" err="1" smtClean="0"/>
              <a:t>this.sconfig</a:t>
            </a:r>
            <a:r>
              <a:rPr lang="en-US" sz="600" dirty="0" smtClean="0"/>
              <a:t> = </a:t>
            </a:r>
            <a:r>
              <a:rPr lang="en-US" sz="600" dirty="0" err="1" smtClean="0"/>
              <a:t>sconfig</a:t>
            </a:r>
            <a:r>
              <a:rPr lang="en-US" sz="600" dirty="0" smtClean="0"/>
              <a:t>;</a:t>
            </a:r>
          </a:p>
          <a:p>
            <a:r>
              <a:rPr lang="en-US" sz="600" dirty="0" smtClean="0"/>
              <a:t>	}</a:t>
            </a:r>
          </a:p>
          <a:p>
            <a:endParaRPr lang="en-US" sz="600" dirty="0" smtClean="0"/>
          </a:p>
          <a:p>
            <a:r>
              <a:rPr lang="en-US" sz="600" dirty="0" smtClean="0"/>
              <a:t>	public void service(</a:t>
            </a:r>
            <a:r>
              <a:rPr lang="en-US" sz="600" dirty="0" err="1" smtClean="0"/>
              <a:t>HttpServletRequest</a:t>
            </a:r>
            <a:r>
              <a:rPr lang="en-US" sz="600" dirty="0" smtClean="0"/>
              <a:t> request, </a:t>
            </a:r>
            <a:r>
              <a:rPr lang="en-US" sz="600" dirty="0" err="1" smtClean="0"/>
              <a:t>HttpServletResponse</a:t>
            </a:r>
            <a:r>
              <a:rPr lang="en-US" sz="600" dirty="0" smtClean="0"/>
              <a:t> response) throws </a:t>
            </a:r>
            <a:r>
              <a:rPr lang="en-US" sz="600" dirty="0" err="1" smtClean="0"/>
              <a:t>IOException</a:t>
            </a:r>
            <a:r>
              <a:rPr lang="en-US" sz="600" dirty="0" smtClean="0"/>
              <a:t>, </a:t>
            </a:r>
            <a:r>
              <a:rPr lang="en-US" sz="600" dirty="0" err="1" smtClean="0"/>
              <a:t>ServletException</a:t>
            </a:r>
            <a:r>
              <a:rPr lang="en-US" sz="600" dirty="0" smtClean="0"/>
              <a:t> {</a:t>
            </a:r>
          </a:p>
          <a:p>
            <a:r>
              <a:rPr lang="en-US" sz="600" dirty="0" smtClean="0"/>
              <a:t>		System.out.println("</a:t>
            </a:r>
            <a:r>
              <a:rPr lang="en-US" sz="600" dirty="0" err="1" smtClean="0"/>
              <a:t>HelloServlet</a:t>
            </a:r>
            <a:r>
              <a:rPr lang="en-US" sz="600" dirty="0" smtClean="0"/>
              <a:t> - service()");</a:t>
            </a:r>
          </a:p>
          <a:p>
            <a:r>
              <a:rPr lang="en-US" sz="600" dirty="0" smtClean="0"/>
              <a:t>		// 1.Collect Request </a:t>
            </a:r>
            <a:r>
              <a:rPr lang="en-US" sz="600" dirty="0" err="1" smtClean="0"/>
              <a:t>Params</a:t>
            </a:r>
            <a:endParaRPr lang="en-US" sz="600" dirty="0" smtClean="0"/>
          </a:p>
          <a:p>
            <a:r>
              <a:rPr lang="en-US" sz="600" dirty="0" smtClean="0"/>
              <a:t>		String </a:t>
            </a:r>
            <a:r>
              <a:rPr lang="en-US" sz="600" dirty="0" err="1" smtClean="0"/>
              <a:t>fname</a:t>
            </a:r>
            <a:r>
              <a:rPr lang="en-US" sz="600" dirty="0" smtClean="0"/>
              <a:t> = </a:t>
            </a:r>
            <a:r>
              <a:rPr lang="en-US" sz="600" dirty="0" err="1" smtClean="0"/>
              <a:t>request.getParameter</a:t>
            </a:r>
            <a:r>
              <a:rPr lang="en-US" sz="600" dirty="0" smtClean="0"/>
              <a:t>("</a:t>
            </a:r>
            <a:r>
              <a:rPr lang="en-US" sz="600" dirty="0" err="1" smtClean="0"/>
              <a:t>fname</a:t>
            </a:r>
            <a:r>
              <a:rPr lang="en-US" sz="600" dirty="0" smtClean="0"/>
              <a:t>");</a:t>
            </a:r>
          </a:p>
          <a:p>
            <a:r>
              <a:rPr lang="en-US" sz="600" dirty="0" smtClean="0"/>
              <a:t>		String phone = </a:t>
            </a:r>
            <a:r>
              <a:rPr lang="en-US" sz="600" dirty="0" err="1" smtClean="0"/>
              <a:t>request.getParameter</a:t>
            </a:r>
            <a:r>
              <a:rPr lang="en-US" sz="600" dirty="0" smtClean="0"/>
              <a:t>("phone"); // null , if parameter name does not exists </a:t>
            </a:r>
            <a:r>
              <a:rPr lang="en-US" sz="600" dirty="0" err="1" smtClean="0"/>
              <a:t>getParameter</a:t>
            </a:r>
            <a:r>
              <a:rPr lang="en-US" sz="600" dirty="0" smtClean="0"/>
              <a:t>() method returns null value</a:t>
            </a:r>
          </a:p>
          <a:p>
            <a:r>
              <a:rPr lang="en-US" sz="600" dirty="0" smtClean="0"/>
              <a:t>		// 2.Collect </a:t>
            </a:r>
            <a:r>
              <a:rPr lang="en-US" sz="600" dirty="0" err="1" smtClean="0"/>
              <a:t>Config</a:t>
            </a:r>
            <a:r>
              <a:rPr lang="en-US" sz="600" dirty="0" smtClean="0"/>
              <a:t> </a:t>
            </a:r>
            <a:r>
              <a:rPr lang="en-US" sz="600" dirty="0" err="1" smtClean="0"/>
              <a:t>Params</a:t>
            </a:r>
            <a:endParaRPr lang="en-US" sz="600" dirty="0" smtClean="0"/>
          </a:p>
          <a:p>
            <a:r>
              <a:rPr lang="en-US" sz="600" dirty="0" smtClean="0"/>
              <a:t>		String email = </a:t>
            </a:r>
            <a:r>
              <a:rPr lang="en-US" sz="600" dirty="0" err="1" smtClean="0"/>
              <a:t>sconfig.getInitParameter</a:t>
            </a:r>
            <a:r>
              <a:rPr lang="en-US" sz="600" dirty="0" smtClean="0"/>
              <a:t>("email");</a:t>
            </a:r>
          </a:p>
          <a:p>
            <a:r>
              <a:rPr lang="en-US" sz="600" dirty="0" smtClean="0"/>
              <a:t>		// 3.Collect Context </a:t>
            </a:r>
            <a:r>
              <a:rPr lang="en-US" sz="600" dirty="0" err="1" smtClean="0"/>
              <a:t>Params</a:t>
            </a:r>
            <a:endParaRPr lang="en-US" sz="600" dirty="0" smtClean="0"/>
          </a:p>
          <a:p>
            <a:r>
              <a:rPr lang="en-US" sz="600" dirty="0" smtClean="0"/>
              <a:t>		</a:t>
            </a:r>
            <a:r>
              <a:rPr lang="en-US" sz="600" dirty="0" err="1" smtClean="0"/>
              <a:t>ServletContext</a:t>
            </a:r>
            <a:r>
              <a:rPr lang="en-US" sz="600" dirty="0" smtClean="0"/>
              <a:t> </a:t>
            </a:r>
            <a:r>
              <a:rPr lang="en-US" sz="600" dirty="0" err="1" smtClean="0"/>
              <a:t>scontext</a:t>
            </a:r>
            <a:r>
              <a:rPr lang="en-US" sz="600" dirty="0" smtClean="0"/>
              <a:t> = </a:t>
            </a:r>
            <a:r>
              <a:rPr lang="en-US" sz="600" dirty="0" err="1" smtClean="0"/>
              <a:t>sconfig.getServletContext</a:t>
            </a:r>
            <a:r>
              <a:rPr lang="en-US" sz="600" dirty="0" smtClean="0"/>
              <a:t>();</a:t>
            </a:r>
          </a:p>
          <a:p>
            <a:r>
              <a:rPr lang="en-US" sz="600" dirty="0" smtClean="0"/>
              <a:t>		String web = </a:t>
            </a:r>
            <a:r>
              <a:rPr lang="en-US" sz="600" dirty="0" err="1" smtClean="0"/>
              <a:t>scontext.getInitParameter</a:t>
            </a:r>
            <a:r>
              <a:rPr lang="en-US" sz="600" dirty="0" smtClean="0"/>
              <a:t>("website");</a:t>
            </a:r>
          </a:p>
          <a:p>
            <a:r>
              <a:rPr lang="en-US" sz="600" dirty="0" smtClean="0"/>
              <a:t>		// 4.Do Processing</a:t>
            </a:r>
          </a:p>
          <a:p>
            <a:r>
              <a:rPr lang="en-US" sz="600" dirty="0" smtClean="0"/>
              <a:t>		System.out.println(</a:t>
            </a:r>
            <a:r>
              <a:rPr lang="en-US" sz="600" dirty="0" err="1" smtClean="0"/>
              <a:t>fname</a:t>
            </a:r>
            <a:r>
              <a:rPr lang="en-US" sz="600" dirty="0" smtClean="0"/>
              <a:t>);</a:t>
            </a:r>
          </a:p>
          <a:p>
            <a:r>
              <a:rPr lang="en-US" sz="600" dirty="0" smtClean="0"/>
              <a:t>		System.out.println(phone);</a:t>
            </a:r>
          </a:p>
          <a:p>
            <a:r>
              <a:rPr lang="en-US" sz="600" dirty="0" smtClean="0"/>
              <a:t>		System.out.println(email);</a:t>
            </a:r>
          </a:p>
          <a:p>
            <a:r>
              <a:rPr lang="en-US" sz="600" dirty="0" smtClean="0"/>
              <a:t>		System.out.println(web);</a:t>
            </a:r>
          </a:p>
          <a:p>
            <a:r>
              <a:rPr lang="en-US" sz="600" dirty="0" smtClean="0"/>
              <a:t>		// 5.Send Response</a:t>
            </a:r>
          </a:p>
          <a:p>
            <a:r>
              <a:rPr lang="en-US" sz="600" dirty="0" smtClean="0"/>
              <a:t>		</a:t>
            </a:r>
            <a:r>
              <a:rPr lang="en-US" sz="600" dirty="0" err="1" smtClean="0"/>
              <a:t>response.setContentType</a:t>
            </a:r>
            <a:r>
              <a:rPr lang="en-US" sz="600" dirty="0" smtClean="0"/>
              <a:t>("text/html");</a:t>
            </a:r>
          </a:p>
          <a:p>
            <a:r>
              <a:rPr lang="en-US" sz="600" dirty="0" smtClean="0"/>
              <a:t>		</a:t>
            </a:r>
            <a:r>
              <a:rPr lang="en-US" sz="600" dirty="0" err="1" smtClean="0"/>
              <a:t>PrintWriter</a:t>
            </a:r>
            <a:r>
              <a:rPr lang="en-US" sz="600" dirty="0" smtClean="0"/>
              <a:t> out = </a:t>
            </a:r>
            <a:r>
              <a:rPr lang="en-US" sz="600" dirty="0" err="1" smtClean="0"/>
              <a:t>response.getWriter</a:t>
            </a:r>
            <a:r>
              <a:rPr lang="en-US" sz="600" dirty="0" smtClean="0"/>
              <a:t>();</a:t>
            </a:r>
          </a:p>
          <a:p>
            <a:r>
              <a:rPr lang="en-US" sz="600" dirty="0" smtClean="0"/>
              <a:t>		</a:t>
            </a:r>
            <a:r>
              <a:rPr lang="en-US" sz="600" dirty="0" err="1" smtClean="0"/>
              <a:t>out.print</a:t>
            </a:r>
            <a:r>
              <a:rPr lang="en-US" sz="600" dirty="0" smtClean="0"/>
              <a:t>("&lt;h3&gt; &lt;u&gt;1.Request Parameters &lt;/u&gt; &lt;h3&gt;");</a:t>
            </a:r>
          </a:p>
          <a:p>
            <a:r>
              <a:rPr lang="en-US" sz="600" dirty="0" smtClean="0"/>
              <a:t>		</a:t>
            </a:r>
            <a:r>
              <a:rPr lang="en-US" sz="600" dirty="0" err="1" smtClean="0"/>
              <a:t>out.print</a:t>
            </a:r>
            <a:r>
              <a:rPr lang="en-US" sz="600" dirty="0" smtClean="0"/>
              <a:t>("&lt;table&gt;");</a:t>
            </a:r>
          </a:p>
          <a:p>
            <a:r>
              <a:rPr lang="en-US" sz="600" dirty="0" smtClean="0"/>
              <a:t>		</a:t>
            </a:r>
            <a:r>
              <a:rPr lang="en-US" sz="600" dirty="0" err="1" smtClean="0"/>
              <a:t>out.print</a:t>
            </a:r>
            <a:r>
              <a:rPr lang="en-US" sz="600" dirty="0" smtClean="0"/>
              <a:t>("&lt;</a:t>
            </a:r>
            <a:r>
              <a:rPr lang="en-US" sz="600" dirty="0" err="1" smtClean="0"/>
              <a:t>tr</a:t>
            </a:r>
            <a:r>
              <a:rPr lang="en-US" sz="600" dirty="0" smtClean="0"/>
              <a:t>&gt;");</a:t>
            </a:r>
          </a:p>
          <a:p>
            <a:r>
              <a:rPr lang="en-US" sz="600" dirty="0" smtClean="0"/>
              <a:t>		</a:t>
            </a:r>
            <a:r>
              <a:rPr lang="en-US" sz="600" dirty="0" err="1" smtClean="0"/>
              <a:t>out.print</a:t>
            </a:r>
            <a:r>
              <a:rPr lang="en-US" sz="600" dirty="0" smtClean="0"/>
              <a:t>("&lt;td&gt; Full Name &lt;/td&gt;");</a:t>
            </a:r>
          </a:p>
          <a:p>
            <a:r>
              <a:rPr lang="en-US" sz="600" dirty="0" smtClean="0"/>
              <a:t>		</a:t>
            </a:r>
            <a:r>
              <a:rPr lang="en-US" sz="600" dirty="0" err="1" smtClean="0"/>
              <a:t>out.print</a:t>
            </a:r>
            <a:r>
              <a:rPr lang="en-US" sz="600" dirty="0" smtClean="0"/>
              <a:t>("&lt;td&gt; " + </a:t>
            </a:r>
            <a:r>
              <a:rPr lang="en-US" sz="600" dirty="0" err="1" smtClean="0"/>
              <a:t>fname</a:t>
            </a:r>
            <a:r>
              <a:rPr lang="en-US" sz="600" dirty="0" smtClean="0"/>
              <a:t> + " &lt;/td&gt;");</a:t>
            </a:r>
          </a:p>
          <a:p>
            <a:r>
              <a:rPr lang="en-US" sz="600" dirty="0" smtClean="0"/>
              <a:t>		</a:t>
            </a:r>
            <a:r>
              <a:rPr lang="en-US" sz="600" dirty="0" err="1" smtClean="0"/>
              <a:t>out.print</a:t>
            </a:r>
            <a:r>
              <a:rPr lang="en-US" sz="600" dirty="0" smtClean="0"/>
              <a:t>("&lt;/</a:t>
            </a:r>
            <a:r>
              <a:rPr lang="en-US" sz="600" dirty="0" err="1" smtClean="0"/>
              <a:t>tr</a:t>
            </a:r>
            <a:r>
              <a:rPr lang="en-US" sz="600" dirty="0" smtClean="0"/>
              <a:t>&gt;");</a:t>
            </a:r>
          </a:p>
          <a:p>
            <a:r>
              <a:rPr lang="en-US" sz="600" dirty="0" smtClean="0"/>
              <a:t>		</a:t>
            </a:r>
            <a:r>
              <a:rPr lang="en-US" sz="600" dirty="0" err="1" smtClean="0"/>
              <a:t>out.print</a:t>
            </a:r>
            <a:r>
              <a:rPr lang="en-US" sz="600" dirty="0" smtClean="0"/>
              <a:t>("&lt;/table&gt;");</a:t>
            </a:r>
          </a:p>
          <a:p>
            <a:r>
              <a:rPr lang="en-US" sz="600" dirty="0" smtClean="0"/>
              <a:t>		</a:t>
            </a:r>
            <a:r>
              <a:rPr lang="en-US" sz="600" dirty="0" err="1" smtClean="0"/>
              <a:t>out.print</a:t>
            </a:r>
            <a:r>
              <a:rPr lang="en-US" sz="600" dirty="0" smtClean="0"/>
              <a:t>("&lt;h3&gt; &lt;u&gt;2.Config Parameters &lt;/u&gt; &lt;h3&gt;");</a:t>
            </a:r>
          </a:p>
          <a:p>
            <a:r>
              <a:rPr lang="en-US" sz="600" dirty="0" smtClean="0"/>
              <a:t>		</a:t>
            </a:r>
            <a:r>
              <a:rPr lang="en-US" sz="600" dirty="0" err="1" smtClean="0"/>
              <a:t>out.print</a:t>
            </a:r>
            <a:r>
              <a:rPr lang="en-US" sz="600" dirty="0" smtClean="0"/>
              <a:t>("&lt;table&gt;");</a:t>
            </a:r>
          </a:p>
          <a:p>
            <a:r>
              <a:rPr lang="en-US" sz="600" dirty="0" smtClean="0"/>
              <a:t>		</a:t>
            </a:r>
            <a:r>
              <a:rPr lang="en-US" sz="600" dirty="0" err="1" smtClean="0"/>
              <a:t>out.print</a:t>
            </a:r>
            <a:r>
              <a:rPr lang="en-US" sz="600" dirty="0" smtClean="0"/>
              <a:t>("&lt;</a:t>
            </a:r>
            <a:r>
              <a:rPr lang="en-US" sz="600" dirty="0" err="1" smtClean="0"/>
              <a:t>tr</a:t>
            </a:r>
            <a:r>
              <a:rPr lang="en-US" sz="600" dirty="0" smtClean="0"/>
              <a:t>&gt;");</a:t>
            </a:r>
          </a:p>
          <a:p>
            <a:r>
              <a:rPr lang="en-US" sz="600" dirty="0" smtClean="0"/>
              <a:t>		</a:t>
            </a:r>
            <a:r>
              <a:rPr lang="en-US" sz="600" dirty="0" err="1" smtClean="0"/>
              <a:t>out.print</a:t>
            </a:r>
            <a:r>
              <a:rPr lang="en-US" sz="600" dirty="0" smtClean="0"/>
              <a:t>("&lt;td&gt; Email&lt;/td&gt;");</a:t>
            </a:r>
          </a:p>
          <a:p>
            <a:r>
              <a:rPr lang="en-US" sz="600" dirty="0" smtClean="0"/>
              <a:t>		</a:t>
            </a:r>
            <a:r>
              <a:rPr lang="en-US" sz="600" dirty="0" err="1" smtClean="0"/>
              <a:t>out.print</a:t>
            </a:r>
            <a:r>
              <a:rPr lang="en-US" sz="600" dirty="0" smtClean="0"/>
              <a:t>("&lt;td&gt; " + email + " &lt;/td&gt;");</a:t>
            </a:r>
          </a:p>
          <a:p>
            <a:r>
              <a:rPr lang="en-US" sz="600" dirty="0" smtClean="0"/>
              <a:t>		</a:t>
            </a:r>
            <a:r>
              <a:rPr lang="en-US" sz="600" dirty="0" err="1" smtClean="0"/>
              <a:t>out.print</a:t>
            </a:r>
            <a:r>
              <a:rPr lang="en-US" sz="600" dirty="0" smtClean="0"/>
              <a:t>("&lt;/</a:t>
            </a:r>
            <a:r>
              <a:rPr lang="en-US" sz="600" dirty="0" err="1" smtClean="0"/>
              <a:t>tr</a:t>
            </a:r>
            <a:r>
              <a:rPr lang="en-US" sz="600" dirty="0" smtClean="0"/>
              <a:t>&gt;");</a:t>
            </a:r>
          </a:p>
          <a:p>
            <a:r>
              <a:rPr lang="en-US" sz="600" dirty="0" smtClean="0"/>
              <a:t>		</a:t>
            </a:r>
            <a:r>
              <a:rPr lang="en-US" sz="600" dirty="0" err="1" smtClean="0"/>
              <a:t>out.print</a:t>
            </a:r>
            <a:r>
              <a:rPr lang="en-US" sz="600" dirty="0" smtClean="0"/>
              <a:t>("&lt;/table&gt;");</a:t>
            </a:r>
          </a:p>
          <a:p>
            <a:r>
              <a:rPr lang="en-US" sz="600" dirty="0" smtClean="0"/>
              <a:t>		</a:t>
            </a:r>
            <a:r>
              <a:rPr lang="en-US" sz="600" dirty="0" err="1" smtClean="0"/>
              <a:t>out.print</a:t>
            </a:r>
            <a:r>
              <a:rPr lang="en-US" sz="600" dirty="0" smtClean="0"/>
              <a:t>("&lt;h3&gt; &lt;u&gt;3.Context Parameters &lt;/u&gt; &lt;h3&gt;");</a:t>
            </a:r>
          </a:p>
          <a:p>
            <a:r>
              <a:rPr lang="en-US" sz="600" dirty="0" smtClean="0"/>
              <a:t>		</a:t>
            </a:r>
            <a:r>
              <a:rPr lang="en-US" sz="600" dirty="0" err="1" smtClean="0"/>
              <a:t>out.print</a:t>
            </a:r>
            <a:r>
              <a:rPr lang="en-US" sz="600" dirty="0" smtClean="0"/>
              <a:t>("&lt;table&gt;");</a:t>
            </a:r>
          </a:p>
          <a:p>
            <a:r>
              <a:rPr lang="en-US" sz="600" dirty="0" smtClean="0"/>
              <a:t>		</a:t>
            </a:r>
            <a:r>
              <a:rPr lang="en-US" sz="600" dirty="0" err="1" smtClean="0"/>
              <a:t>out.print</a:t>
            </a:r>
            <a:r>
              <a:rPr lang="en-US" sz="600" dirty="0" smtClean="0"/>
              <a:t>("&lt;</a:t>
            </a:r>
            <a:r>
              <a:rPr lang="en-US" sz="600" dirty="0" err="1" smtClean="0"/>
              <a:t>tr</a:t>
            </a:r>
            <a:r>
              <a:rPr lang="en-US" sz="600" dirty="0" smtClean="0"/>
              <a:t>&gt;");</a:t>
            </a:r>
          </a:p>
          <a:p>
            <a:r>
              <a:rPr lang="en-US" sz="600" dirty="0" smtClean="0"/>
              <a:t>		</a:t>
            </a:r>
            <a:r>
              <a:rPr lang="en-US" sz="600" dirty="0" err="1" smtClean="0"/>
              <a:t>out.print</a:t>
            </a:r>
            <a:r>
              <a:rPr lang="en-US" sz="600" dirty="0" smtClean="0"/>
              <a:t>("&lt;td&gt; Website &lt;/td&gt;");</a:t>
            </a:r>
          </a:p>
          <a:p>
            <a:r>
              <a:rPr lang="en-US" sz="600" dirty="0" smtClean="0"/>
              <a:t>		</a:t>
            </a:r>
            <a:r>
              <a:rPr lang="en-US" sz="600" dirty="0" err="1" smtClean="0"/>
              <a:t>out.print</a:t>
            </a:r>
            <a:r>
              <a:rPr lang="en-US" sz="600" dirty="0" smtClean="0"/>
              <a:t>("&lt;td&gt; " + web + " &lt;/td&gt;");</a:t>
            </a:r>
          </a:p>
          <a:p>
            <a:r>
              <a:rPr lang="en-US" sz="600" dirty="0" smtClean="0"/>
              <a:t>		</a:t>
            </a:r>
            <a:r>
              <a:rPr lang="en-US" sz="600" dirty="0" err="1" smtClean="0"/>
              <a:t>out.print</a:t>
            </a:r>
            <a:r>
              <a:rPr lang="en-US" sz="600" dirty="0" smtClean="0"/>
              <a:t>("&lt;/</a:t>
            </a:r>
            <a:r>
              <a:rPr lang="en-US" sz="600" dirty="0" err="1" smtClean="0"/>
              <a:t>tr</a:t>
            </a:r>
            <a:r>
              <a:rPr lang="en-US" sz="600" dirty="0" smtClean="0"/>
              <a:t>&gt;");</a:t>
            </a:r>
          </a:p>
          <a:p>
            <a:r>
              <a:rPr lang="en-US" sz="600" dirty="0" smtClean="0"/>
              <a:t>		</a:t>
            </a:r>
            <a:r>
              <a:rPr lang="en-US" sz="600" dirty="0" err="1" smtClean="0"/>
              <a:t>out.print</a:t>
            </a:r>
            <a:r>
              <a:rPr lang="en-US" sz="600" dirty="0" smtClean="0"/>
              <a:t>("&lt;/table&gt;");</a:t>
            </a:r>
          </a:p>
          <a:p>
            <a:r>
              <a:rPr lang="en-US" sz="600" dirty="0" smtClean="0"/>
              <a:t>	}</a:t>
            </a:r>
          </a:p>
          <a:p>
            <a:endParaRPr lang="en-US" sz="600" dirty="0" smtClean="0"/>
          </a:p>
          <a:p>
            <a:r>
              <a:rPr lang="en-US" sz="600" dirty="0" smtClean="0"/>
              <a:t>	public void destroy() {</a:t>
            </a:r>
          </a:p>
          <a:p>
            <a:r>
              <a:rPr lang="en-US" sz="600" dirty="0" smtClean="0"/>
              <a:t>		System.out.println("</a:t>
            </a:r>
            <a:r>
              <a:rPr lang="en-US" sz="600" dirty="0" err="1" smtClean="0"/>
              <a:t>HelloServlet</a:t>
            </a:r>
            <a:r>
              <a:rPr lang="en-US" sz="600" dirty="0" smtClean="0"/>
              <a:t> - destroy()");</a:t>
            </a:r>
          </a:p>
          <a:p>
            <a:r>
              <a:rPr lang="en-US" sz="600" dirty="0" smtClean="0"/>
              <a:t>	}</a:t>
            </a:r>
          </a:p>
          <a:p>
            <a:r>
              <a:rPr lang="en-US" sz="600" dirty="0" smtClean="0"/>
              <a:t>}</a:t>
            </a:r>
            <a:endParaRPr lang="en-US" sz="600" dirty="0"/>
          </a:p>
        </p:txBody>
      </p:sp>
      <p:sp>
        <p:nvSpPr>
          <p:cNvPr id="3" name="TextBox 2"/>
          <p:cNvSpPr txBox="1"/>
          <p:nvPr/>
        </p:nvSpPr>
        <p:spPr>
          <a:xfrm>
            <a:off x="4724400" y="685800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 smtClean="0">
                <a:solidFill>
                  <a:srgbClr val="FF0000"/>
                </a:solidFill>
              </a:rPr>
              <a:t>HelloServlet.java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52400"/>
            <a:ext cx="7696200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/>
              <a:t>package com.vrsec.servlets;</a:t>
            </a:r>
          </a:p>
          <a:p>
            <a:endParaRPr lang="en-US" sz="600" dirty="0" smtClean="0"/>
          </a:p>
          <a:p>
            <a:r>
              <a:rPr lang="en-US" sz="600" dirty="0" smtClean="0"/>
              <a:t>import java.io.IOException;</a:t>
            </a:r>
          </a:p>
          <a:p>
            <a:r>
              <a:rPr lang="en-US" sz="600" dirty="0" smtClean="0"/>
              <a:t>import java.io.PrintWriter;</a:t>
            </a:r>
          </a:p>
          <a:p>
            <a:r>
              <a:rPr lang="en-US" sz="600" dirty="0" smtClean="0"/>
              <a:t>import javax.servlet.ServletConfig;</a:t>
            </a:r>
          </a:p>
          <a:p>
            <a:r>
              <a:rPr lang="en-US" sz="600" dirty="0" smtClean="0"/>
              <a:t>import javax.servlet.ServletContext;</a:t>
            </a:r>
          </a:p>
          <a:p>
            <a:r>
              <a:rPr lang="en-US" sz="600" dirty="0" smtClean="0"/>
              <a:t>import javax.servlet.ServletException;</a:t>
            </a:r>
          </a:p>
          <a:p>
            <a:r>
              <a:rPr lang="en-US" sz="600" dirty="0" smtClean="0"/>
              <a:t>import javax.servlet.annotation.WebInitParam;</a:t>
            </a:r>
          </a:p>
          <a:p>
            <a:r>
              <a:rPr lang="en-US" sz="600" dirty="0" smtClean="0"/>
              <a:t>import javax.servlet.annotation.WebServlet;</a:t>
            </a:r>
          </a:p>
          <a:p>
            <a:r>
              <a:rPr lang="en-US" sz="600" dirty="0" smtClean="0"/>
              <a:t>import javax.servlet.http.HttpServlet;</a:t>
            </a:r>
          </a:p>
          <a:p>
            <a:r>
              <a:rPr lang="en-US" sz="600" dirty="0" smtClean="0"/>
              <a:t>import javax.servlet.http.HttpServletRequest;</a:t>
            </a:r>
          </a:p>
          <a:p>
            <a:r>
              <a:rPr lang="en-US" sz="600" dirty="0" smtClean="0"/>
              <a:t>import javax.servlet.http.HttpServletResponse;</a:t>
            </a:r>
          </a:p>
          <a:p>
            <a:r>
              <a:rPr lang="en-US" sz="600" dirty="0" smtClean="0"/>
              <a:t>@WebServlet(</a:t>
            </a:r>
          </a:p>
          <a:p>
            <a:r>
              <a:rPr lang="en-US" sz="600" dirty="0" smtClean="0"/>
              <a:t>name="hai",</a:t>
            </a:r>
          </a:p>
          <a:p>
            <a:r>
              <a:rPr lang="en-US" sz="600" dirty="0" smtClean="0"/>
              <a:t>urlPatterns = "/hai",</a:t>
            </a:r>
          </a:p>
          <a:p>
            <a:r>
              <a:rPr lang="en-US" sz="600" dirty="0" smtClean="0"/>
              <a:t>loadOnStartup = 2,</a:t>
            </a:r>
          </a:p>
          <a:p>
            <a:r>
              <a:rPr lang="en-US" sz="600" dirty="0" smtClean="0"/>
              <a:t>initParams = {</a:t>
            </a:r>
          </a:p>
          <a:p>
            <a:r>
              <a:rPr lang="en-US" sz="600" dirty="0" smtClean="0"/>
              <a:t>@WebInitParam(name="email",value="hai@hai.com")</a:t>
            </a:r>
          </a:p>
          <a:p>
            <a:r>
              <a:rPr lang="en-US" sz="600" dirty="0" smtClean="0"/>
              <a:t>}</a:t>
            </a:r>
          </a:p>
          <a:p>
            <a:r>
              <a:rPr lang="en-US" sz="600" dirty="0" smtClean="0"/>
              <a:t>)</a:t>
            </a:r>
          </a:p>
          <a:p>
            <a:r>
              <a:rPr lang="en-US" sz="600" dirty="0" smtClean="0"/>
              <a:t>public class HaiServlet extends HttpServlet {</a:t>
            </a:r>
          </a:p>
          <a:p>
            <a:r>
              <a:rPr lang="en-US" sz="600" dirty="0" smtClean="0"/>
              <a:t>	static {</a:t>
            </a:r>
          </a:p>
          <a:p>
            <a:r>
              <a:rPr lang="en-US" sz="600" dirty="0" smtClean="0"/>
              <a:t>		System.out.println("HaiServlet - S.B");</a:t>
            </a:r>
          </a:p>
          <a:p>
            <a:r>
              <a:rPr lang="en-US" sz="600" dirty="0" smtClean="0"/>
              <a:t>	}</a:t>
            </a:r>
          </a:p>
          <a:p>
            <a:endParaRPr lang="en-US" sz="600" dirty="0" smtClean="0"/>
          </a:p>
          <a:p>
            <a:r>
              <a:rPr lang="en-US" sz="600" dirty="0" smtClean="0"/>
              <a:t>	public HaiServlet() {</a:t>
            </a:r>
          </a:p>
          <a:p>
            <a:r>
              <a:rPr lang="en-US" sz="600" dirty="0" smtClean="0"/>
              <a:t>		System.out.println("HaiServlet - D.C");</a:t>
            </a:r>
          </a:p>
          <a:p>
            <a:r>
              <a:rPr lang="en-US" sz="600" dirty="0" smtClean="0"/>
              <a:t>	}</a:t>
            </a:r>
          </a:p>
          <a:p>
            <a:endParaRPr lang="en-US" sz="600" dirty="0" smtClean="0"/>
          </a:p>
          <a:p>
            <a:r>
              <a:rPr lang="en-US" sz="600" dirty="0" smtClean="0"/>
              <a:t>	public void init(ServletConfig sconfig) throws ServletException {</a:t>
            </a:r>
          </a:p>
          <a:p>
            <a:r>
              <a:rPr lang="en-US" sz="600" dirty="0" smtClean="0"/>
              <a:t>		super.init(sconfig);</a:t>
            </a:r>
          </a:p>
          <a:p>
            <a:r>
              <a:rPr lang="en-US" sz="600" dirty="0" smtClean="0"/>
              <a:t>		System.out.println("HaiServlet - init()");</a:t>
            </a:r>
          </a:p>
          <a:p>
            <a:r>
              <a:rPr lang="en-US" sz="600" dirty="0" smtClean="0"/>
              <a:t>	}</a:t>
            </a:r>
          </a:p>
          <a:p>
            <a:endParaRPr lang="en-US" sz="600" dirty="0" smtClean="0"/>
          </a:p>
          <a:p>
            <a:r>
              <a:rPr lang="en-US" sz="600" dirty="0" smtClean="0"/>
              <a:t>	public void service(HttpServletRequest request, HttpServletResponse response) throws IOException, ServletException {</a:t>
            </a:r>
          </a:p>
          <a:p>
            <a:r>
              <a:rPr lang="en-US" sz="600" dirty="0" smtClean="0"/>
              <a:t>		System.out.println("HaiServlet - service()");</a:t>
            </a:r>
          </a:p>
          <a:p>
            <a:r>
              <a:rPr lang="en-US" sz="600" dirty="0" smtClean="0"/>
              <a:t>		// 1.Collect Request Params</a:t>
            </a:r>
          </a:p>
          <a:p>
            <a:r>
              <a:rPr lang="en-US" sz="600" dirty="0" smtClean="0"/>
              <a:t>		String fname = request.getParameter("fname");// null</a:t>
            </a:r>
          </a:p>
          <a:p>
            <a:r>
              <a:rPr lang="en-US" sz="600" dirty="0" smtClean="0"/>
              <a:t>		String phone = request.getParameter("phone"); </a:t>
            </a:r>
          </a:p>
          <a:p>
            <a:r>
              <a:rPr lang="en-US" sz="600" dirty="0" smtClean="0"/>
              <a:t>		// 2.Collect Config Params</a:t>
            </a:r>
          </a:p>
          <a:p>
            <a:r>
              <a:rPr lang="en-US" sz="600" dirty="0" smtClean="0"/>
              <a:t>		ServletConfig sconfig = getServletConfig();</a:t>
            </a:r>
          </a:p>
          <a:p>
            <a:r>
              <a:rPr lang="en-US" sz="600" dirty="0" smtClean="0"/>
              <a:t>		String email = sconfig.getInitParameter("email");</a:t>
            </a:r>
          </a:p>
          <a:p>
            <a:r>
              <a:rPr lang="en-US" sz="600" dirty="0" smtClean="0"/>
              <a:t>		// 3.Collect Context Params</a:t>
            </a:r>
          </a:p>
          <a:p>
            <a:r>
              <a:rPr lang="en-US" sz="600" dirty="0" smtClean="0"/>
              <a:t>		ServletContext scontext = sconfig.getServletContext();</a:t>
            </a:r>
          </a:p>
          <a:p>
            <a:r>
              <a:rPr lang="en-US" sz="600" dirty="0" smtClean="0"/>
              <a:t>		String web = scontext.getInitParameter("website");</a:t>
            </a:r>
          </a:p>
          <a:p>
            <a:r>
              <a:rPr lang="en-US" sz="600" dirty="0" smtClean="0"/>
              <a:t>		// 4.Do Processing</a:t>
            </a:r>
          </a:p>
          <a:p>
            <a:r>
              <a:rPr lang="en-US" sz="600" dirty="0" smtClean="0"/>
              <a:t>		System.out.println(fname);</a:t>
            </a:r>
          </a:p>
          <a:p>
            <a:r>
              <a:rPr lang="en-US" sz="600" dirty="0" smtClean="0"/>
              <a:t>		System.out.println(phone);</a:t>
            </a:r>
          </a:p>
          <a:p>
            <a:r>
              <a:rPr lang="en-US" sz="600" dirty="0" smtClean="0"/>
              <a:t>		System.out.println(email);</a:t>
            </a:r>
          </a:p>
          <a:p>
            <a:r>
              <a:rPr lang="en-US" sz="600" dirty="0" smtClean="0"/>
              <a:t>		System.out.println(web);</a:t>
            </a:r>
          </a:p>
          <a:p>
            <a:r>
              <a:rPr lang="en-US" sz="600" dirty="0" smtClean="0"/>
              <a:t>		// 5.Send Response</a:t>
            </a:r>
          </a:p>
          <a:p>
            <a:r>
              <a:rPr lang="en-US" sz="600" dirty="0" smtClean="0"/>
              <a:t>		response.setContentType("text/html");</a:t>
            </a:r>
          </a:p>
          <a:p>
            <a:r>
              <a:rPr lang="en-US" sz="600" dirty="0" smtClean="0"/>
              <a:t>		PrintWriter out = response.getWriter();</a:t>
            </a:r>
          </a:p>
          <a:p>
            <a:r>
              <a:rPr lang="en-US" sz="600" dirty="0" smtClean="0"/>
              <a:t>		out.print("&lt;h3&gt; &lt;u&gt;1.Request Parameters &lt;/u&gt; &lt;h3&gt;");</a:t>
            </a:r>
          </a:p>
          <a:p>
            <a:r>
              <a:rPr lang="en-US" sz="600" dirty="0" smtClean="0"/>
              <a:t>		out.print("&lt;table&gt;");</a:t>
            </a:r>
          </a:p>
          <a:p>
            <a:r>
              <a:rPr lang="en-US" sz="600" dirty="0" smtClean="0"/>
              <a:t>		out.print("&lt;tr&gt;");</a:t>
            </a:r>
          </a:p>
          <a:p>
            <a:r>
              <a:rPr lang="en-US" sz="600" dirty="0" smtClean="0"/>
              <a:t>		out.print("&lt;td&gt; Phone &lt;/td&gt;");</a:t>
            </a:r>
          </a:p>
          <a:p>
            <a:r>
              <a:rPr lang="en-US" sz="600" dirty="0" smtClean="0"/>
              <a:t>		out.print("&lt;td&gt; " + phone + " &lt;/td&gt;");</a:t>
            </a:r>
          </a:p>
          <a:p>
            <a:r>
              <a:rPr lang="en-US" sz="600" dirty="0" smtClean="0"/>
              <a:t>		out.print("&lt;/tr&gt;");</a:t>
            </a:r>
          </a:p>
          <a:p>
            <a:r>
              <a:rPr lang="en-US" sz="600" dirty="0" smtClean="0"/>
              <a:t>		out.print("&lt;/table&gt;");</a:t>
            </a:r>
          </a:p>
          <a:p>
            <a:r>
              <a:rPr lang="en-US" sz="600" dirty="0" smtClean="0"/>
              <a:t>		out.print("&lt;h3&gt; &lt;u&gt;2.Config Parameters &lt;/u&gt; &lt;h3&gt;");</a:t>
            </a:r>
          </a:p>
          <a:p>
            <a:r>
              <a:rPr lang="en-US" sz="600" dirty="0" smtClean="0"/>
              <a:t>		out.print("&lt;table&gt;");</a:t>
            </a:r>
          </a:p>
          <a:p>
            <a:r>
              <a:rPr lang="en-US" sz="600" dirty="0" smtClean="0"/>
              <a:t>		out.print("&lt;tr&gt;");</a:t>
            </a:r>
          </a:p>
          <a:p>
            <a:r>
              <a:rPr lang="en-US" sz="600" dirty="0" smtClean="0"/>
              <a:t>		out.print("&lt;td&gt; Email&lt;/td&gt;");</a:t>
            </a:r>
          </a:p>
          <a:p>
            <a:r>
              <a:rPr lang="en-US" sz="600" dirty="0" smtClean="0"/>
              <a:t>		out.print("&lt;td&gt; " + email + " &lt;/td&gt;");</a:t>
            </a:r>
          </a:p>
          <a:p>
            <a:r>
              <a:rPr lang="en-US" sz="600" dirty="0" smtClean="0"/>
              <a:t>		out.print("&lt;/tr&gt;");</a:t>
            </a:r>
          </a:p>
          <a:p>
            <a:r>
              <a:rPr lang="en-US" sz="600" dirty="0" smtClean="0"/>
              <a:t>		out.print("&lt;/table&gt;");</a:t>
            </a:r>
          </a:p>
          <a:p>
            <a:r>
              <a:rPr lang="en-US" sz="600" dirty="0" smtClean="0"/>
              <a:t>		out.print("&lt;h3&gt; &lt;u&gt;3.Context Parameters &lt;/u&gt; &lt;h3&gt;");</a:t>
            </a:r>
          </a:p>
          <a:p>
            <a:r>
              <a:rPr lang="en-US" sz="600" dirty="0" smtClean="0"/>
              <a:t>		out.print("&lt;table&gt;");</a:t>
            </a:r>
          </a:p>
          <a:p>
            <a:r>
              <a:rPr lang="en-US" sz="600" dirty="0" smtClean="0"/>
              <a:t>		out.print("&lt;tr&gt;");</a:t>
            </a:r>
          </a:p>
          <a:p>
            <a:r>
              <a:rPr lang="en-US" sz="600" dirty="0" smtClean="0"/>
              <a:t>		out.print("&lt;td&gt; Website &lt;/td&gt;");</a:t>
            </a:r>
          </a:p>
          <a:p>
            <a:r>
              <a:rPr lang="en-US" sz="600" dirty="0" smtClean="0"/>
              <a:t>		out.print("&lt;td&gt; " + web + " &lt;/td&gt;");</a:t>
            </a:r>
          </a:p>
          <a:p>
            <a:r>
              <a:rPr lang="en-US" sz="600" dirty="0" smtClean="0"/>
              <a:t>		out.print("&lt;/tr&gt;");</a:t>
            </a:r>
          </a:p>
          <a:p>
            <a:r>
              <a:rPr lang="en-US" sz="600" dirty="0" smtClean="0"/>
              <a:t>		out.print("&lt;/table&gt;");</a:t>
            </a:r>
          </a:p>
          <a:p>
            <a:r>
              <a:rPr lang="en-US" sz="600" dirty="0" smtClean="0"/>
              <a:t>	}</a:t>
            </a:r>
          </a:p>
          <a:p>
            <a:endParaRPr lang="en-US" sz="600" dirty="0" smtClean="0"/>
          </a:p>
          <a:p>
            <a:r>
              <a:rPr lang="en-US" sz="600" dirty="0" smtClean="0"/>
              <a:t>	public void destroy() {</a:t>
            </a:r>
          </a:p>
          <a:p>
            <a:r>
              <a:rPr lang="en-US" sz="600" dirty="0" smtClean="0"/>
              <a:t>		System.out.println("HaiServlet - destroy()");</a:t>
            </a:r>
          </a:p>
          <a:p>
            <a:r>
              <a:rPr lang="en-US" sz="600" dirty="0" smtClean="0"/>
              <a:t>	}</a:t>
            </a:r>
          </a:p>
          <a:p>
            <a:r>
              <a:rPr lang="en-US" sz="600" dirty="0" smtClean="0"/>
              <a:t>}</a:t>
            </a:r>
          </a:p>
          <a:p>
            <a:endParaRPr lang="en-US" sz="600" dirty="0"/>
          </a:p>
        </p:txBody>
      </p:sp>
      <p:sp>
        <p:nvSpPr>
          <p:cNvPr id="3" name="TextBox 2"/>
          <p:cNvSpPr txBox="1"/>
          <p:nvPr/>
        </p:nvSpPr>
        <p:spPr>
          <a:xfrm>
            <a:off x="5105400" y="914400"/>
            <a:ext cx="3429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 smtClean="0">
                <a:solidFill>
                  <a:srgbClr val="FF0000"/>
                </a:solidFill>
              </a:rPr>
              <a:t>HaiServlet.java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0" y="2286000"/>
            <a:ext cx="3200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 smtClean="0">
                <a:solidFill>
                  <a:srgbClr val="FF0000"/>
                </a:solidFill>
              </a:rPr>
              <a:t>web.xml</a:t>
            </a:r>
            <a:endParaRPr lang="en-US" sz="4400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838200"/>
            <a:ext cx="7239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&lt;?xml version=</a:t>
            </a:r>
            <a:r>
              <a:rPr lang="en-US" i="1" dirty="0" smtClean="0"/>
              <a:t>"1.0" encoding="UTF-8"?&gt;</a:t>
            </a:r>
          </a:p>
          <a:p>
            <a:r>
              <a:rPr lang="en-US" dirty="0" smtClean="0"/>
              <a:t>&lt;web-app xmlns:xsi=</a:t>
            </a:r>
            <a:r>
              <a:rPr lang="en-US" i="1" dirty="0" smtClean="0"/>
              <a:t>"http://www.w3.org/2001/XMLSchema-instance"</a:t>
            </a:r>
          </a:p>
          <a:p>
            <a:r>
              <a:rPr lang="en-US" dirty="0" smtClean="0"/>
              <a:t>xmlns=</a:t>
            </a:r>
            <a:r>
              <a:rPr lang="en-US" i="1" dirty="0" smtClean="0"/>
              <a:t>"http://xmlns.jcp.org/xml/ns/javaee"</a:t>
            </a:r>
          </a:p>
          <a:p>
            <a:r>
              <a:rPr lang="en-US" dirty="0" smtClean="0"/>
              <a:t>xsi:schemaLocation=</a:t>
            </a:r>
            <a:r>
              <a:rPr lang="en-US" i="1" dirty="0" smtClean="0"/>
              <a:t>"http://xmlns.jcp.org/xml/ns/javaee http://xmlns.jcp.org/xml/ns/javaee/web-app_3_1.xsd"</a:t>
            </a:r>
          </a:p>
          <a:p>
            <a:r>
              <a:rPr lang="en-US" dirty="0" smtClean="0"/>
              <a:t>id=</a:t>
            </a:r>
            <a:r>
              <a:rPr lang="en-US" i="1" dirty="0" smtClean="0"/>
              <a:t>"WebApp_ID" version="3.1"&gt;</a:t>
            </a:r>
          </a:p>
          <a:p>
            <a:r>
              <a:rPr lang="en-US" dirty="0" smtClean="0"/>
              <a:t>&lt;display-name&gt;mylab8&lt;/display-name&gt;</a:t>
            </a:r>
          </a:p>
          <a:p>
            <a:r>
              <a:rPr lang="en-US" dirty="0" smtClean="0"/>
              <a:t>&lt;welcome-file-list&gt;</a:t>
            </a:r>
          </a:p>
          <a:p>
            <a:r>
              <a:rPr lang="en-US" dirty="0" smtClean="0"/>
              <a:t>&lt;welcome-file&gt;index.html&lt;/welcome-file&gt;</a:t>
            </a:r>
          </a:p>
          <a:p>
            <a:r>
              <a:rPr lang="en-US" dirty="0" smtClean="0"/>
              <a:t>&lt;/welcome-file-list&gt;</a:t>
            </a:r>
          </a:p>
          <a:p>
            <a:r>
              <a:rPr lang="en-US" dirty="0" smtClean="0"/>
              <a:t>&lt;context-param&gt;</a:t>
            </a:r>
          </a:p>
          <a:p>
            <a:r>
              <a:rPr lang="en-US" dirty="0" smtClean="0"/>
              <a:t>&lt;param-name&gt;</a:t>
            </a:r>
            <a:r>
              <a:rPr lang="en-US" u="sng" dirty="0" smtClean="0"/>
              <a:t>website&lt;/param-name&gt;</a:t>
            </a:r>
          </a:p>
          <a:p>
            <a:r>
              <a:rPr lang="en-US" dirty="0" smtClean="0"/>
              <a:t>&lt;param-value&gt;www.mywebsite.com&lt;/param-value&gt;</a:t>
            </a:r>
          </a:p>
          <a:p>
            <a:r>
              <a:rPr lang="en-US" dirty="0" smtClean="0"/>
              <a:t>&lt;/context-param&gt;</a:t>
            </a:r>
          </a:p>
          <a:p>
            <a:r>
              <a:rPr lang="en-US" dirty="0" smtClean="0"/>
              <a:t>&lt;/web-app&gt;</a:t>
            </a:r>
            <a:endParaRPr 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05400" y="609600"/>
            <a:ext cx="3581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i="1" u="sng" dirty="0" smtClean="0">
                <a:solidFill>
                  <a:srgbClr val="FF0000"/>
                </a:solidFill>
              </a:rPr>
              <a:t>mylab9</a:t>
            </a:r>
          </a:p>
          <a:p>
            <a:r>
              <a:rPr lang="en-IN" sz="4400" dirty="0" smtClean="0">
                <a:solidFill>
                  <a:srgbClr val="FF0000"/>
                </a:solidFill>
              </a:rPr>
              <a:t>index.html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" y="228600"/>
            <a:ext cx="83820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&lt;!DOCTYPE html&gt;</a:t>
            </a:r>
          </a:p>
          <a:p>
            <a:r>
              <a:rPr lang="en-US" sz="1600" dirty="0" smtClean="0"/>
              <a:t>&lt;html&gt;</a:t>
            </a:r>
          </a:p>
          <a:p>
            <a:r>
              <a:rPr lang="en-US" sz="1600" dirty="0" smtClean="0"/>
              <a:t>&lt;head&gt;</a:t>
            </a:r>
          </a:p>
          <a:p>
            <a:r>
              <a:rPr lang="en-US" sz="1600" dirty="0" smtClean="0"/>
              <a:t>&lt;title&gt;Welcome to Java Web </a:t>
            </a:r>
            <a:r>
              <a:rPr lang="en-US" sz="1600" u="sng" dirty="0" smtClean="0"/>
              <a:t>App&lt;/title&gt;</a:t>
            </a:r>
          </a:p>
          <a:p>
            <a:r>
              <a:rPr lang="en-US" sz="1600" dirty="0" smtClean="0"/>
              <a:t>&lt;/head&gt;</a:t>
            </a:r>
          </a:p>
          <a:p>
            <a:r>
              <a:rPr lang="en-US" sz="1600" dirty="0" smtClean="0"/>
              <a:t>&lt;body&gt;</a:t>
            </a:r>
          </a:p>
          <a:p>
            <a:r>
              <a:rPr lang="pt-BR" sz="1600" dirty="0" smtClean="0"/>
              <a:t>&lt;h2&gt;Welcome to Java </a:t>
            </a:r>
            <a:r>
              <a:rPr lang="pt-BR" sz="1600" u="sng" dirty="0" smtClean="0"/>
              <a:t>Servlets&lt;/h2&gt;</a:t>
            </a:r>
          </a:p>
          <a:p>
            <a:r>
              <a:rPr lang="en-US" sz="1600" dirty="0" smtClean="0"/>
              <a:t>&lt;h3&gt;Demo Form&lt;/h3&gt;</a:t>
            </a:r>
          </a:p>
          <a:p>
            <a:r>
              <a:rPr lang="en-US" sz="1600" dirty="0" smtClean="0"/>
              <a:t>&lt;form action=</a:t>
            </a:r>
            <a:r>
              <a:rPr lang="en-US" sz="1600" i="1" dirty="0" smtClean="0"/>
              <a:t>"mydemo" method="post"&gt;</a:t>
            </a:r>
          </a:p>
          <a:p>
            <a:r>
              <a:rPr lang="en-US" sz="1600" dirty="0" smtClean="0"/>
              <a:t>&lt;table&gt;</a:t>
            </a:r>
          </a:p>
          <a:p>
            <a:r>
              <a:rPr lang="en-US" sz="1600" dirty="0" smtClean="0"/>
              <a:t>&lt;tr&gt;</a:t>
            </a:r>
          </a:p>
          <a:p>
            <a:r>
              <a:rPr lang="en-US" sz="1600" dirty="0" smtClean="0"/>
              <a:t>&lt;td&gt;Full Name&lt;/td&gt;</a:t>
            </a:r>
          </a:p>
          <a:p>
            <a:r>
              <a:rPr lang="en-US" sz="1600" dirty="0" smtClean="0"/>
              <a:t>&lt;td&gt;&lt;input type=</a:t>
            </a:r>
            <a:r>
              <a:rPr lang="en-US" sz="1600" i="1" dirty="0" smtClean="0"/>
              <a:t>"text" name="fname" /&gt;&lt;/td&gt;</a:t>
            </a:r>
          </a:p>
          <a:p>
            <a:r>
              <a:rPr lang="en-US" sz="1600" dirty="0" smtClean="0"/>
              <a:t>&lt;/tr&gt;</a:t>
            </a:r>
          </a:p>
          <a:p>
            <a:r>
              <a:rPr lang="en-US" sz="1600" dirty="0" smtClean="0"/>
              <a:t>&lt;tr&gt;</a:t>
            </a:r>
          </a:p>
          <a:p>
            <a:r>
              <a:rPr lang="en-US" sz="1600" dirty="0" smtClean="0"/>
              <a:t>&lt;td&gt;Phone&lt;/td&gt;</a:t>
            </a:r>
          </a:p>
          <a:p>
            <a:r>
              <a:rPr lang="en-US" sz="1600" dirty="0" smtClean="0"/>
              <a:t>&lt;td&gt;&lt;input type=</a:t>
            </a:r>
            <a:r>
              <a:rPr lang="en-US" sz="1600" i="1" dirty="0" smtClean="0"/>
              <a:t>"text" name="phone" /&gt;&lt;/td&gt;</a:t>
            </a:r>
          </a:p>
          <a:p>
            <a:r>
              <a:rPr lang="en-US" sz="1600" dirty="0" smtClean="0"/>
              <a:t>&lt;/tr&gt;</a:t>
            </a:r>
          </a:p>
          <a:p>
            <a:r>
              <a:rPr lang="en-US" sz="1600" dirty="0" smtClean="0"/>
              <a:t>&lt;tr&gt;</a:t>
            </a:r>
          </a:p>
          <a:p>
            <a:r>
              <a:rPr lang="en-US" sz="1600" dirty="0" smtClean="0"/>
              <a:t>&lt;td colspan=</a:t>
            </a:r>
            <a:r>
              <a:rPr lang="en-US" sz="1600" i="1" dirty="0" smtClean="0"/>
              <a:t>"2" align="center"&gt;&lt;input type="submit"</a:t>
            </a:r>
          </a:p>
          <a:p>
            <a:r>
              <a:rPr lang="en-US" sz="1600" dirty="0" smtClean="0"/>
              <a:t>value=</a:t>
            </a:r>
            <a:r>
              <a:rPr lang="en-US" sz="1600" i="1" dirty="0" smtClean="0"/>
              <a:t>"Submit" /&gt;&lt;/td&gt;</a:t>
            </a:r>
          </a:p>
          <a:p>
            <a:r>
              <a:rPr lang="en-US" sz="1600" dirty="0" smtClean="0"/>
              <a:t>&lt;/tr&gt;</a:t>
            </a:r>
          </a:p>
          <a:p>
            <a:r>
              <a:rPr lang="en-US" sz="1600" dirty="0" smtClean="0"/>
              <a:t>&lt;/table&gt;</a:t>
            </a:r>
          </a:p>
          <a:p>
            <a:r>
              <a:rPr lang="en-US" sz="1600" dirty="0" smtClean="0"/>
              <a:t>&lt;/form&gt;</a:t>
            </a:r>
          </a:p>
          <a:p>
            <a:r>
              <a:rPr lang="en-US" sz="1600" dirty="0" smtClean="0"/>
              <a:t>&lt;/body&gt;</a:t>
            </a:r>
          </a:p>
          <a:p>
            <a:r>
              <a:rPr lang="en-US" sz="1600" dirty="0" smtClean="0"/>
              <a:t>&lt;/html&gt;</a:t>
            </a:r>
            <a:endParaRPr lang="en-US" sz="16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05400" y="914400"/>
            <a:ext cx="4038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 smtClean="0">
                <a:solidFill>
                  <a:srgbClr val="FF0000"/>
                </a:solidFill>
              </a:rPr>
              <a:t>DemoServlet.java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52400"/>
            <a:ext cx="8991600" cy="6786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 smtClean="0"/>
              <a:t>package com.vrsec.servlets;</a:t>
            </a:r>
          </a:p>
          <a:p>
            <a:endParaRPr lang="en-US" sz="500" dirty="0" smtClean="0"/>
          </a:p>
          <a:p>
            <a:r>
              <a:rPr lang="en-US" sz="500" dirty="0" smtClean="0"/>
              <a:t>import java.io.*;</a:t>
            </a:r>
          </a:p>
          <a:p>
            <a:r>
              <a:rPr lang="en-US" sz="500" dirty="0" smtClean="0"/>
              <a:t>import java.util.*;</a:t>
            </a:r>
          </a:p>
          <a:p>
            <a:r>
              <a:rPr lang="en-US" sz="500" dirty="0" smtClean="0"/>
              <a:t>import javax.servlet.*;</a:t>
            </a:r>
          </a:p>
          <a:p>
            <a:r>
              <a:rPr lang="en-US" sz="500" dirty="0" smtClean="0"/>
              <a:t>import javax.servlet.http.*;</a:t>
            </a:r>
          </a:p>
          <a:p>
            <a:endParaRPr lang="en-US" sz="500" dirty="0" smtClean="0"/>
          </a:p>
          <a:p>
            <a:r>
              <a:rPr lang="en-US" sz="500" dirty="0" smtClean="0"/>
              <a:t>public class DemoServlet extends HttpServlet {</a:t>
            </a:r>
          </a:p>
          <a:p>
            <a:r>
              <a:rPr lang="en-US" sz="500" dirty="0" smtClean="0"/>
              <a:t>	static {</a:t>
            </a:r>
          </a:p>
          <a:p>
            <a:r>
              <a:rPr lang="en-US" sz="500" dirty="0" smtClean="0"/>
              <a:t>		System.out.println("DemoServlet - S.B");</a:t>
            </a:r>
          </a:p>
          <a:p>
            <a:r>
              <a:rPr lang="en-US" sz="500" dirty="0" smtClean="0"/>
              <a:t>	}</a:t>
            </a:r>
          </a:p>
          <a:p>
            <a:endParaRPr lang="en-US" sz="500" dirty="0" smtClean="0"/>
          </a:p>
          <a:p>
            <a:r>
              <a:rPr lang="en-US" sz="500" dirty="0" smtClean="0"/>
              <a:t>	public DemoServlet() {</a:t>
            </a:r>
          </a:p>
          <a:p>
            <a:r>
              <a:rPr lang="en-US" sz="500" dirty="0" smtClean="0"/>
              <a:t>		System.out.println("DemoServlet - D.C");</a:t>
            </a:r>
          </a:p>
          <a:p>
            <a:r>
              <a:rPr lang="en-US" sz="500" dirty="0" smtClean="0"/>
              <a:t>	}</a:t>
            </a:r>
          </a:p>
          <a:p>
            <a:endParaRPr lang="en-US" sz="500" dirty="0" smtClean="0"/>
          </a:p>
          <a:p>
            <a:r>
              <a:rPr lang="en-US" sz="500" dirty="0" smtClean="0"/>
              <a:t>	public void init(ServletConfig sconfig) throws ServletException {</a:t>
            </a:r>
          </a:p>
          <a:p>
            <a:r>
              <a:rPr lang="en-US" sz="500" dirty="0" smtClean="0"/>
              <a:t>		super.init(sconfig);</a:t>
            </a:r>
          </a:p>
          <a:p>
            <a:r>
              <a:rPr lang="en-US" sz="500" dirty="0" smtClean="0"/>
              <a:t>		System.out.println("DemoServlet - init()");</a:t>
            </a:r>
          </a:p>
          <a:p>
            <a:r>
              <a:rPr lang="en-US" sz="500" dirty="0" smtClean="0"/>
              <a:t>	}</a:t>
            </a:r>
          </a:p>
          <a:p>
            <a:endParaRPr lang="en-US" sz="500" dirty="0" smtClean="0"/>
          </a:p>
          <a:p>
            <a:r>
              <a:rPr lang="en-US" sz="500" dirty="0" smtClean="0"/>
              <a:t>	public void service(HttpServletRequest request, HttpServletResponse response) throws IOException, ServletException {</a:t>
            </a:r>
          </a:p>
          <a:p>
            <a:r>
              <a:rPr lang="en-US" sz="500" dirty="0" smtClean="0"/>
              <a:t>		System.out.println("DemoServlet - service()");</a:t>
            </a:r>
          </a:p>
          <a:p>
            <a:r>
              <a:rPr lang="en-US" sz="500" dirty="0" smtClean="0"/>
              <a:t>		// A.Collect Request Params</a:t>
            </a:r>
          </a:p>
          <a:p>
            <a:r>
              <a:rPr lang="en-US" sz="500" dirty="0" smtClean="0"/>
              <a:t>		System.out.println("----A. Request Params-----");</a:t>
            </a:r>
          </a:p>
          <a:p>
            <a:r>
              <a:rPr lang="en-US" sz="500" dirty="0" smtClean="0"/>
              <a:t>		System.out.println("----Option 1: ------");</a:t>
            </a:r>
          </a:p>
          <a:p>
            <a:r>
              <a:rPr lang="en-US" sz="500" dirty="0" smtClean="0"/>
              <a:t>		String fname = request.getParameter("fname");</a:t>
            </a:r>
          </a:p>
          <a:p>
            <a:r>
              <a:rPr lang="en-US" sz="500" dirty="0" smtClean="0"/>
              <a:t>		String phone = request.getParameter("phone");</a:t>
            </a:r>
          </a:p>
          <a:p>
            <a:r>
              <a:rPr lang="en-US" sz="500" dirty="0" smtClean="0"/>
              <a:t>		System.out.println(fname);</a:t>
            </a:r>
          </a:p>
          <a:p>
            <a:r>
              <a:rPr lang="en-US" sz="500" dirty="0" smtClean="0"/>
              <a:t>		System.out.println(phone);</a:t>
            </a:r>
          </a:p>
          <a:p>
            <a:r>
              <a:rPr lang="en-US" sz="500" dirty="0" smtClean="0"/>
              <a:t>		System.out.println("----Option 2: ------");</a:t>
            </a:r>
          </a:p>
          <a:p>
            <a:r>
              <a:rPr lang="en-US" sz="500" dirty="0" smtClean="0"/>
              <a:t>		Enumeration&lt;String&gt; enms = request.getParameterNames();</a:t>
            </a:r>
          </a:p>
          <a:p>
            <a:r>
              <a:rPr lang="en-US" sz="500" dirty="0" smtClean="0"/>
              <a:t>		List&lt;String&gt; paramNames1 = Collections.list(enms);</a:t>
            </a:r>
          </a:p>
          <a:p>
            <a:r>
              <a:rPr lang="en-US" sz="500" dirty="0" smtClean="0"/>
              <a:t>		for (String pname : paramNames1) {</a:t>
            </a:r>
          </a:p>
          <a:p>
            <a:r>
              <a:rPr lang="en-US" sz="500" dirty="0" smtClean="0"/>
              <a:t>			String pvalue = request.getParameter(pname);</a:t>
            </a:r>
          </a:p>
          <a:p>
            <a:r>
              <a:rPr lang="en-US" sz="500" dirty="0" smtClean="0"/>
              <a:t>			System.out.println(pname + "\t" + pvalue);</a:t>
            </a:r>
          </a:p>
          <a:p>
            <a:r>
              <a:rPr lang="en-US" sz="500" dirty="0" smtClean="0"/>
              <a:t>		}</a:t>
            </a:r>
          </a:p>
          <a:p>
            <a:r>
              <a:rPr lang="en-US" sz="500" dirty="0" smtClean="0"/>
              <a:t>		System.out.println("----Option 3: ------");</a:t>
            </a:r>
          </a:p>
          <a:p>
            <a:r>
              <a:rPr lang="en-US" sz="500" dirty="0" smtClean="0"/>
              <a:t>		Map&lt;String, String[]&gt; paramMap = request.getParameterMap();</a:t>
            </a:r>
          </a:p>
          <a:p>
            <a:r>
              <a:rPr lang="en-US" sz="500" dirty="0" smtClean="0"/>
              <a:t>		Set&lt;String&gt; panamMames2 = paramMap.keySet();</a:t>
            </a:r>
          </a:p>
          <a:p>
            <a:r>
              <a:rPr lang="en-US" sz="500" dirty="0" smtClean="0"/>
              <a:t>		for (String pname : panamMames2) {</a:t>
            </a:r>
          </a:p>
          <a:p>
            <a:r>
              <a:rPr lang="en-US" sz="500" dirty="0" smtClean="0"/>
              <a:t>			String pvalue[] = paramMap.get(pname);</a:t>
            </a:r>
          </a:p>
          <a:p>
            <a:r>
              <a:rPr lang="en-US" sz="500" dirty="0" smtClean="0"/>
              <a:t>			System.out.println(pname + "\t" + pvalue[0]);</a:t>
            </a:r>
          </a:p>
          <a:p>
            <a:r>
              <a:rPr lang="en-US" sz="500" dirty="0" smtClean="0"/>
              <a:t>		}</a:t>
            </a:r>
          </a:p>
          <a:p>
            <a:r>
              <a:rPr lang="en-US" sz="500" dirty="0" smtClean="0"/>
              <a:t>		System.out.println("--------------------------");</a:t>
            </a:r>
          </a:p>
          <a:p>
            <a:r>
              <a:rPr lang="en-US" sz="500" dirty="0" smtClean="0"/>
              <a:t>		// B.Collect Config Params</a:t>
            </a:r>
          </a:p>
          <a:p>
            <a:r>
              <a:rPr lang="en-US" sz="500" dirty="0" smtClean="0"/>
              <a:t>		System.out.println("---B.Config Params-----");</a:t>
            </a:r>
          </a:p>
          <a:p>
            <a:r>
              <a:rPr lang="en-US" sz="500" dirty="0" smtClean="0"/>
              <a:t>		ServletConfig sconfig = getServletConfig();</a:t>
            </a:r>
          </a:p>
          <a:p>
            <a:r>
              <a:rPr lang="en-US" sz="500" dirty="0" smtClean="0"/>
              <a:t>		System.out.println("----Option 1: ------");</a:t>
            </a:r>
          </a:p>
          <a:p>
            <a:r>
              <a:rPr lang="en-US" sz="500" dirty="0" smtClean="0"/>
              <a:t>		String email = sconfig.getInitParameter("email");</a:t>
            </a:r>
          </a:p>
          <a:p>
            <a:r>
              <a:rPr lang="en-US" sz="500" dirty="0" smtClean="0"/>
              <a:t>		String city = sconfig.getInitParameter("city");</a:t>
            </a:r>
          </a:p>
          <a:p>
            <a:r>
              <a:rPr lang="en-US" sz="500" dirty="0" smtClean="0"/>
              <a:t>		System.out.println(email);</a:t>
            </a:r>
          </a:p>
          <a:p>
            <a:r>
              <a:rPr lang="en-US" sz="500" dirty="0" smtClean="0"/>
              <a:t>		System.out.println(city);</a:t>
            </a:r>
          </a:p>
          <a:p>
            <a:r>
              <a:rPr lang="en-US" sz="500" dirty="0" smtClean="0"/>
              <a:t>		System.out.println("----Option 2: ------");</a:t>
            </a:r>
          </a:p>
          <a:p>
            <a:r>
              <a:rPr lang="en-US" sz="500" dirty="0" smtClean="0"/>
              <a:t>		Enumeration&lt;String&gt; enms1 = sconfig.getInitParameterNames();</a:t>
            </a:r>
          </a:p>
          <a:p>
            <a:r>
              <a:rPr lang="en-US" sz="500" dirty="0" smtClean="0"/>
              <a:t>		List&lt;String&gt; configParams = Collections.list(enms1);</a:t>
            </a:r>
          </a:p>
          <a:p>
            <a:r>
              <a:rPr lang="en-US" sz="500" dirty="0" smtClean="0"/>
              <a:t>		for (String pname : configParams) {</a:t>
            </a:r>
          </a:p>
          <a:p>
            <a:r>
              <a:rPr lang="en-US" sz="500" dirty="0" smtClean="0"/>
              <a:t>			String pvalue = sconfig.getInitParameter(pname);</a:t>
            </a:r>
          </a:p>
          <a:p>
            <a:r>
              <a:rPr lang="en-US" sz="500" dirty="0" smtClean="0"/>
              <a:t>			System.out.println(pname + "\t" + pvalue);</a:t>
            </a:r>
          </a:p>
          <a:p>
            <a:r>
              <a:rPr lang="en-US" sz="500" dirty="0" smtClean="0"/>
              <a:t>		}</a:t>
            </a:r>
          </a:p>
          <a:p>
            <a:r>
              <a:rPr lang="en-US" sz="500" dirty="0" smtClean="0"/>
              <a:t>		System.out.println("--------------------------");</a:t>
            </a:r>
          </a:p>
          <a:p>
            <a:r>
              <a:rPr lang="en-US" sz="500" dirty="0" smtClean="0"/>
              <a:t>		// C.Collect Context Params</a:t>
            </a:r>
          </a:p>
          <a:p>
            <a:r>
              <a:rPr lang="en-US" sz="500" dirty="0" smtClean="0"/>
              <a:t>		System.out.println("---C.Context Params-----");</a:t>
            </a:r>
          </a:p>
          <a:p>
            <a:r>
              <a:rPr lang="en-US" sz="500" dirty="0" smtClean="0"/>
              <a:t>		ServletContext scontext = sconfig.getServletContext();</a:t>
            </a:r>
          </a:p>
          <a:p>
            <a:r>
              <a:rPr lang="en-US" sz="500" dirty="0" smtClean="0"/>
              <a:t>		System.out.println("----Option 1: ------");</a:t>
            </a:r>
          </a:p>
          <a:p>
            <a:r>
              <a:rPr lang="en-US" sz="500" dirty="0" smtClean="0"/>
              <a:t>		String state = scontext.getInitParameter("state");</a:t>
            </a:r>
          </a:p>
          <a:p>
            <a:r>
              <a:rPr lang="en-US" sz="500" dirty="0" smtClean="0"/>
              <a:t>		String country = scontext.getInitParameter("country");</a:t>
            </a:r>
          </a:p>
          <a:p>
            <a:r>
              <a:rPr lang="en-US" sz="500" dirty="0" smtClean="0"/>
              <a:t>		System.out.println(state);</a:t>
            </a:r>
          </a:p>
          <a:p>
            <a:r>
              <a:rPr lang="en-US" sz="500" dirty="0" smtClean="0"/>
              <a:t>		System.out.println(country);</a:t>
            </a:r>
          </a:p>
          <a:p>
            <a:r>
              <a:rPr lang="en-US" sz="500" dirty="0" smtClean="0"/>
              <a:t>		System.out.println("----Option 2: ------");</a:t>
            </a:r>
          </a:p>
          <a:p>
            <a:r>
              <a:rPr lang="en-US" sz="500" dirty="0" smtClean="0"/>
              <a:t>		Enumeration&lt;String&gt; enms2 = scontext.getInitParameterNames();</a:t>
            </a:r>
          </a:p>
          <a:p>
            <a:r>
              <a:rPr lang="en-US" sz="500" dirty="0" smtClean="0"/>
              <a:t>		List&lt;String&gt; contextParams = Collections.list(enms2);</a:t>
            </a:r>
          </a:p>
          <a:p>
            <a:r>
              <a:rPr lang="en-US" sz="500" dirty="0" smtClean="0"/>
              <a:t>		for (String pname : contextParams) {</a:t>
            </a:r>
          </a:p>
          <a:p>
            <a:r>
              <a:rPr lang="en-US" sz="500" dirty="0" smtClean="0"/>
              <a:t>			String pvalue = scontext.getInitParameter(pname);</a:t>
            </a:r>
          </a:p>
          <a:p>
            <a:r>
              <a:rPr lang="en-US" sz="500" dirty="0" smtClean="0"/>
              <a:t>			System.out.println(pname + "\t" + pvalue);</a:t>
            </a:r>
          </a:p>
          <a:p>
            <a:r>
              <a:rPr lang="en-US" sz="500" dirty="0" smtClean="0"/>
              <a:t>		}</a:t>
            </a:r>
          </a:p>
          <a:p>
            <a:r>
              <a:rPr lang="en-US" sz="500" dirty="0" smtClean="0"/>
              <a:t>		// 5.Send Response</a:t>
            </a:r>
          </a:p>
          <a:p>
            <a:r>
              <a:rPr lang="en-US" sz="500" dirty="0" smtClean="0"/>
              <a:t>		response.setContentType("text/html");</a:t>
            </a:r>
          </a:p>
          <a:p>
            <a:r>
              <a:rPr lang="en-US" sz="500" dirty="0" smtClean="0"/>
              <a:t>		PrintWriter out = response.getWriter();</a:t>
            </a:r>
          </a:p>
          <a:p>
            <a:r>
              <a:rPr lang="en-US" sz="500" dirty="0" smtClean="0"/>
              <a:t>		out.print("&lt;h2&gt; Check the Server Console &lt;h2&gt;");</a:t>
            </a:r>
          </a:p>
          <a:p>
            <a:r>
              <a:rPr lang="en-US" sz="500" dirty="0" smtClean="0"/>
              <a:t>	}</a:t>
            </a:r>
          </a:p>
          <a:p>
            <a:endParaRPr lang="en-US" sz="500" dirty="0" smtClean="0"/>
          </a:p>
          <a:p>
            <a:r>
              <a:rPr lang="en-US" sz="500" dirty="0" smtClean="0"/>
              <a:t>	public void destroy() {</a:t>
            </a:r>
          </a:p>
          <a:p>
            <a:r>
              <a:rPr lang="en-US" sz="500" dirty="0" smtClean="0"/>
              <a:t>		System.out.println("DemoServlet - destroy()");</a:t>
            </a:r>
          </a:p>
          <a:p>
            <a:r>
              <a:rPr lang="en-US" sz="500" dirty="0" smtClean="0"/>
              <a:t>	}</a:t>
            </a:r>
          </a:p>
          <a:p>
            <a:r>
              <a:rPr lang="en-US" sz="500" dirty="0" smtClean="0"/>
              <a:t>}</a:t>
            </a:r>
          </a:p>
          <a:p>
            <a:endParaRPr lang="en-US" sz="5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822960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&lt;?xml version=</a:t>
            </a:r>
            <a:r>
              <a:rPr lang="en-US" sz="1400" i="1" dirty="0" smtClean="0"/>
              <a:t>"1.0" encoding="UTF-8"?&gt;</a:t>
            </a:r>
          </a:p>
          <a:p>
            <a:r>
              <a:rPr lang="en-US" sz="1400" dirty="0" smtClean="0"/>
              <a:t>&lt;web-app xmlns:xsi=</a:t>
            </a:r>
            <a:r>
              <a:rPr lang="en-US" sz="1400" i="1" dirty="0" smtClean="0"/>
              <a:t>"http://www.w3.org/2001/XMLSchema-instance"</a:t>
            </a:r>
          </a:p>
          <a:p>
            <a:r>
              <a:rPr lang="en-US" sz="1400" dirty="0" smtClean="0"/>
              <a:t>xmlns=</a:t>
            </a:r>
            <a:r>
              <a:rPr lang="en-US" sz="1400" i="1" dirty="0" smtClean="0"/>
              <a:t>"http://xmlns.jcp.org/xml/ns/javaee"</a:t>
            </a:r>
          </a:p>
          <a:p>
            <a:r>
              <a:rPr lang="en-US" sz="1400" dirty="0" smtClean="0"/>
              <a:t>xsi:schemaLocation=</a:t>
            </a:r>
            <a:r>
              <a:rPr lang="en-US" sz="1400" i="1" dirty="0" smtClean="0"/>
              <a:t>"http://xmlns.jcp.org/xml/ns/javaee http://xmlns.jcp.org/xml/ns/javaee/web-app_3_1.xsd"</a:t>
            </a:r>
          </a:p>
          <a:p>
            <a:r>
              <a:rPr lang="en-US" sz="1400" dirty="0" smtClean="0"/>
              <a:t>id=</a:t>
            </a:r>
            <a:r>
              <a:rPr lang="en-US" sz="1400" i="1" dirty="0" smtClean="0"/>
              <a:t>"WebApp_ID" version="3.1"&gt;</a:t>
            </a:r>
          </a:p>
          <a:p>
            <a:r>
              <a:rPr lang="en-US" sz="1400" dirty="0" smtClean="0"/>
              <a:t>&lt;display-name&gt;mylab9&lt;/display-name&gt;</a:t>
            </a:r>
          </a:p>
          <a:p>
            <a:r>
              <a:rPr lang="en-US" sz="1400" dirty="0" smtClean="0"/>
              <a:t>&lt;welcome-file-list&gt;</a:t>
            </a:r>
          </a:p>
          <a:p>
            <a:r>
              <a:rPr lang="en-US" sz="1400" dirty="0" smtClean="0"/>
              <a:t>&lt;welcome-file&gt;index.html&lt;/welcome-file&gt;</a:t>
            </a:r>
          </a:p>
          <a:p>
            <a:r>
              <a:rPr lang="en-US" sz="1400" dirty="0" smtClean="0"/>
              <a:t>&lt;/welcome-file-list&gt;</a:t>
            </a:r>
          </a:p>
          <a:p>
            <a:r>
              <a:rPr lang="en-US" sz="1400" dirty="0" smtClean="0"/>
              <a:t>&lt;context-param&gt;</a:t>
            </a:r>
          </a:p>
          <a:p>
            <a:r>
              <a:rPr lang="en-US" sz="1400" dirty="0" smtClean="0"/>
              <a:t>&lt;param-name&gt;state&lt;/param-name&gt;</a:t>
            </a:r>
          </a:p>
          <a:p>
            <a:r>
              <a:rPr lang="en-US" sz="1400" dirty="0" smtClean="0"/>
              <a:t>&lt;param-value&gt;</a:t>
            </a:r>
            <a:r>
              <a:rPr lang="en-US" sz="1400" u="sng" dirty="0" smtClean="0"/>
              <a:t>Andhra&lt;/param-value&gt;</a:t>
            </a:r>
          </a:p>
          <a:p>
            <a:r>
              <a:rPr lang="en-US" sz="1400" dirty="0" smtClean="0"/>
              <a:t>&lt;/context-param&gt;</a:t>
            </a:r>
          </a:p>
          <a:p>
            <a:r>
              <a:rPr lang="en-US" sz="1400" dirty="0" smtClean="0"/>
              <a:t>&lt;context-param&gt;</a:t>
            </a:r>
          </a:p>
          <a:p>
            <a:r>
              <a:rPr lang="en-US" sz="1400" dirty="0" smtClean="0"/>
              <a:t>&lt;param-name&gt;country&lt;/param-name&gt;</a:t>
            </a:r>
          </a:p>
          <a:p>
            <a:r>
              <a:rPr lang="en-US" sz="1400" dirty="0" smtClean="0"/>
              <a:t>&lt;param-value&gt;India&lt;/param-value&gt;</a:t>
            </a:r>
          </a:p>
          <a:p>
            <a:r>
              <a:rPr lang="en-US" sz="1400" dirty="0" smtClean="0"/>
              <a:t>&lt;/context-param&gt;</a:t>
            </a:r>
          </a:p>
          <a:p>
            <a:r>
              <a:rPr lang="en-US" sz="1400" dirty="0" smtClean="0"/>
              <a:t>&lt;servlet&gt;</a:t>
            </a:r>
          </a:p>
          <a:p>
            <a:r>
              <a:rPr lang="en-US" sz="1400" dirty="0" smtClean="0"/>
              <a:t>&lt;servlet-name&gt;demo&lt;/servlet-name&gt;</a:t>
            </a:r>
          </a:p>
          <a:p>
            <a:r>
              <a:rPr lang="en-US" sz="1400" dirty="0" smtClean="0"/>
              <a:t>&lt;servlet-class&gt;com.vrsec.servlets.DemoServlet&lt;/servlet-class&gt;</a:t>
            </a:r>
          </a:p>
          <a:p>
            <a:r>
              <a:rPr lang="en-US" sz="1400" dirty="0" smtClean="0"/>
              <a:t>&lt;init-param&gt;</a:t>
            </a:r>
          </a:p>
          <a:p>
            <a:r>
              <a:rPr lang="en-US" sz="1400" dirty="0" smtClean="0"/>
              <a:t>&lt;param-name&gt;email&lt;/param-name&gt;</a:t>
            </a:r>
          </a:p>
          <a:p>
            <a:r>
              <a:rPr lang="en-US" sz="1400" dirty="0" smtClean="0"/>
              <a:t>&lt;param-value&gt;demo</a:t>
            </a:r>
            <a:r>
              <a:rPr lang="en-US" sz="1400" u="sng" dirty="0" smtClean="0"/>
              <a:t>@gmail.com&lt;/param-value&gt;</a:t>
            </a:r>
          </a:p>
          <a:p>
            <a:r>
              <a:rPr lang="en-US" sz="1400" dirty="0" smtClean="0"/>
              <a:t>&lt;/init-param&gt;</a:t>
            </a:r>
          </a:p>
          <a:p>
            <a:r>
              <a:rPr lang="en-US" sz="1400" dirty="0" smtClean="0"/>
              <a:t>&lt;init-param&gt;</a:t>
            </a:r>
          </a:p>
          <a:p>
            <a:r>
              <a:rPr lang="en-US" sz="1400" dirty="0" smtClean="0"/>
              <a:t>&lt;param-name&gt;city&lt;/param-name&gt;</a:t>
            </a:r>
          </a:p>
          <a:p>
            <a:r>
              <a:rPr lang="en-US" sz="1400" dirty="0" smtClean="0"/>
              <a:t>&lt;param-value&gt;</a:t>
            </a:r>
            <a:r>
              <a:rPr lang="en-US" sz="1400" u="sng" dirty="0" smtClean="0"/>
              <a:t>Vijayawada&lt;/param-value&gt;</a:t>
            </a:r>
          </a:p>
          <a:p>
            <a:r>
              <a:rPr lang="en-US" sz="1400" dirty="0" smtClean="0"/>
              <a:t>&lt;/init-param&gt;</a:t>
            </a:r>
          </a:p>
          <a:p>
            <a:r>
              <a:rPr lang="en-US" sz="1400" dirty="0" smtClean="0"/>
              <a:t>&lt;load-on-startup&gt;99&lt;/load-on-startup&gt;</a:t>
            </a:r>
          </a:p>
          <a:p>
            <a:r>
              <a:rPr lang="en-US" sz="1400" dirty="0" smtClean="0"/>
              <a:t>&lt;/servlet&gt;</a:t>
            </a:r>
          </a:p>
          <a:p>
            <a:r>
              <a:rPr lang="en-US" sz="1400" dirty="0" smtClean="0"/>
              <a:t>&lt;servlet-mapping&gt;</a:t>
            </a:r>
          </a:p>
          <a:p>
            <a:r>
              <a:rPr lang="en-US" sz="1400" dirty="0" smtClean="0"/>
              <a:t>&lt;servlet-name&gt;demo&lt;/servlet-name&gt;</a:t>
            </a:r>
          </a:p>
          <a:p>
            <a:r>
              <a:rPr lang="en-US" sz="1400" dirty="0" smtClean="0"/>
              <a:t>&lt;url-pattern&gt;/</a:t>
            </a:r>
            <a:r>
              <a:rPr lang="en-US" sz="1400" u="sng" dirty="0" smtClean="0"/>
              <a:t>mydemo&lt;/url-pattern&gt;</a:t>
            </a:r>
          </a:p>
          <a:p>
            <a:r>
              <a:rPr lang="en-US" sz="1400" dirty="0" smtClean="0"/>
              <a:t>&lt;/servlet-mapping&gt;</a:t>
            </a:r>
          </a:p>
          <a:p>
            <a:r>
              <a:rPr lang="en-US" sz="1400" dirty="0" smtClean="0"/>
              <a:t>&lt;/web-app&gt;</a:t>
            </a:r>
            <a:endParaRPr lang="en-US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0" y="2286000"/>
            <a:ext cx="3200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 smtClean="0">
                <a:solidFill>
                  <a:srgbClr val="FF0000"/>
                </a:solidFill>
              </a:rPr>
              <a:t>web.xml</a:t>
            </a:r>
            <a:endParaRPr lang="en-US" sz="4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4800"/>
            <a:ext cx="91440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76200"/>
            <a:ext cx="8910637" cy="662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" y="133350"/>
            <a:ext cx="9124950" cy="352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"/>
            <a:ext cx="9144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4800600"/>
            <a:ext cx="86487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4800"/>
            <a:ext cx="9144000" cy="6095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600"/>
            <a:ext cx="9144000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609600"/>
            <a:ext cx="7172325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304800"/>
            <a:ext cx="9143999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4800"/>
            <a:ext cx="9144000" cy="6172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066800"/>
            <a:ext cx="687705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600"/>
            <a:ext cx="91440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228600"/>
            <a:ext cx="8991600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4114800"/>
            <a:ext cx="5400675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3505200" y="6019800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Note: </a:t>
            </a:r>
            <a:r>
              <a:rPr lang="en-IN" dirty="0" smtClean="0">
                <a:solidFill>
                  <a:srgbClr val="FF0000"/>
                </a:solidFill>
              </a:rPr>
              <a:t>Internally for container JSP is equivalent to servlet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05200" y="6019800"/>
            <a:ext cx="5410200" cy="381000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28600"/>
            <a:ext cx="50292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457200"/>
            <a:ext cx="54102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1" y="228600"/>
            <a:ext cx="6605588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28600"/>
            <a:ext cx="70866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04800"/>
            <a:ext cx="3505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4191000" y="457200"/>
            <a:ext cx="320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 smtClean="0"/>
              <a:t>(interface)</a:t>
            </a:r>
            <a:endParaRPr lang="en-US" sz="48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057400"/>
            <a:ext cx="914400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9200"/>
            <a:ext cx="91440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4495800" y="5410200"/>
            <a:ext cx="46482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 smtClean="0"/>
              <a:t>Here only body code is changing . Header , Footer ,Left Menu , Right Menu code is same here also.</a:t>
            </a:r>
            <a:endParaRPr lang="en-US" sz="25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304800"/>
            <a:ext cx="8382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/>
              <a:t>Like this I have other requirements like search by “email id”</a:t>
            </a:r>
          </a:p>
          <a:p>
            <a:r>
              <a:rPr lang="en-IN" sz="3600" dirty="0" smtClean="0"/>
              <a:t>Search by “name”</a:t>
            </a:r>
          </a:p>
          <a:p>
            <a:r>
              <a:rPr lang="en-IN" sz="3600" dirty="0" smtClean="0"/>
              <a:t>Search by “city”</a:t>
            </a:r>
          </a:p>
          <a:p>
            <a:r>
              <a:rPr lang="en-IN" sz="3600" dirty="0" smtClean="0"/>
              <a:t>Search by “fee balance”</a:t>
            </a:r>
          </a:p>
          <a:p>
            <a:r>
              <a:rPr lang="en-IN" sz="3600" dirty="0" smtClean="0"/>
              <a:t>Search by “dob”</a:t>
            </a:r>
          </a:p>
          <a:p>
            <a:r>
              <a:rPr lang="en-IN" sz="3600" dirty="0" smtClean="0"/>
              <a:t>Search by “course”</a:t>
            </a:r>
          </a:p>
          <a:p>
            <a:r>
              <a:rPr lang="en-IN" sz="3600" dirty="0" smtClean="0"/>
              <a:t>…………………</a:t>
            </a:r>
          </a:p>
          <a:p>
            <a:endParaRPr lang="en-IN" sz="3600" dirty="0" smtClean="0"/>
          </a:p>
          <a:p>
            <a:r>
              <a:rPr lang="en-IN" sz="3600" dirty="0" smtClean="0"/>
              <a:t>So if you have 10 search functionalities , you need to write 10 Servlets 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86868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 smtClean="0"/>
              <a:t>Now tell me what is the problem here ?</a:t>
            </a:r>
          </a:p>
          <a:p>
            <a:endParaRPr lang="en-IN" sz="3000" dirty="0" smtClean="0"/>
          </a:p>
          <a:p>
            <a:r>
              <a:rPr lang="en-IN" sz="3000" dirty="0" smtClean="0"/>
              <a:t>Problem is </a:t>
            </a:r>
            <a:r>
              <a:rPr lang="en-IN" sz="3000" b="1" dirty="0" smtClean="0"/>
              <a:t>code duplication </a:t>
            </a:r>
          </a:p>
          <a:p>
            <a:endParaRPr lang="en-IN" sz="3000" b="1" dirty="0" smtClean="0"/>
          </a:p>
          <a:p>
            <a:r>
              <a:rPr lang="en-IN" sz="3000" b="1" dirty="0" smtClean="0"/>
              <a:t>40 </a:t>
            </a:r>
            <a:r>
              <a:rPr lang="en-IN" sz="3000" dirty="0" smtClean="0"/>
              <a:t>lines of code is common across all the  servlets .</a:t>
            </a:r>
          </a:p>
          <a:p>
            <a:endParaRPr lang="en-IN" sz="3000" b="1" dirty="0" smtClean="0"/>
          </a:p>
          <a:p>
            <a:r>
              <a:rPr lang="en-IN" sz="3000" b="1" dirty="0" smtClean="0"/>
              <a:t>Code duplication </a:t>
            </a:r>
            <a:r>
              <a:rPr lang="en-IN" sz="3000" dirty="0" smtClean="0"/>
              <a:t>leads to </a:t>
            </a:r>
            <a:r>
              <a:rPr lang="en-IN" sz="3000" b="1" dirty="0" smtClean="0">
                <a:solidFill>
                  <a:srgbClr val="FF0000"/>
                </a:solidFill>
              </a:rPr>
              <a:t>maintenance problem </a:t>
            </a:r>
          </a:p>
          <a:p>
            <a:endParaRPr lang="en-IN" sz="3000" dirty="0" smtClean="0"/>
          </a:p>
          <a:p>
            <a:r>
              <a:rPr lang="en-IN" sz="3000" dirty="0" smtClean="0"/>
              <a:t>For example my manager asked me to change the logo , now we need to change in all the servlets</a:t>
            </a:r>
            <a:endParaRPr lang="en-US" sz="3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04800"/>
            <a:ext cx="8610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smtClean="0"/>
              <a:t>So only the </a:t>
            </a:r>
            <a:r>
              <a:rPr lang="en-IN" sz="3200" b="1" dirty="0" smtClean="0">
                <a:solidFill>
                  <a:srgbClr val="FF0000"/>
                </a:solidFill>
              </a:rPr>
              <a:t>presentation logic </a:t>
            </a:r>
            <a:r>
              <a:rPr lang="en-IN" sz="3200" dirty="0" smtClean="0"/>
              <a:t>(i.e. 3</a:t>
            </a:r>
            <a:r>
              <a:rPr lang="en-IN" sz="3200" baseline="30000" dirty="0" smtClean="0"/>
              <a:t>rd</a:t>
            </a:r>
            <a:r>
              <a:rPr lang="en-IN" sz="3200" dirty="0" smtClean="0"/>
              <a:t> step) changing  from requirement to requirement .</a:t>
            </a:r>
          </a:p>
          <a:p>
            <a:endParaRPr lang="en-IN" sz="3200" dirty="0" smtClean="0"/>
          </a:p>
          <a:p>
            <a:r>
              <a:rPr lang="en-IN" sz="3200" dirty="0" smtClean="0"/>
              <a:t>So to write this </a:t>
            </a:r>
            <a:r>
              <a:rPr lang="en-IN" sz="3200" b="1" dirty="0" smtClean="0">
                <a:solidFill>
                  <a:srgbClr val="FF0000"/>
                </a:solidFill>
              </a:rPr>
              <a:t>presentation logic </a:t>
            </a:r>
            <a:r>
              <a:rPr lang="en-IN" sz="3200" dirty="0" smtClean="0"/>
              <a:t>we have </a:t>
            </a:r>
            <a:r>
              <a:rPr lang="en-IN" sz="3200" b="1" dirty="0" smtClean="0">
                <a:solidFill>
                  <a:schemeClr val="accent2"/>
                </a:solidFill>
              </a:rPr>
              <a:t>JSP</a:t>
            </a:r>
            <a:r>
              <a:rPr lang="en-IN" sz="3200" dirty="0" smtClean="0"/>
              <a:t>.</a:t>
            </a:r>
          </a:p>
          <a:p>
            <a:endParaRPr lang="en-IN" sz="3200" dirty="0" smtClean="0"/>
          </a:p>
          <a:p>
            <a:r>
              <a:rPr lang="en-IN" sz="3200" dirty="0" smtClean="0"/>
              <a:t>So </a:t>
            </a:r>
            <a:r>
              <a:rPr lang="en-IN" sz="3200" b="1" dirty="0" smtClean="0">
                <a:solidFill>
                  <a:schemeClr val="accent2"/>
                </a:solidFill>
              </a:rPr>
              <a:t>JSP</a:t>
            </a:r>
            <a:r>
              <a:rPr lang="en-IN" sz="3200" dirty="0" smtClean="0"/>
              <a:t> is used to write the </a:t>
            </a:r>
            <a:r>
              <a:rPr lang="en-IN" sz="3200" b="1" dirty="0" smtClean="0"/>
              <a:t>presentation logic </a:t>
            </a:r>
            <a:r>
              <a:rPr lang="en-IN" sz="3200" dirty="0" smtClean="0"/>
              <a:t>.</a:t>
            </a:r>
            <a:endParaRPr lang="en-US" sz="3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600"/>
            <a:ext cx="91440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228600"/>
            <a:ext cx="91440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381000"/>
            <a:ext cx="8382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accent2"/>
                </a:solidFill>
              </a:rPr>
              <a:t>include</a:t>
            </a:r>
            <a:r>
              <a:rPr lang="en-US" sz="3600" dirty="0" smtClean="0"/>
              <a:t> means the request is forwarded to another resource, it processes and returns the response back to the original servlet, and the content is included in the final response.</a:t>
            </a:r>
          </a:p>
          <a:p>
            <a:endParaRPr lang="en-IN" sz="3600" dirty="0" smtClean="0"/>
          </a:p>
          <a:p>
            <a:r>
              <a:rPr lang="en-US" sz="3600" b="1" dirty="0" smtClean="0">
                <a:solidFill>
                  <a:schemeClr val="accent2"/>
                </a:solidFill>
              </a:rPr>
              <a:t>forward </a:t>
            </a:r>
            <a:r>
              <a:rPr lang="en-US" sz="3600" dirty="0" smtClean="0"/>
              <a:t>means the request is transferred to another resource, and the control is not returned to the original servlet after the forwarded resource processes the request.</a:t>
            </a:r>
            <a:endParaRPr lang="en-US" sz="36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8610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forward() is used to forward the control from one web componet(jsp or servlet) to another web component</a:t>
            </a:r>
          </a:p>
          <a:p>
            <a:r>
              <a:rPr lang="en-US" sz="2800" dirty="0" smtClean="0"/>
              <a:t>Now onwards in any real time applications your servlet is, not yet all responsible to deliver a response , means we will not use "out" (which is of type PrintWriter ) variable in the servlet .</a:t>
            </a:r>
          </a:p>
          <a:p>
            <a:endParaRPr lang="en-US" sz="2800" dirty="0" smtClean="0"/>
          </a:p>
          <a:p>
            <a:r>
              <a:rPr lang="en-US" sz="2800" b="1" dirty="0" smtClean="0"/>
              <a:t>Then who will deliver the response ?</a:t>
            </a:r>
          </a:p>
          <a:p>
            <a:r>
              <a:rPr lang="en-US" sz="2800" dirty="0" smtClean="0"/>
              <a:t>Jsp has to do it.Servlet has to forward the control to JSP.</a:t>
            </a:r>
          </a:p>
          <a:p>
            <a:endParaRPr lang="en-US" sz="2800" dirty="0" smtClean="0"/>
          </a:p>
          <a:p>
            <a:r>
              <a:rPr lang="en-US" sz="2800" dirty="0" smtClean="0"/>
              <a:t>include() is used to include the response of one web component in another web component.</a:t>
            </a:r>
            <a:endParaRPr lang="en-US" sz="28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52400"/>
            <a:ext cx="9144000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33400"/>
            <a:ext cx="9144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6858000" cy="629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 smtClean="0"/>
              <a:t>&lt;!DOCTYPE html&gt;</a:t>
            </a:r>
          </a:p>
          <a:p>
            <a:r>
              <a:rPr lang="en-US" sz="1300" dirty="0" smtClean="0"/>
              <a:t>&lt;html&gt;</a:t>
            </a:r>
          </a:p>
          <a:p>
            <a:r>
              <a:rPr lang="en-US" sz="1300" dirty="0" smtClean="0"/>
              <a:t>&lt;body&gt;</a:t>
            </a:r>
          </a:p>
          <a:p>
            <a:r>
              <a:rPr lang="en-US" sz="1300" dirty="0" smtClean="0"/>
              <a:t>&lt;h2&gt;Welcome to My </a:t>
            </a:r>
            <a:r>
              <a:rPr lang="en-US" sz="1300" u="sng" dirty="0" smtClean="0"/>
              <a:t>App!!!&lt;/h2&gt;</a:t>
            </a:r>
          </a:p>
          <a:p>
            <a:r>
              <a:rPr lang="en-US" sz="1300" dirty="0" smtClean="0"/>
              <a:t>&lt;h3&gt;Login Form&lt;/h3&gt;</a:t>
            </a:r>
          </a:p>
          <a:p>
            <a:r>
              <a:rPr lang="en-US" sz="1300" dirty="0" smtClean="0"/>
              <a:t>&lt;font color=</a:t>
            </a:r>
            <a:r>
              <a:rPr lang="en-US" sz="1300" i="1" dirty="0" smtClean="0"/>
              <a:t>"red" size="4"&gt; </a:t>
            </a:r>
          </a:p>
          <a:p>
            <a:r>
              <a:rPr lang="en-US" sz="1300" dirty="0" smtClean="0"/>
              <a:t>&lt;%</a:t>
            </a:r>
          </a:p>
          <a:p>
            <a:r>
              <a:rPr lang="en-US" sz="1300" dirty="0" smtClean="0"/>
              <a:t> Object obj = request.getAttribute("MSG");</a:t>
            </a:r>
          </a:p>
          <a:p>
            <a:r>
              <a:rPr lang="en-US" sz="1300" dirty="0" smtClean="0"/>
              <a:t> </a:t>
            </a:r>
            <a:r>
              <a:rPr lang="en-US" sz="1300" b="1" dirty="0" smtClean="0"/>
              <a:t>if (obj != null) {</a:t>
            </a:r>
          </a:p>
          <a:p>
            <a:r>
              <a:rPr lang="en-US" sz="1300" dirty="0" smtClean="0"/>
              <a:t> out.print(obj);</a:t>
            </a:r>
          </a:p>
          <a:p>
            <a:r>
              <a:rPr lang="en-US" sz="1300" dirty="0" smtClean="0"/>
              <a:t> }</a:t>
            </a:r>
          </a:p>
          <a:p>
            <a:r>
              <a:rPr lang="en-US" sz="1300" dirty="0" smtClean="0"/>
              <a:t>   %&gt;</a:t>
            </a:r>
          </a:p>
          <a:p>
            <a:r>
              <a:rPr lang="en-US" sz="1300" dirty="0" smtClean="0"/>
              <a:t>&lt;/font&gt;</a:t>
            </a:r>
          </a:p>
          <a:p>
            <a:r>
              <a:rPr lang="en-US" sz="1300" dirty="0" smtClean="0"/>
              <a:t>&lt;form action=</a:t>
            </a:r>
            <a:r>
              <a:rPr lang="en-US" sz="1300" i="1" dirty="0" smtClean="0"/>
              <a:t>"mylogin" method="post"&gt;</a:t>
            </a:r>
          </a:p>
          <a:p>
            <a:r>
              <a:rPr lang="en-US" sz="1300" dirty="0" smtClean="0"/>
              <a:t>&lt;table&gt;</a:t>
            </a:r>
          </a:p>
          <a:p>
            <a:r>
              <a:rPr lang="en-US" sz="1300" dirty="0" smtClean="0"/>
              <a:t>&lt;tr&gt;</a:t>
            </a:r>
          </a:p>
          <a:p>
            <a:r>
              <a:rPr lang="en-US" sz="1300" dirty="0" smtClean="0"/>
              <a:t>&lt;td&gt;</a:t>
            </a:r>
            <a:r>
              <a:rPr lang="en-US" sz="1300" u="sng" dirty="0" smtClean="0"/>
              <a:t>Username&lt;/td&gt;</a:t>
            </a:r>
          </a:p>
          <a:p>
            <a:r>
              <a:rPr lang="en-US" sz="1300" dirty="0" smtClean="0"/>
              <a:t>&lt;td&gt;&lt;input type=</a:t>
            </a:r>
            <a:r>
              <a:rPr lang="en-US" sz="1300" i="1" dirty="0" smtClean="0"/>
              <a:t>"text" name="myusername" /&gt;&lt;/td&gt;</a:t>
            </a:r>
          </a:p>
          <a:p>
            <a:r>
              <a:rPr lang="en-US" sz="1300" dirty="0" smtClean="0"/>
              <a:t>&lt;/tr&gt;</a:t>
            </a:r>
          </a:p>
          <a:p>
            <a:r>
              <a:rPr lang="en-US" sz="1300" dirty="0" smtClean="0"/>
              <a:t>&lt;tr&gt;</a:t>
            </a:r>
          </a:p>
          <a:p>
            <a:r>
              <a:rPr lang="en-US" sz="1300" dirty="0" smtClean="0"/>
              <a:t>&lt;td&gt;Password&lt;/td&gt;</a:t>
            </a:r>
          </a:p>
          <a:p>
            <a:r>
              <a:rPr lang="en-US" sz="1300" dirty="0" smtClean="0"/>
              <a:t>&lt;td&gt;&lt;input type=</a:t>
            </a:r>
            <a:r>
              <a:rPr lang="en-US" sz="1300" i="1" dirty="0" smtClean="0"/>
              <a:t>"password" name="mypassword" /&gt;&lt;/td&gt;</a:t>
            </a:r>
          </a:p>
          <a:p>
            <a:r>
              <a:rPr lang="en-US" sz="1300" dirty="0" smtClean="0"/>
              <a:t>&lt;/tr&gt;</a:t>
            </a:r>
          </a:p>
          <a:p>
            <a:r>
              <a:rPr lang="en-US" sz="1300" dirty="0" smtClean="0"/>
              <a:t>&lt;tr&gt;</a:t>
            </a:r>
          </a:p>
          <a:p>
            <a:r>
              <a:rPr lang="en-US" sz="1300" dirty="0" smtClean="0"/>
              <a:t>&lt;td colspan=</a:t>
            </a:r>
            <a:r>
              <a:rPr lang="en-US" sz="1300" i="1" dirty="0" smtClean="0"/>
              <a:t>"2" align="center"&gt;&lt;input type="submit"</a:t>
            </a:r>
          </a:p>
          <a:p>
            <a:r>
              <a:rPr lang="en-US" sz="1300" dirty="0" smtClean="0"/>
              <a:t>value=</a:t>
            </a:r>
            <a:r>
              <a:rPr lang="en-US" sz="1300" i="1" dirty="0" smtClean="0"/>
              <a:t>"Login Now" /&gt;&lt;/td&gt;</a:t>
            </a:r>
          </a:p>
          <a:p>
            <a:r>
              <a:rPr lang="en-US" sz="1300" dirty="0" smtClean="0"/>
              <a:t>&lt;/tr&gt;</a:t>
            </a:r>
          </a:p>
          <a:p>
            <a:r>
              <a:rPr lang="en-US" sz="1300" dirty="0" smtClean="0"/>
              <a:t>&lt;/table&gt;</a:t>
            </a:r>
          </a:p>
          <a:p>
            <a:r>
              <a:rPr lang="en-US" sz="1300" dirty="0" smtClean="0"/>
              <a:t>&lt;/form&gt;</a:t>
            </a:r>
          </a:p>
          <a:p>
            <a:r>
              <a:rPr lang="en-US" sz="1300" dirty="0" smtClean="0"/>
              <a:t>&lt;/body&gt;</a:t>
            </a:r>
          </a:p>
          <a:p>
            <a:r>
              <a:rPr lang="en-US" sz="1300" dirty="0" smtClean="0"/>
              <a:t>&lt;/html&gt;</a:t>
            </a:r>
            <a:endParaRPr lang="en-US" sz="1300" dirty="0"/>
          </a:p>
        </p:txBody>
      </p:sp>
      <p:sp>
        <p:nvSpPr>
          <p:cNvPr id="3" name="TextBox 2"/>
          <p:cNvSpPr txBox="1"/>
          <p:nvPr/>
        </p:nvSpPr>
        <p:spPr>
          <a:xfrm>
            <a:off x="5105400" y="609600"/>
            <a:ext cx="2971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i="1" u="sng" dirty="0" smtClean="0">
                <a:solidFill>
                  <a:schemeClr val="accent3"/>
                </a:solidFill>
              </a:rPr>
              <a:t>mylab10</a:t>
            </a:r>
          </a:p>
          <a:p>
            <a:r>
              <a:rPr lang="en-IN" sz="4800" b="1" dirty="0" smtClean="0">
                <a:solidFill>
                  <a:srgbClr val="FF0000"/>
                </a:solidFill>
              </a:rPr>
              <a:t>login.jsp</a:t>
            </a:r>
            <a:endParaRPr lang="en-US" sz="4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7391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&lt;!DOCTYPE html&gt;</a:t>
            </a:r>
          </a:p>
          <a:p>
            <a:r>
              <a:rPr lang="en-US" dirty="0" smtClean="0"/>
              <a:t>&lt;html&gt;</a:t>
            </a:r>
          </a:p>
          <a:p>
            <a:r>
              <a:rPr lang="en-US" dirty="0" smtClean="0"/>
              <a:t>&lt;body&gt;</a:t>
            </a:r>
          </a:p>
          <a:p>
            <a:r>
              <a:rPr lang="en-US" dirty="0" smtClean="0"/>
              <a:t>&lt;h2&gt; Hello</a:t>
            </a:r>
          </a:p>
          <a:p>
            <a:r>
              <a:rPr lang="en-US" dirty="0" smtClean="0"/>
              <a:t>&lt;%</a:t>
            </a:r>
          </a:p>
          <a:p>
            <a:r>
              <a:rPr lang="en-US" dirty="0" smtClean="0"/>
              <a:t>Object obj=request.getAttribute("UN");</a:t>
            </a:r>
          </a:p>
          <a:p>
            <a:r>
              <a:rPr lang="en-US" b="1" dirty="0" smtClean="0"/>
              <a:t>if(obj!=null){</a:t>
            </a:r>
          </a:p>
          <a:p>
            <a:r>
              <a:rPr lang="en-US" dirty="0" smtClean="0"/>
              <a:t>out.print(obj);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%&gt;</a:t>
            </a:r>
          </a:p>
          <a:p>
            <a:r>
              <a:rPr lang="en-US" dirty="0" smtClean="0"/>
              <a:t>, &lt;/h2&gt;</a:t>
            </a:r>
          </a:p>
          <a:p>
            <a:r>
              <a:rPr lang="en-US" dirty="0" smtClean="0"/>
              <a:t>&lt;h2&gt; Welcome to My APP!!!&lt;/h2&gt;</a:t>
            </a:r>
          </a:p>
          <a:p>
            <a:r>
              <a:rPr lang="en-US" dirty="0" smtClean="0"/>
              <a:t>&lt;h3&gt; This is the Home Page &lt;/h3&gt;</a:t>
            </a:r>
          </a:p>
          <a:p>
            <a:r>
              <a:rPr lang="en-US" dirty="0" smtClean="0"/>
              <a:t>&lt;h3&gt; This is the Home Page &lt;/h3&gt;</a:t>
            </a:r>
          </a:p>
          <a:p>
            <a:r>
              <a:rPr lang="en-US" dirty="0" smtClean="0"/>
              <a:t>&lt;h3&gt; This is the Home Page &lt;/h3&gt;</a:t>
            </a:r>
          </a:p>
          <a:p>
            <a:r>
              <a:rPr lang="en-US" dirty="0" smtClean="0"/>
              <a:t>&lt;h3&gt; This is the Home Page &lt;/h3&gt;</a:t>
            </a:r>
          </a:p>
          <a:p>
            <a:r>
              <a:rPr lang="en-US" dirty="0" smtClean="0"/>
              <a:t>&lt;/body&gt;</a:t>
            </a:r>
          </a:p>
          <a:p>
            <a:r>
              <a:rPr lang="en-US" dirty="0" smtClean="0"/>
              <a:t>&lt;/html&gt;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105400" y="609600"/>
            <a:ext cx="2971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i="1" u="sng" dirty="0" smtClean="0">
                <a:solidFill>
                  <a:schemeClr val="accent3"/>
                </a:solidFill>
              </a:rPr>
              <a:t>mylab10</a:t>
            </a:r>
          </a:p>
          <a:p>
            <a:r>
              <a:rPr lang="en-IN" sz="4800" b="1" dirty="0" smtClean="0">
                <a:solidFill>
                  <a:srgbClr val="FF0000"/>
                </a:solidFill>
              </a:rPr>
              <a:t>home.jsp</a:t>
            </a:r>
            <a:endParaRPr lang="en-US" sz="4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7696200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package com.vrsec.servlets;</a:t>
            </a:r>
          </a:p>
          <a:p>
            <a:endParaRPr lang="en-US" sz="1400" dirty="0" smtClean="0"/>
          </a:p>
          <a:p>
            <a:r>
              <a:rPr lang="en-US" sz="1400" b="1" dirty="0" smtClean="0"/>
              <a:t>import java.io.IOException;</a:t>
            </a:r>
          </a:p>
          <a:p>
            <a:r>
              <a:rPr lang="en-US" sz="1400" b="1" dirty="0" smtClean="0"/>
              <a:t>import </a:t>
            </a:r>
            <a:r>
              <a:rPr lang="en-US" sz="1400" b="1" u="sng" dirty="0" smtClean="0"/>
              <a:t>java.io.PrintWriter;</a:t>
            </a:r>
          </a:p>
          <a:p>
            <a:r>
              <a:rPr lang="en-US" sz="1400" b="1" dirty="0" smtClean="0"/>
              <a:t>import javax.servlet.RequestDispatcher;</a:t>
            </a:r>
          </a:p>
          <a:p>
            <a:r>
              <a:rPr lang="en-US" sz="1400" b="1" dirty="0" smtClean="0"/>
              <a:t>import javax.servlet.ServletException;</a:t>
            </a:r>
          </a:p>
          <a:p>
            <a:r>
              <a:rPr lang="en-US" sz="1400" b="1" dirty="0" smtClean="0"/>
              <a:t>import javax.servlet.annotation.WebServlet;</a:t>
            </a:r>
          </a:p>
          <a:p>
            <a:r>
              <a:rPr lang="en-US" sz="1400" b="1" dirty="0" smtClean="0"/>
              <a:t>import javax.servlet.http.HttpServlet;</a:t>
            </a:r>
          </a:p>
          <a:p>
            <a:r>
              <a:rPr lang="en-US" sz="1400" b="1" dirty="0" smtClean="0"/>
              <a:t>import javax.servlet.http.HttpServletRequest;</a:t>
            </a:r>
          </a:p>
          <a:p>
            <a:r>
              <a:rPr lang="en-US" sz="1400" b="1" dirty="0" smtClean="0"/>
              <a:t>import javax.servlet.http.HttpServletResponse;</a:t>
            </a:r>
          </a:p>
          <a:p>
            <a:endParaRPr lang="en-US" sz="1400" dirty="0" smtClean="0"/>
          </a:p>
          <a:p>
            <a:r>
              <a:rPr lang="en-US" sz="1400" dirty="0" smtClean="0"/>
              <a:t>@WebServlet(name = "login", urlPatterns = { "/mylogin" })</a:t>
            </a:r>
          </a:p>
          <a:p>
            <a:r>
              <a:rPr lang="en-US" sz="1400" b="1" dirty="0" smtClean="0"/>
              <a:t>public class </a:t>
            </a:r>
            <a:r>
              <a:rPr lang="en-US" sz="1400" b="1" u="sng" dirty="0" smtClean="0"/>
              <a:t>LoginServlet extends HttpServlet {</a:t>
            </a:r>
          </a:p>
          <a:p>
            <a:r>
              <a:rPr lang="en-US" sz="1400" b="1" dirty="0" smtClean="0"/>
              <a:t>public void service(HttpServletRequest request, HttpServletResponse response) throws IOException, ServletException {</a:t>
            </a:r>
          </a:p>
          <a:p>
            <a:r>
              <a:rPr lang="en-US" sz="1400" dirty="0" smtClean="0"/>
              <a:t>// 1.Collect Input Data</a:t>
            </a:r>
          </a:p>
          <a:p>
            <a:r>
              <a:rPr lang="en-US" sz="1400" dirty="0" smtClean="0"/>
              <a:t>String un = request.getParameter("myusername");</a:t>
            </a:r>
          </a:p>
          <a:p>
            <a:r>
              <a:rPr lang="en-US" sz="1400" dirty="0" smtClean="0"/>
              <a:t>String pw = request.getParameter("mypassword");</a:t>
            </a:r>
          </a:p>
          <a:p>
            <a:r>
              <a:rPr lang="en-US" sz="1400" dirty="0" smtClean="0"/>
              <a:t>// 2.Do Processing and Prepare the Response</a:t>
            </a:r>
          </a:p>
          <a:p>
            <a:r>
              <a:rPr lang="en-US" sz="1400" dirty="0" smtClean="0"/>
              <a:t>String page = "";</a:t>
            </a:r>
          </a:p>
          <a:p>
            <a:r>
              <a:rPr lang="en-US" sz="1400" b="1" dirty="0" smtClean="0"/>
              <a:t>if (un.equals(pw)) {</a:t>
            </a:r>
          </a:p>
          <a:p>
            <a:r>
              <a:rPr lang="en-US" sz="1400" dirty="0" smtClean="0"/>
              <a:t>request.setAttribute("UN", un);</a:t>
            </a:r>
          </a:p>
          <a:p>
            <a:r>
              <a:rPr lang="en-US" sz="1400" dirty="0" smtClean="0"/>
              <a:t>page = "home.jsp";</a:t>
            </a:r>
          </a:p>
          <a:p>
            <a:r>
              <a:rPr lang="en-US" sz="1400" dirty="0" smtClean="0"/>
              <a:t>} </a:t>
            </a:r>
            <a:r>
              <a:rPr lang="en-US" sz="1400" b="1" dirty="0" smtClean="0"/>
              <a:t>else {</a:t>
            </a:r>
          </a:p>
          <a:p>
            <a:r>
              <a:rPr lang="en-US" sz="1400" dirty="0" smtClean="0"/>
              <a:t>String msg = "Invalid Username or Password";</a:t>
            </a:r>
          </a:p>
          <a:p>
            <a:r>
              <a:rPr lang="en-US" sz="1400" dirty="0" smtClean="0"/>
              <a:t>request.setAttribute("MSG", msg);</a:t>
            </a:r>
          </a:p>
          <a:p>
            <a:r>
              <a:rPr lang="en-US" sz="1400" dirty="0" smtClean="0"/>
              <a:t>page = "login.jsp";</a:t>
            </a:r>
          </a:p>
          <a:p>
            <a:r>
              <a:rPr lang="en-US" sz="1400" dirty="0" smtClean="0"/>
              <a:t>}</a:t>
            </a:r>
          </a:p>
          <a:p>
            <a:r>
              <a:rPr lang="en-US" sz="1400" dirty="0" smtClean="0"/>
              <a:t>RequestDispatcher rd = request.getRequestDispatcher(page);</a:t>
            </a:r>
          </a:p>
          <a:p>
            <a:r>
              <a:rPr lang="en-US" sz="1400" dirty="0" smtClean="0"/>
              <a:t>rd.forward(request, response);</a:t>
            </a:r>
          </a:p>
          <a:p>
            <a:r>
              <a:rPr lang="en-US" sz="1400" dirty="0" smtClean="0"/>
              <a:t>// rd.forward(request, response);</a:t>
            </a:r>
          </a:p>
          <a:p>
            <a:r>
              <a:rPr lang="en-US" sz="1400" dirty="0" smtClean="0"/>
              <a:t>}</a:t>
            </a:r>
          </a:p>
          <a:p>
            <a:r>
              <a:rPr lang="en-US" sz="1400" dirty="0" smtClean="0"/>
              <a:t>}</a:t>
            </a:r>
            <a:endParaRPr lang="en-US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5105400" y="609600"/>
            <a:ext cx="37338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i="1" u="sng" dirty="0" smtClean="0">
                <a:solidFill>
                  <a:schemeClr val="accent3"/>
                </a:solidFill>
              </a:rPr>
              <a:t>mylab10</a:t>
            </a:r>
          </a:p>
          <a:p>
            <a:r>
              <a:rPr lang="en-US" sz="3800" b="1" dirty="0" smtClean="0">
                <a:solidFill>
                  <a:srgbClr val="FF0000"/>
                </a:solidFill>
              </a:rPr>
              <a:t>LoginServlet</a:t>
            </a:r>
            <a:r>
              <a:rPr lang="en-IN" sz="3800" b="1" dirty="0" smtClean="0">
                <a:solidFill>
                  <a:srgbClr val="FF0000"/>
                </a:solidFill>
              </a:rPr>
              <a:t>.java</a:t>
            </a:r>
            <a:endParaRPr lang="en-US" sz="3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04800"/>
            <a:ext cx="5715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&lt;?xml version=</a:t>
            </a:r>
            <a:r>
              <a:rPr lang="en-US" i="1" dirty="0" smtClean="0"/>
              <a:t>"1.0" encoding="UTF-8"?&gt;</a:t>
            </a:r>
          </a:p>
          <a:p>
            <a:r>
              <a:rPr lang="en-US" dirty="0" smtClean="0"/>
              <a:t>&lt;web-app xmlns:xsi=</a:t>
            </a:r>
            <a:r>
              <a:rPr lang="en-US" i="1" dirty="0" smtClean="0"/>
              <a:t>"http://www.w3.org/2001/XMLSchema-instance"</a:t>
            </a:r>
          </a:p>
          <a:p>
            <a:r>
              <a:rPr lang="en-US" dirty="0" smtClean="0"/>
              <a:t>xmlns=</a:t>
            </a:r>
            <a:r>
              <a:rPr lang="en-US" i="1" dirty="0" smtClean="0"/>
              <a:t>"http://xmlns.jcp.org/xml/ns/javaee"</a:t>
            </a:r>
          </a:p>
          <a:p>
            <a:r>
              <a:rPr lang="en-US" dirty="0" smtClean="0"/>
              <a:t>xsi:schemaLocation=</a:t>
            </a:r>
            <a:r>
              <a:rPr lang="en-US" i="1" dirty="0" smtClean="0"/>
              <a:t>"http://xmlns.jcp.org/xml/ns/javaee http://xmlns.jcp.org/xml/ns/javaee/web-app_3_1.xsd"</a:t>
            </a:r>
          </a:p>
          <a:p>
            <a:r>
              <a:rPr lang="en-US" dirty="0" smtClean="0"/>
              <a:t>id=</a:t>
            </a:r>
            <a:r>
              <a:rPr lang="en-US" i="1" dirty="0" smtClean="0"/>
              <a:t>"WebApp_ID" version="3.1"&gt;</a:t>
            </a:r>
          </a:p>
          <a:p>
            <a:r>
              <a:rPr lang="en-US" dirty="0" smtClean="0"/>
              <a:t>&lt;display-name&gt;mylab10&lt;/display-name&gt;</a:t>
            </a:r>
          </a:p>
          <a:p>
            <a:endParaRPr lang="en-US" dirty="0" smtClean="0"/>
          </a:p>
          <a:p>
            <a:r>
              <a:rPr lang="en-US" dirty="0" smtClean="0"/>
              <a:t>&lt;welcome-file-list&gt;</a:t>
            </a:r>
          </a:p>
          <a:p>
            <a:r>
              <a:rPr lang="en-US" dirty="0" smtClean="0"/>
              <a:t>&lt;welcome-file&gt;login.jsp&lt;/welcome-file&gt;</a:t>
            </a:r>
          </a:p>
          <a:p>
            <a:r>
              <a:rPr lang="en-US" dirty="0" smtClean="0"/>
              <a:t>&lt;/welcome-file-list&gt;</a:t>
            </a:r>
          </a:p>
          <a:p>
            <a:r>
              <a:rPr lang="en-US" dirty="0" smtClean="0"/>
              <a:t>&lt;/web-app&gt;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96000" y="381000"/>
            <a:ext cx="28194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i="1" u="sng" dirty="0" smtClean="0">
                <a:solidFill>
                  <a:schemeClr val="accent3"/>
                </a:solidFill>
              </a:rPr>
              <a:t>mylab10</a:t>
            </a:r>
          </a:p>
          <a:p>
            <a:r>
              <a:rPr lang="en-US" sz="3800" b="1" dirty="0" smtClean="0">
                <a:solidFill>
                  <a:srgbClr val="FF0000"/>
                </a:solidFill>
              </a:rPr>
              <a:t>web</a:t>
            </a:r>
            <a:r>
              <a:rPr lang="en-IN" sz="3800" b="1" dirty="0" smtClean="0">
                <a:solidFill>
                  <a:srgbClr val="FF0000"/>
                </a:solidFill>
              </a:rPr>
              <a:t>.xml</a:t>
            </a:r>
            <a:endParaRPr lang="en-US" sz="3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1524000"/>
            <a:ext cx="7010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&lt;!DOCTYPE html&gt;</a:t>
            </a:r>
          </a:p>
          <a:p>
            <a:r>
              <a:rPr lang="en-US" dirty="0" smtClean="0"/>
              <a:t>&lt;html&gt;</a:t>
            </a:r>
          </a:p>
          <a:p>
            <a:r>
              <a:rPr lang="en-US" dirty="0" smtClean="0"/>
              <a:t>&lt;body&gt;</a:t>
            </a:r>
          </a:p>
          <a:p>
            <a:r>
              <a:rPr lang="en-US" dirty="0" smtClean="0"/>
              <a:t>&lt;!-- by clicking on </a:t>
            </a:r>
            <a:r>
              <a:rPr lang="en-US" u="sng" dirty="0" smtClean="0"/>
              <a:t>hyperlink also we can send request to a servlet --&gt;</a:t>
            </a:r>
          </a:p>
          <a:p>
            <a:r>
              <a:rPr lang="pt-BR" dirty="0" smtClean="0"/>
              <a:t>&lt;h1&gt; &lt;a href=</a:t>
            </a:r>
            <a:r>
              <a:rPr lang="pt-BR" i="1" dirty="0" smtClean="0"/>
              <a:t>"mydemo"&gt; Click Here &lt;/a&gt;&lt;/h1&gt;</a:t>
            </a:r>
          </a:p>
          <a:p>
            <a:r>
              <a:rPr lang="en-US" dirty="0" smtClean="0"/>
              <a:t>&lt;/body&gt;</a:t>
            </a:r>
          </a:p>
          <a:p>
            <a:r>
              <a:rPr lang="en-US" dirty="0" smtClean="0"/>
              <a:t>&lt;/html&gt;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96000" y="381000"/>
            <a:ext cx="28194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i="1" u="sng" dirty="0" smtClean="0">
                <a:solidFill>
                  <a:schemeClr val="accent3"/>
                </a:solidFill>
              </a:rPr>
              <a:t>mylab11</a:t>
            </a:r>
          </a:p>
          <a:p>
            <a:r>
              <a:rPr lang="en-US" sz="3800" b="1" dirty="0" smtClean="0">
                <a:solidFill>
                  <a:srgbClr val="FF0000"/>
                </a:solidFill>
              </a:rPr>
              <a:t>demo</a:t>
            </a:r>
            <a:r>
              <a:rPr lang="en-IN" sz="3800" b="1" dirty="0" smtClean="0">
                <a:solidFill>
                  <a:srgbClr val="FF0000"/>
                </a:solidFill>
              </a:rPr>
              <a:t>.html</a:t>
            </a:r>
            <a:endParaRPr lang="en-US" sz="3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457200"/>
            <a:ext cx="6324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&lt;!DOCTYPE html&gt;</a:t>
            </a:r>
          </a:p>
          <a:p>
            <a:r>
              <a:rPr lang="en-US" dirty="0" smtClean="0"/>
              <a:t>&lt;html&gt;</a:t>
            </a:r>
          </a:p>
          <a:p>
            <a:r>
              <a:rPr lang="en-US" dirty="0" smtClean="0"/>
              <a:t>&lt;body&gt;</a:t>
            </a:r>
          </a:p>
          <a:p>
            <a:r>
              <a:rPr lang="en-US" u="sng" dirty="0" smtClean="0"/>
              <a:t>&lt;u&gt; &lt;h2&gt; Advanced Java Learning &lt;/h2&gt;&lt;/u&gt;</a:t>
            </a:r>
          </a:p>
          <a:p>
            <a:r>
              <a:rPr lang="en-US" dirty="0" smtClean="0"/>
              <a:t>&lt;</a:t>
            </a:r>
            <a:r>
              <a:rPr lang="en-US" dirty="0" err="1" smtClean="0"/>
              <a:t>br</a:t>
            </a:r>
            <a:r>
              <a:rPr lang="en-US" dirty="0" smtClean="0"/>
              <a:t>/&gt;</a:t>
            </a:r>
          </a:p>
          <a:p>
            <a:r>
              <a:rPr lang="en-US" dirty="0" smtClean="0"/>
              <a:t>&lt;/body&gt;</a:t>
            </a:r>
          </a:p>
          <a:p>
            <a:r>
              <a:rPr lang="en-US" dirty="0" smtClean="0"/>
              <a:t>&lt;/html&gt;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96000" y="381000"/>
            <a:ext cx="28194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i="1" u="sng" dirty="0" smtClean="0">
                <a:solidFill>
                  <a:schemeClr val="accent3"/>
                </a:solidFill>
              </a:rPr>
              <a:t>mylab11</a:t>
            </a:r>
          </a:p>
          <a:p>
            <a:r>
              <a:rPr lang="en-US" sz="3800" b="1" dirty="0" smtClean="0">
                <a:solidFill>
                  <a:srgbClr val="FF0000"/>
                </a:solidFill>
              </a:rPr>
              <a:t>header</a:t>
            </a:r>
            <a:r>
              <a:rPr lang="en-IN" sz="3800" b="1" dirty="0" smtClean="0">
                <a:solidFill>
                  <a:srgbClr val="FF0000"/>
                </a:solidFill>
              </a:rPr>
              <a:t>.</a:t>
            </a:r>
            <a:r>
              <a:rPr lang="en-IN" sz="3800" b="1" dirty="0" err="1" smtClean="0">
                <a:solidFill>
                  <a:srgbClr val="FF0000"/>
                </a:solidFill>
              </a:rPr>
              <a:t>jsp</a:t>
            </a:r>
            <a:endParaRPr lang="en-US" sz="3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1447800"/>
            <a:ext cx="4800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&lt;!DOCTYPE html&gt;</a:t>
            </a:r>
          </a:p>
          <a:p>
            <a:r>
              <a:rPr lang="en-US" dirty="0" smtClean="0"/>
              <a:t>&lt;html&gt;</a:t>
            </a:r>
          </a:p>
          <a:p>
            <a:r>
              <a:rPr lang="en-US" dirty="0" smtClean="0"/>
              <a:t>&lt;body&gt;</a:t>
            </a:r>
          </a:p>
          <a:p>
            <a:r>
              <a:rPr lang="en-US" dirty="0" smtClean="0"/>
              <a:t>&lt;h2&gt;All Rights Reserved.2021- ABC&lt;/h2&gt;</a:t>
            </a:r>
          </a:p>
          <a:p>
            <a:r>
              <a:rPr lang="en-US" dirty="0" smtClean="0"/>
              <a:t>&lt;</a:t>
            </a:r>
            <a:r>
              <a:rPr lang="en-US" dirty="0" err="1" smtClean="0"/>
              <a:t>br</a:t>
            </a:r>
            <a:r>
              <a:rPr lang="en-US" dirty="0" smtClean="0"/>
              <a:t>/&gt;&lt;</a:t>
            </a:r>
            <a:r>
              <a:rPr lang="en-US" dirty="0" err="1" smtClean="0"/>
              <a:t>br</a:t>
            </a:r>
            <a:r>
              <a:rPr lang="en-US" dirty="0" smtClean="0"/>
              <a:t>/&gt;</a:t>
            </a:r>
          </a:p>
          <a:p>
            <a:r>
              <a:rPr lang="en-US" dirty="0" smtClean="0"/>
              <a:t>&lt;/body&gt;</a:t>
            </a:r>
          </a:p>
          <a:p>
            <a:r>
              <a:rPr lang="en-US" dirty="0" smtClean="0"/>
              <a:t>&lt;/html&gt;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96000" y="381000"/>
            <a:ext cx="28194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i="1" u="sng" dirty="0" smtClean="0">
                <a:solidFill>
                  <a:schemeClr val="accent3"/>
                </a:solidFill>
              </a:rPr>
              <a:t>mylab11</a:t>
            </a:r>
          </a:p>
          <a:p>
            <a:r>
              <a:rPr lang="en-US" sz="3800" b="1" dirty="0" smtClean="0">
                <a:solidFill>
                  <a:srgbClr val="FF0000"/>
                </a:solidFill>
              </a:rPr>
              <a:t>footer</a:t>
            </a:r>
            <a:r>
              <a:rPr lang="en-IN" sz="3800" b="1" dirty="0" smtClean="0">
                <a:solidFill>
                  <a:srgbClr val="FF0000"/>
                </a:solidFill>
              </a:rPr>
              <a:t>.html</a:t>
            </a:r>
            <a:endParaRPr lang="en-US" sz="3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219200"/>
            <a:ext cx="4572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&lt;!DOCTYPE html&gt;</a:t>
            </a:r>
          </a:p>
          <a:p>
            <a:r>
              <a:rPr lang="en-US" dirty="0" smtClean="0"/>
              <a:t>&lt;html&gt;</a:t>
            </a:r>
          </a:p>
          <a:p>
            <a:r>
              <a:rPr lang="en-US" dirty="0" smtClean="0"/>
              <a:t>&lt;body&gt;</a:t>
            </a:r>
          </a:p>
          <a:p>
            <a:r>
              <a:rPr lang="en-US" dirty="0" smtClean="0"/>
              <a:t>&lt;h3&gt; This is the Home Page &lt;/h3&gt;</a:t>
            </a:r>
          </a:p>
          <a:p>
            <a:r>
              <a:rPr lang="en-US" dirty="0" smtClean="0"/>
              <a:t>&lt;h3&gt; This is the Home Page &lt;/h3&gt;</a:t>
            </a:r>
          </a:p>
          <a:p>
            <a:r>
              <a:rPr lang="en-US" dirty="0" smtClean="0"/>
              <a:t>&lt;h3&gt; This is the Home Page &lt;/h3&gt;</a:t>
            </a:r>
          </a:p>
          <a:p>
            <a:r>
              <a:rPr lang="en-US" dirty="0" smtClean="0"/>
              <a:t>&lt;h3&gt; This is the Home Page &lt;/h3&gt;</a:t>
            </a:r>
          </a:p>
          <a:p>
            <a:r>
              <a:rPr lang="en-US" dirty="0" smtClean="0"/>
              <a:t>&lt;h3&gt; This is the Home Page &lt;/h3&gt;</a:t>
            </a:r>
          </a:p>
          <a:p>
            <a:r>
              <a:rPr lang="en-US" dirty="0" smtClean="0"/>
              <a:t>&lt;h3&gt; This is the Home Page &lt;/h3&gt;</a:t>
            </a:r>
          </a:p>
          <a:p>
            <a:r>
              <a:rPr lang="en-US" dirty="0" smtClean="0"/>
              <a:t>&lt;h3&gt; This is the Home Page &lt;/h3&gt;</a:t>
            </a:r>
          </a:p>
          <a:p>
            <a:r>
              <a:rPr lang="en-US" dirty="0" smtClean="0"/>
              <a:t>&lt;h3&gt; This is the Home Page &lt;/h3&gt;</a:t>
            </a:r>
          </a:p>
          <a:p>
            <a:r>
              <a:rPr lang="en-US" dirty="0" smtClean="0"/>
              <a:t>&lt;/body&gt;</a:t>
            </a:r>
          </a:p>
          <a:p>
            <a:r>
              <a:rPr lang="en-US" dirty="0" smtClean="0"/>
              <a:t>&lt;/html&gt;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96000" y="381000"/>
            <a:ext cx="28194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i="1" u="sng" dirty="0" smtClean="0">
                <a:solidFill>
                  <a:schemeClr val="accent3"/>
                </a:solidFill>
              </a:rPr>
              <a:t>mylab11</a:t>
            </a:r>
          </a:p>
          <a:p>
            <a:r>
              <a:rPr lang="en-US" sz="3800" b="1" dirty="0" smtClean="0">
                <a:solidFill>
                  <a:srgbClr val="FF0000"/>
                </a:solidFill>
              </a:rPr>
              <a:t>home</a:t>
            </a:r>
            <a:r>
              <a:rPr lang="en-IN" sz="3800" b="1" dirty="0" smtClean="0">
                <a:solidFill>
                  <a:srgbClr val="FF0000"/>
                </a:solidFill>
              </a:rPr>
              <a:t>.</a:t>
            </a:r>
            <a:r>
              <a:rPr lang="en-IN" sz="3800" b="1" dirty="0" err="1" smtClean="0">
                <a:solidFill>
                  <a:srgbClr val="FF0000"/>
                </a:solidFill>
              </a:rPr>
              <a:t>jsp</a:t>
            </a:r>
            <a:endParaRPr lang="en-US" sz="3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228600"/>
            <a:ext cx="74676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package </a:t>
            </a:r>
            <a:r>
              <a:rPr lang="en-US" b="1" dirty="0" err="1" smtClean="0"/>
              <a:t>com.vrsec.servlets</a:t>
            </a:r>
            <a:r>
              <a:rPr lang="en-US" b="1" dirty="0" smtClean="0"/>
              <a:t>;</a:t>
            </a:r>
          </a:p>
          <a:p>
            <a:endParaRPr lang="en-US" dirty="0" smtClean="0"/>
          </a:p>
          <a:p>
            <a:r>
              <a:rPr lang="en-US" b="1" dirty="0" smtClean="0"/>
              <a:t>import </a:t>
            </a:r>
            <a:r>
              <a:rPr lang="en-US" b="1" dirty="0" err="1" smtClean="0"/>
              <a:t>java.io.IOException</a:t>
            </a:r>
            <a:r>
              <a:rPr lang="en-US" b="1" dirty="0" smtClean="0"/>
              <a:t>;</a:t>
            </a:r>
          </a:p>
          <a:p>
            <a:r>
              <a:rPr lang="en-US" b="1" dirty="0" smtClean="0"/>
              <a:t>import </a:t>
            </a:r>
            <a:r>
              <a:rPr lang="en-US" b="1" dirty="0" err="1" smtClean="0"/>
              <a:t>javax.servlet.RequestDispatcher</a:t>
            </a:r>
            <a:r>
              <a:rPr lang="en-US" b="1" dirty="0" smtClean="0"/>
              <a:t>;</a:t>
            </a:r>
          </a:p>
          <a:p>
            <a:r>
              <a:rPr lang="en-US" b="1" dirty="0" smtClean="0"/>
              <a:t>import </a:t>
            </a:r>
            <a:r>
              <a:rPr lang="en-US" b="1" dirty="0" err="1" smtClean="0"/>
              <a:t>javax.servlet.ServletException</a:t>
            </a:r>
            <a:r>
              <a:rPr lang="en-US" b="1" dirty="0" smtClean="0"/>
              <a:t>;</a:t>
            </a:r>
          </a:p>
          <a:p>
            <a:r>
              <a:rPr lang="en-US" b="1" dirty="0" smtClean="0"/>
              <a:t>import </a:t>
            </a:r>
            <a:r>
              <a:rPr lang="en-US" b="1" dirty="0" err="1" smtClean="0"/>
              <a:t>javax.servlet.annotation.WebServlet</a:t>
            </a:r>
            <a:r>
              <a:rPr lang="en-US" b="1" dirty="0" smtClean="0"/>
              <a:t>;</a:t>
            </a:r>
          </a:p>
          <a:p>
            <a:r>
              <a:rPr lang="en-US" b="1" dirty="0" smtClean="0"/>
              <a:t>import </a:t>
            </a:r>
            <a:r>
              <a:rPr lang="en-US" b="1" dirty="0" err="1" smtClean="0"/>
              <a:t>javax.servlet.http.HttpServlet</a:t>
            </a:r>
            <a:r>
              <a:rPr lang="en-US" b="1" dirty="0" smtClean="0"/>
              <a:t>;</a:t>
            </a:r>
          </a:p>
          <a:p>
            <a:r>
              <a:rPr lang="en-US" b="1" dirty="0" smtClean="0"/>
              <a:t>import </a:t>
            </a:r>
            <a:r>
              <a:rPr lang="en-US" b="1" dirty="0" err="1" smtClean="0"/>
              <a:t>javax.servlet.http.HttpServletRequest</a:t>
            </a:r>
            <a:r>
              <a:rPr lang="en-US" b="1" dirty="0" smtClean="0"/>
              <a:t>;</a:t>
            </a:r>
          </a:p>
          <a:p>
            <a:r>
              <a:rPr lang="en-US" b="1" dirty="0" smtClean="0"/>
              <a:t>import </a:t>
            </a:r>
            <a:r>
              <a:rPr lang="en-US" b="1" dirty="0" err="1" smtClean="0"/>
              <a:t>javax.servlet.http.HttpServletResponse</a:t>
            </a:r>
            <a:r>
              <a:rPr lang="en-US" b="1" dirty="0" smtClean="0"/>
              <a:t>;</a:t>
            </a:r>
          </a:p>
          <a:p>
            <a:endParaRPr lang="en-US" dirty="0" smtClean="0"/>
          </a:p>
          <a:p>
            <a:r>
              <a:rPr lang="en-US" dirty="0" smtClean="0"/>
              <a:t>@</a:t>
            </a:r>
            <a:r>
              <a:rPr lang="en-US" dirty="0" err="1" smtClean="0"/>
              <a:t>WebServlet</a:t>
            </a:r>
            <a:r>
              <a:rPr lang="en-US" dirty="0" smtClean="0"/>
              <a:t>(name = "demo", </a:t>
            </a:r>
            <a:r>
              <a:rPr lang="en-US" dirty="0" err="1" smtClean="0"/>
              <a:t>urlPatterns</a:t>
            </a:r>
            <a:r>
              <a:rPr lang="en-US" dirty="0" smtClean="0"/>
              <a:t> = { "/</a:t>
            </a:r>
            <a:r>
              <a:rPr lang="en-US" dirty="0" err="1" smtClean="0"/>
              <a:t>mydemo</a:t>
            </a:r>
            <a:r>
              <a:rPr lang="en-US" dirty="0" smtClean="0"/>
              <a:t>" })</a:t>
            </a:r>
          </a:p>
          <a:p>
            <a:r>
              <a:rPr lang="en-US" b="1" dirty="0" smtClean="0"/>
              <a:t>public class </a:t>
            </a:r>
            <a:r>
              <a:rPr lang="en-US" b="1" u="sng" dirty="0" smtClean="0"/>
              <a:t>DemoServlet extends </a:t>
            </a:r>
            <a:r>
              <a:rPr lang="en-US" b="1" u="sng" dirty="0" err="1" smtClean="0"/>
              <a:t>HttpServlet</a:t>
            </a:r>
            <a:r>
              <a:rPr lang="en-US" b="1" u="sng" dirty="0" smtClean="0"/>
              <a:t> {</a:t>
            </a:r>
          </a:p>
          <a:p>
            <a:r>
              <a:rPr lang="en-US" b="1" dirty="0" smtClean="0"/>
              <a:t>public void service(</a:t>
            </a:r>
            <a:r>
              <a:rPr lang="en-US" b="1" dirty="0" err="1" smtClean="0"/>
              <a:t>HttpServletRequest</a:t>
            </a:r>
            <a:r>
              <a:rPr lang="en-US" b="1" dirty="0" smtClean="0"/>
              <a:t> request, </a:t>
            </a:r>
            <a:r>
              <a:rPr lang="en-US" b="1" dirty="0" err="1" smtClean="0"/>
              <a:t>HttpServletResponse</a:t>
            </a:r>
            <a:r>
              <a:rPr lang="en-US" b="1" dirty="0" smtClean="0"/>
              <a:t> response) throws </a:t>
            </a:r>
            <a:r>
              <a:rPr lang="en-US" b="1" dirty="0" err="1" smtClean="0"/>
              <a:t>IOException</a:t>
            </a:r>
            <a:r>
              <a:rPr lang="en-US" b="1" dirty="0" smtClean="0"/>
              <a:t>, </a:t>
            </a:r>
            <a:r>
              <a:rPr lang="en-US" b="1" dirty="0" err="1" smtClean="0"/>
              <a:t>ServletException</a:t>
            </a:r>
            <a:r>
              <a:rPr lang="en-US" b="1" dirty="0" smtClean="0"/>
              <a:t> {</a:t>
            </a:r>
          </a:p>
          <a:p>
            <a:r>
              <a:rPr lang="en-US" dirty="0" err="1" smtClean="0"/>
              <a:t>RequestDispatcher</a:t>
            </a:r>
            <a:r>
              <a:rPr lang="en-US" dirty="0" smtClean="0"/>
              <a:t> rd1 = </a:t>
            </a:r>
            <a:r>
              <a:rPr lang="en-US" dirty="0" err="1" smtClean="0"/>
              <a:t>request.getRequestDispatcher</a:t>
            </a:r>
            <a:r>
              <a:rPr lang="en-US" dirty="0" smtClean="0"/>
              <a:t>("header.jsp");</a:t>
            </a:r>
          </a:p>
          <a:p>
            <a:r>
              <a:rPr lang="en-US" dirty="0" smtClean="0"/>
              <a:t>rd1.include(request, response);</a:t>
            </a:r>
          </a:p>
          <a:p>
            <a:r>
              <a:rPr lang="en-US" dirty="0" err="1" smtClean="0"/>
              <a:t>RequestDispatcher</a:t>
            </a:r>
            <a:r>
              <a:rPr lang="en-US" dirty="0" smtClean="0"/>
              <a:t> rd2 = </a:t>
            </a:r>
            <a:r>
              <a:rPr lang="en-US" dirty="0" err="1" smtClean="0"/>
              <a:t>request.getRequestDispatcher</a:t>
            </a:r>
            <a:r>
              <a:rPr lang="en-US" dirty="0" smtClean="0"/>
              <a:t>("home.jsp");</a:t>
            </a:r>
          </a:p>
          <a:p>
            <a:r>
              <a:rPr lang="en-US" dirty="0" smtClean="0"/>
              <a:t>rd2.include(request, response);</a:t>
            </a:r>
          </a:p>
          <a:p>
            <a:r>
              <a:rPr lang="en-US" dirty="0" err="1" smtClean="0"/>
              <a:t>RequestDispatcher</a:t>
            </a:r>
            <a:r>
              <a:rPr lang="en-US" dirty="0" smtClean="0"/>
              <a:t> rd3 = </a:t>
            </a:r>
            <a:r>
              <a:rPr lang="en-US" dirty="0" err="1" smtClean="0"/>
              <a:t>request.getRequestDispatcher</a:t>
            </a:r>
            <a:r>
              <a:rPr lang="en-US" dirty="0" smtClean="0"/>
              <a:t>("footer.html");</a:t>
            </a:r>
          </a:p>
          <a:p>
            <a:r>
              <a:rPr lang="en-US" dirty="0" smtClean="0"/>
              <a:t>rd3.include(request, response);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29200" y="152400"/>
            <a:ext cx="38862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i="1" u="sng" dirty="0" smtClean="0">
                <a:solidFill>
                  <a:schemeClr val="accent3"/>
                </a:solidFill>
              </a:rPr>
              <a:t>mylab11</a:t>
            </a:r>
          </a:p>
          <a:p>
            <a:r>
              <a:rPr lang="en-US" sz="3800" b="1" dirty="0" smtClean="0">
                <a:solidFill>
                  <a:srgbClr val="FF0000"/>
                </a:solidFill>
              </a:rPr>
              <a:t>DemoServlet</a:t>
            </a:r>
            <a:r>
              <a:rPr lang="en-IN" sz="3800" b="1" dirty="0" smtClean="0">
                <a:solidFill>
                  <a:srgbClr val="FF0000"/>
                </a:solidFill>
              </a:rPr>
              <a:t>.java</a:t>
            </a:r>
            <a:endParaRPr lang="en-US" sz="3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0" y="381000"/>
            <a:ext cx="28194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i="1" u="sng" dirty="0" smtClean="0">
                <a:solidFill>
                  <a:schemeClr val="accent3"/>
                </a:solidFill>
              </a:rPr>
              <a:t>mylab11</a:t>
            </a:r>
          </a:p>
          <a:p>
            <a:r>
              <a:rPr lang="en-US" sz="3800" b="1" dirty="0" smtClean="0">
                <a:solidFill>
                  <a:srgbClr val="FF0000"/>
                </a:solidFill>
              </a:rPr>
              <a:t>web</a:t>
            </a:r>
            <a:r>
              <a:rPr lang="en-IN" sz="3800" b="1" dirty="0" smtClean="0">
                <a:solidFill>
                  <a:srgbClr val="FF0000"/>
                </a:solidFill>
              </a:rPr>
              <a:t>.xml</a:t>
            </a:r>
            <a:endParaRPr lang="en-US" sz="3800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239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&lt;?xml version=</a:t>
            </a:r>
            <a:r>
              <a:rPr lang="en-US" i="1" dirty="0" smtClean="0"/>
              <a:t>"1.0" encoding="UTF-8"?&gt;</a:t>
            </a:r>
          </a:p>
          <a:p>
            <a:r>
              <a:rPr lang="en-US" dirty="0" smtClean="0"/>
              <a:t>&lt;web-app </a:t>
            </a:r>
            <a:r>
              <a:rPr lang="en-US" dirty="0" err="1" smtClean="0"/>
              <a:t>xmlns:xsi</a:t>
            </a:r>
            <a:r>
              <a:rPr lang="en-US" dirty="0" smtClean="0"/>
              <a:t>=</a:t>
            </a:r>
            <a:r>
              <a:rPr lang="en-US" i="1" dirty="0" smtClean="0"/>
              <a:t>"http://www.w3.org/2001/XMLSchema-instance"</a:t>
            </a:r>
          </a:p>
          <a:p>
            <a:r>
              <a:rPr lang="en-US" dirty="0" err="1" smtClean="0"/>
              <a:t>xmlns</a:t>
            </a:r>
            <a:r>
              <a:rPr lang="en-US" dirty="0" smtClean="0"/>
              <a:t>=</a:t>
            </a:r>
            <a:r>
              <a:rPr lang="en-US" i="1" dirty="0" smtClean="0"/>
              <a:t>"http://xmlns.jcp.org/xml/ns/javaee"</a:t>
            </a:r>
          </a:p>
          <a:p>
            <a:r>
              <a:rPr lang="en-US" dirty="0" err="1" smtClean="0"/>
              <a:t>xsi:schemaLocation</a:t>
            </a:r>
            <a:r>
              <a:rPr lang="en-US" dirty="0" smtClean="0"/>
              <a:t>=</a:t>
            </a:r>
            <a:r>
              <a:rPr lang="en-US" i="1" dirty="0" smtClean="0"/>
              <a:t>"http://xmlns.jcp.org/xml/ns/javaee http://xmlns.jcp.org/xml/ns/javaee/web-app_3_1.xsd"</a:t>
            </a:r>
          </a:p>
          <a:p>
            <a:r>
              <a:rPr lang="en-US" dirty="0" smtClean="0"/>
              <a:t>id=</a:t>
            </a:r>
            <a:r>
              <a:rPr lang="en-US" i="1" dirty="0" smtClean="0"/>
              <a:t>"</a:t>
            </a:r>
            <a:r>
              <a:rPr lang="en-US" i="1" dirty="0" err="1" smtClean="0"/>
              <a:t>WebApp_ID</a:t>
            </a:r>
            <a:r>
              <a:rPr lang="en-US" i="1" dirty="0" smtClean="0"/>
              <a:t>" version="3.1"&gt;</a:t>
            </a:r>
          </a:p>
          <a:p>
            <a:r>
              <a:rPr lang="en-US" dirty="0" smtClean="0"/>
              <a:t>&lt;display-name&gt;mylab11&lt;/display-name&gt;</a:t>
            </a:r>
          </a:p>
          <a:p>
            <a:r>
              <a:rPr lang="en-US" dirty="0" smtClean="0"/>
              <a:t>&lt;welcome-file-list&gt;</a:t>
            </a:r>
          </a:p>
          <a:p>
            <a:r>
              <a:rPr lang="en-US" dirty="0" smtClean="0"/>
              <a:t>&lt;welcome-file&gt;demo.html&lt;/welcome-file&gt;</a:t>
            </a:r>
          </a:p>
          <a:p>
            <a:r>
              <a:rPr lang="en-US" dirty="0" smtClean="0"/>
              <a:t>&lt;/welcome-file-list&gt;</a:t>
            </a:r>
          </a:p>
          <a:p>
            <a:r>
              <a:rPr lang="en-US" dirty="0" smtClean="0"/>
              <a:t>&lt;/web-app&gt;</a:t>
            </a:r>
            <a:endParaRPr lang="en-US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85800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&lt;!DOCTYPE html&gt;</a:t>
            </a:r>
          </a:p>
          <a:p>
            <a:r>
              <a:rPr lang="en-US" dirty="0" smtClean="0"/>
              <a:t>&lt;html&gt;</a:t>
            </a:r>
          </a:p>
          <a:p>
            <a:r>
              <a:rPr lang="en-US" dirty="0" smtClean="0"/>
              <a:t>&lt;body&gt;</a:t>
            </a:r>
          </a:p>
          <a:p>
            <a:endParaRPr lang="en-US" dirty="0" smtClean="0"/>
          </a:p>
          <a:p>
            <a:r>
              <a:rPr lang="en-US" dirty="0" smtClean="0"/>
              <a:t>&lt;</a:t>
            </a:r>
            <a:r>
              <a:rPr lang="en-US" dirty="0" err="1" smtClean="0"/>
              <a:t>jsp:include</a:t>
            </a:r>
            <a:r>
              <a:rPr lang="en-US" dirty="0" smtClean="0"/>
              <a:t> page=</a:t>
            </a:r>
            <a:r>
              <a:rPr lang="en-US" i="1" dirty="0" smtClean="0"/>
              <a:t>"header.jsp"/&gt;</a:t>
            </a:r>
          </a:p>
          <a:p>
            <a:r>
              <a:rPr lang="en-US" dirty="0" smtClean="0"/>
              <a:t>&lt;</a:t>
            </a:r>
            <a:r>
              <a:rPr lang="en-US" dirty="0" err="1" smtClean="0"/>
              <a:t>jsp:include</a:t>
            </a:r>
            <a:r>
              <a:rPr lang="en-US" dirty="0" smtClean="0"/>
              <a:t> page=</a:t>
            </a:r>
            <a:r>
              <a:rPr lang="en-US" i="1" dirty="0" smtClean="0"/>
              <a:t>"home.jsp"/&gt;</a:t>
            </a:r>
          </a:p>
          <a:p>
            <a:r>
              <a:rPr lang="en-US" dirty="0" smtClean="0"/>
              <a:t>&lt;</a:t>
            </a:r>
            <a:r>
              <a:rPr lang="en-US" dirty="0" err="1" smtClean="0"/>
              <a:t>jsp:include</a:t>
            </a:r>
            <a:r>
              <a:rPr lang="en-US" dirty="0" smtClean="0"/>
              <a:t> page=</a:t>
            </a:r>
            <a:r>
              <a:rPr lang="en-US" i="1" dirty="0" smtClean="0"/>
              <a:t>"footer.html"/&gt;</a:t>
            </a:r>
          </a:p>
          <a:p>
            <a:endParaRPr lang="en-US" dirty="0" smtClean="0"/>
          </a:p>
          <a:p>
            <a:r>
              <a:rPr lang="en-US" dirty="0" smtClean="0"/>
              <a:t>&lt;/body&gt;</a:t>
            </a:r>
          </a:p>
          <a:p>
            <a:r>
              <a:rPr lang="en-US" dirty="0" smtClean="0"/>
              <a:t>&lt;/html&gt;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96000" y="381000"/>
            <a:ext cx="28194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i="1" u="sng" dirty="0" smtClean="0">
                <a:solidFill>
                  <a:schemeClr val="accent3"/>
                </a:solidFill>
              </a:rPr>
              <a:t>mylab11</a:t>
            </a:r>
          </a:p>
          <a:p>
            <a:r>
              <a:rPr lang="en-US" sz="3800" b="1" dirty="0" smtClean="0">
                <a:solidFill>
                  <a:srgbClr val="FF0000"/>
                </a:solidFill>
              </a:rPr>
              <a:t>test</a:t>
            </a:r>
            <a:r>
              <a:rPr lang="en-IN" sz="3800" b="1" dirty="0" smtClean="0">
                <a:solidFill>
                  <a:srgbClr val="FF0000"/>
                </a:solidFill>
              </a:rPr>
              <a:t>.</a:t>
            </a:r>
            <a:r>
              <a:rPr lang="en-IN" sz="3800" b="1" dirty="0" err="1" smtClean="0">
                <a:solidFill>
                  <a:srgbClr val="FF0000"/>
                </a:solidFill>
              </a:rPr>
              <a:t>jsp</a:t>
            </a:r>
            <a:endParaRPr lang="en-US" sz="3800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67000" y="5943600"/>
            <a:ext cx="60778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/>
              <a:t>http://localhost:12345/mylab11/test.jsp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2590800" y="5410200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i="1" u="sng" dirty="0" smtClean="0">
                <a:solidFill>
                  <a:srgbClr val="FF0000"/>
                </a:solidFill>
              </a:rPr>
              <a:t>URL to send request to test.jsp</a:t>
            </a:r>
            <a:endParaRPr lang="en-US" sz="3200" b="1" i="1" u="sng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38400" y="5257800"/>
            <a:ext cx="6172200" cy="1219200"/>
          </a:xfrm>
          <a:prstGeom prst="rect">
            <a:avLst/>
          </a:prstGeom>
          <a:noFill/>
          <a:ln w="539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228600"/>
            <a:ext cx="815340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52400"/>
            <a:ext cx="8534400" cy="660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52400"/>
            <a:ext cx="8610600" cy="6629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838200"/>
            <a:ext cx="79248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304800"/>
            <a:ext cx="8458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u="sng" dirty="0" smtClean="0">
                <a:solidFill>
                  <a:schemeClr val="accent2"/>
                </a:solidFill>
              </a:rPr>
              <a:t>what is happening internally in the case of forward() and in the case of include() in </a:t>
            </a:r>
            <a:r>
              <a:rPr lang="en-US" sz="2800" b="1" i="1" u="sng" dirty="0" err="1" smtClean="0">
                <a:solidFill>
                  <a:schemeClr val="accent2"/>
                </a:solidFill>
              </a:rPr>
              <a:t>servlets</a:t>
            </a:r>
            <a:endParaRPr lang="en-US" sz="2800" b="1" i="1" u="sng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</TotalTime>
  <Words>5865</Words>
  <Application>Microsoft Office PowerPoint</Application>
  <PresentationFormat>On-screen Show (4:3)</PresentationFormat>
  <Paragraphs>1359</Paragraphs>
  <Slides>154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154</vt:i4>
      </vt:variant>
    </vt:vector>
  </HeadingPairs>
  <TitlesOfParts>
    <vt:vector size="155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BJLN</dc:creator>
  <cp:lastModifiedBy>CCC</cp:lastModifiedBy>
  <cp:revision>177</cp:revision>
  <dcterms:created xsi:type="dcterms:W3CDTF">2006-08-16T00:00:00Z</dcterms:created>
  <dcterms:modified xsi:type="dcterms:W3CDTF">2024-09-24T05:46:38Z</dcterms:modified>
</cp:coreProperties>
</file>